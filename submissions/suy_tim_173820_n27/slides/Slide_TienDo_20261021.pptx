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9144000"/>
  <p:notesSz cx="6858000" cy="9144000"/>
  <p:embeddedFontLst>
    <p:embeddedFont>
      <p:font typeface="La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ieTJNbqsM+kjauou4EmBmYsw0O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37C900-3D8D-48FB-8473-CC429A9A1330}">
  <a:tblStyle styleId="{6D37C900-3D8D-48FB-8473-CC429A9A133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Lato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Lato-italic.fntdata"/><Relationship Id="rId14" Type="http://schemas.openxmlformats.org/officeDocument/2006/relationships/slide" Target="slides/slide9.xml"/><Relationship Id="rId36" Type="http://schemas.openxmlformats.org/officeDocument/2006/relationships/font" Target="fonts/Lato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La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4"/>
          <p:cNvSpPr txBox="1"/>
          <p:nvPr>
            <p:ph type="title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4"/>
          <p:cNvSpPr txBox="1"/>
          <p:nvPr>
            <p:ph idx="1" type="body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34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34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4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mparison">
  <p:cSld name="2_Comparis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5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5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5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35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35"/>
          <p:cNvSpPr txBox="1"/>
          <p:nvPr>
            <p:ph idx="1" type="body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6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36"/>
          <p:cNvSpPr txBox="1"/>
          <p:nvPr>
            <p:ph idx="1" type="body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36"/>
          <p:cNvSpPr txBox="1"/>
          <p:nvPr>
            <p:ph idx="2" type="body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36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36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36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7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37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37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8"/>
          <p:cNvSpPr txBox="1"/>
          <p:nvPr>
            <p:ph type="title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1" i="0" sz="4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wo Content">
  <p:cSld name="2_Two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9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39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39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39"/>
          <p:cNvSpPr txBox="1"/>
          <p:nvPr>
            <p:ph idx="1" type="body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39"/>
          <p:cNvSpPr txBox="1"/>
          <p:nvPr>
            <p:ph idx="2" type="body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39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0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6" name="Google Shape;46;p40"/>
          <p:cNvSpPr txBox="1"/>
          <p:nvPr>
            <p:ph idx="1" type="body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40"/>
          <p:cNvSpPr txBox="1"/>
          <p:nvPr>
            <p:ph idx="2" type="body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40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0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40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sz="1200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sz="1200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sz="1200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sz="1200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sz="1200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sz="1200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sz="1200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sz="1200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sz="1200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mparison">
  <p:cSld name="3_Comparis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1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41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41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sz="12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41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6" name="Google Shape;56;p41"/>
          <p:cNvSpPr txBox="1"/>
          <p:nvPr>
            <p:ph idx="1" type="body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fossbk-spec.github.io/ktpmud-book/do_an_mon_hoc" TargetMode="External"/><Relationship Id="rId4" Type="http://schemas.openxmlformats.org/officeDocument/2006/relationships/hyperlink" Target="https://docs.google.com/document/d/1Fras2yh8N8eg_xdwHDofivfbL7q4thB_/edit" TargetMode="External"/><Relationship Id="rId9" Type="http://schemas.openxmlformats.org/officeDocument/2006/relationships/hyperlink" Target="https://docs.google.com/spreadsheets/d/1pyA6AMCOTYDwIreb9Sd--teVnQOMHK-JIrtL00hU58A/edit?usp=drive_link" TargetMode="External"/><Relationship Id="rId5" Type="http://schemas.openxmlformats.org/officeDocument/2006/relationships/hyperlink" Target="https://docs.google.com/document/d/1ybwmXQ6zdInC-VmLIDqaThmyxjwNYCF3/edit" TargetMode="External"/><Relationship Id="rId6" Type="http://schemas.openxmlformats.org/officeDocument/2006/relationships/hyperlink" Target="https://docs.google.com/document/d/11Pqfl6P40MY-o_z4wFv2caVWdHJtjBn1/edit" TargetMode="External"/><Relationship Id="rId7" Type="http://schemas.openxmlformats.org/officeDocument/2006/relationships/hyperlink" Target="https://docs.google.com/document/d/1XnD-gjFxdAEyiDrjjv8cWFbJqEAaBxYp/edit" TargetMode="External"/><Relationship Id="rId8" Type="http://schemas.openxmlformats.org/officeDocument/2006/relationships/hyperlink" Target="https://drive.google.com/file/d/10pksrDCjbPaHOr2pL_vAmHnmysQUEWxx/view?usp=drive_link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 txBox="1"/>
          <p:nvPr/>
        </p:nvSpPr>
        <p:spPr>
          <a:xfrm>
            <a:off x="787100" y="1886569"/>
            <a:ext cx="714905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HỆ THỐNG QUẢN LÝ BỆNH NHÂN SUY TIM CAO TUỔI</a:t>
            </a:r>
            <a:endParaRPr/>
          </a:p>
        </p:txBody>
      </p:sp>
      <p:sp>
        <p:nvSpPr>
          <p:cNvPr id="63" name="Google Shape;63;p2"/>
          <p:cNvSpPr txBox="1"/>
          <p:nvPr/>
        </p:nvSpPr>
        <p:spPr>
          <a:xfrm>
            <a:off x="788895" y="4220386"/>
            <a:ext cx="415065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Nhóm 27 – Mã lớp:173820</a:t>
            </a:r>
            <a:b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GVHD: TS.Hoàng Quang Huy </a:t>
            </a:r>
            <a:endParaRPr b="1" sz="22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787100" y="1594522"/>
            <a:ext cx="46455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Báo cáo tiến độ</a:t>
            </a:r>
            <a:endParaRPr b="1"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idx="12" type="sldNum"/>
          </p:nvPr>
        </p:nvSpPr>
        <p:spPr>
          <a:xfrm>
            <a:off x="6925821" y="640309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3663496" y="1341642"/>
            <a:ext cx="5049040" cy="622852"/>
          </a:xfrm>
          <a:prstGeom prst="roundRect">
            <a:avLst>
              <a:gd fmla="val 37481" name="adj"/>
            </a:avLst>
          </a:prstGeom>
          <a:solidFill>
            <a:srgbClr val="C00000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008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4180967" y="1447903"/>
            <a:ext cx="4778510" cy="528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Thành viên nhóm</a:t>
            </a:r>
            <a:endParaRPr b="1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535015" y="1347570"/>
            <a:ext cx="645952" cy="622852"/>
          </a:xfrm>
          <a:prstGeom prst="flowChartConnector">
            <a:avLst/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856647" y="2359005"/>
            <a:ext cx="5097975" cy="622852"/>
          </a:xfrm>
          <a:prstGeom prst="roundRect">
            <a:avLst>
              <a:gd fmla="val 37481" name="adj"/>
            </a:avLst>
          </a:prstGeom>
          <a:solidFill>
            <a:srgbClr val="C00000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008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524967" y="2359005"/>
            <a:ext cx="645952" cy="622852"/>
          </a:xfrm>
          <a:prstGeom prst="flowChartConnector">
            <a:avLst/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4170918" y="2446799"/>
            <a:ext cx="4935901" cy="5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Giới thiệu đề tài</a:t>
            </a:r>
            <a:endParaRPr b="1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4155523" y="3447405"/>
            <a:ext cx="4543357" cy="5884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Phân tích phần mềm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835578" y="3551379"/>
            <a:ext cx="5263626" cy="622852"/>
          </a:xfrm>
          <a:prstGeom prst="roundRect">
            <a:avLst>
              <a:gd fmla="val 37481" name="adj"/>
            </a:avLst>
          </a:prstGeom>
          <a:solidFill>
            <a:srgbClr val="C00000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008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4297763" y="3589645"/>
            <a:ext cx="4543357" cy="5884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Thiết kế hệ thống</a:t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3544979" y="3550496"/>
            <a:ext cx="645952" cy="622852"/>
          </a:xfrm>
          <a:prstGeom prst="flowChartConnector">
            <a:avLst/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4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1.Thành viên nhóm</a:t>
            </a:r>
            <a:endParaRPr/>
          </a:p>
        </p:txBody>
      </p:sp>
      <p:graphicFrame>
        <p:nvGraphicFramePr>
          <p:cNvPr id="86" name="Google Shape;86;p4"/>
          <p:cNvGraphicFramePr/>
          <p:nvPr/>
        </p:nvGraphicFramePr>
        <p:xfrm>
          <a:off x="233680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{6D37C900-3D8D-48FB-8473-CC429A9A1330}</a:tableStyleId>
              </a:tblPr>
              <a:tblGrid>
                <a:gridCol w="2679700"/>
                <a:gridCol w="1749675"/>
                <a:gridCol w="4353150"/>
              </a:tblGrid>
              <a:tr h="73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Thành viên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MSSV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Công việc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Phạm Huy Đức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202414049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​Product Owner / Dev / Report / Slide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8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Trần ​Nguyễn Hoàng Hải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202414097​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Scum Master / Backend / Dev / Report / Slide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Đào Việt Đức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202414050​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Fronted ​Dev / QA &amp; Tester / Report / Slide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2. Giới thiệu đề tài</a:t>
            </a:r>
            <a:endParaRPr/>
          </a:p>
        </p:txBody>
      </p:sp>
      <p:sp>
        <p:nvSpPr>
          <p:cNvPr id="92" name="Google Shape;92;p5"/>
          <p:cNvSpPr txBox="1"/>
          <p:nvPr>
            <p:ph idx="1" type="body"/>
          </p:nvPr>
        </p:nvSpPr>
        <p:spPr>
          <a:xfrm>
            <a:off x="352927" y="1095772"/>
            <a:ext cx="8683497" cy="5042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2.1 Đặt vấn đề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A, Thực trạng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Suy tim: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Hội chứng liên quan đến bất thường cấu trúc hoặc chức năng tim; cần đánh giá nguyên nhân, tình trạng bệnh và hướng điều trị.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Thông tin cần tổng hợp: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Triệu chứng, sinh hiệu, kết quả xét nghiệm và thăm dò, bệnh đồng mắc, thuốc đang sử dụng.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Theo dõi lâu dài: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Cần xem lại diễn biến và thay đổi giữa các lần khám để hỗ trợ quản lý bệnh nhân.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Ở người cao tuổi: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Đa bệnh lý, đa thuốc và các vấn đề lão khoa làm tăng nhu cầu đánh giá toàn diện, cá thể hóa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081B3A"/>
              </a:solidFill>
              <a:highlight>
                <a:srgbClr val="E5F1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5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>
                <a:latin typeface="Lato"/>
                <a:ea typeface="Lato"/>
                <a:cs typeface="Lato"/>
                <a:sym typeface="Lato"/>
              </a:rPr>
              <a:t>2. Giới thiệu đề tài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p6"/>
          <p:cNvSpPr txBox="1"/>
          <p:nvPr>
            <p:ph idx="1" type="body"/>
          </p:nvPr>
        </p:nvSpPr>
        <p:spPr>
          <a:xfrm>
            <a:off x="231448" y="974294"/>
            <a:ext cx="8440541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2.1 Đặt vấn đề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B, Nhu cầu quản lý và hỗ trợ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Liên kết thông tin: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Gắn dữ liệu lâm sàng, cận lâm sàng và thuốc với đúng bệnh nhân, đúng lượt khám.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Hỗ trợ có căn cứ: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Gợi ý phải phù hợp dữ liệu hiện có, nêu rõ lý do và thông tin còn thiếu để bác sĩ xem xét.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Quản lý liên tục: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Lưu lịch sử, kế hoạch điều trị, theo dõi và tái khám.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Bệnh nhân cùng tham gia: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Đặt/xem lịch khám, xem thông tin đã công bố và kế hoạch thuốc; chia sẻ cho người chăm sóc theo quyền.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081B3A"/>
              </a:solidFill>
              <a:highlight>
                <a:srgbClr val="E5F1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6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6"/>
          <p:cNvSpPr txBox="1"/>
          <p:nvPr/>
        </p:nvSpPr>
        <p:spPr>
          <a:xfrm>
            <a:off x="1310012" y="5227119"/>
            <a:ext cx="720549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Cần xây dựng một hệ thống hỗ trợ đánh giá suy tim theo hướng toàn diện và cá thể hóa cho người cao tuổi.</a:t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228233" y="5467219"/>
            <a:ext cx="904974" cy="35388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2. Giới thiệu đề tài</a:t>
            </a:r>
            <a:endParaRPr/>
          </a:p>
        </p:txBody>
      </p:sp>
      <p:sp>
        <p:nvSpPr>
          <p:cNvPr id="108" name="Google Shape;108;p7"/>
          <p:cNvSpPr txBox="1"/>
          <p:nvPr>
            <p:ph idx="1" type="body"/>
          </p:nvPr>
        </p:nvSpPr>
        <p:spPr>
          <a:xfrm>
            <a:off x="231449" y="1029512"/>
            <a:ext cx="8407410" cy="5539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2.1 Đặt vấn đề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C, Hệ thống hiện có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Tại Bệnh viện Hữu Nghị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Bệnh viện đã sử dụng hệ thống </a:t>
            </a: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eHealth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phục vụ hoạt động khám chữa bệnh.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Hệ thống hiện tại chưa tích hợp các chức năng hỗ trợ dành riêng cho bệnh nhân suy tim.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Hướng nhóm lựa chọn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Quản lý hồ sơ, lượt khám và diễn biến </a:t>
            </a: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bệnh nhân suy tim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hợp bốn phân hệ: </a:t>
            </a: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Diagnosis – Lab/Test – Treatment – MedSafety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Hỗ trợ bệnh nhân và người chăm sóc tiếp cận thông tin theo quyền.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Cung cấp gợi ý và căn cứ; </a:t>
            </a: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bác sĩ quyết định chuyên môn cuối cùng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081B3A"/>
              </a:solidFill>
              <a:highlight>
                <a:srgbClr val="E5F1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7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2. Giới thiệu đề tài</a:t>
            </a:r>
            <a:endParaRPr/>
          </a:p>
        </p:txBody>
      </p:sp>
      <p:sp>
        <p:nvSpPr>
          <p:cNvPr id="115" name="Google Shape;115;p8"/>
          <p:cNvSpPr txBox="1"/>
          <p:nvPr>
            <p:ph idx="1" type="body"/>
          </p:nvPr>
        </p:nvSpPr>
        <p:spPr>
          <a:xfrm>
            <a:off x="231449" y="952208"/>
            <a:ext cx="8804975" cy="5406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2.2 Mục tiêu nghiệp vụ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Quản lý hồ sơ: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Liên kết thông tin bệnh nhân, lượt khám, kết quả và thuốc.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 dõi diễn biến: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Xem lịch sử và đối chiếu thay đổi giữa các lần khám.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Hỗ trợ đánh giá: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Gợi ý nhận định và cận lâm sàng qua </a:t>
            </a: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Diagnosis, Lab/Test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Hỗ trợ điều trị: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Gợi ý phương án và rà soát thuốc qua </a:t>
            </a: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Treatment, MedSafety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Hỗ trợ sau khám: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Quản lý kế hoạch theo dõi, lịch tái khám và nhắc nhở.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Bệnh nhân và người chăm sóc: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Xem thông tin đã công bố theo quyền được xác nhận.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8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2. Giới thiệu đề tài</a:t>
            </a:r>
            <a:endParaRPr/>
          </a:p>
        </p:txBody>
      </p:sp>
      <p:sp>
        <p:nvSpPr>
          <p:cNvPr id="122" name="Google Shape;122;p9"/>
          <p:cNvSpPr txBox="1"/>
          <p:nvPr>
            <p:ph idx="1" type="body"/>
          </p:nvPr>
        </p:nvSpPr>
        <p:spPr>
          <a:xfrm>
            <a:off x="231449" y="941164"/>
            <a:ext cx="8328089" cy="4012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2.3 Đối tượng sử  dụng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Bác sĩ: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Xem hồ sơ, ghi nhận khám; xem gợi ý và cảnh báo; xác nhận kết luận, chỉ định và kế hoạch điều trị.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Nhân viên y tế được phân quyền: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Tiếp nhận, cập nhật thông tin và hỗ trợ theo dõi theo công việc được giao.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Bệnh nhân: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Đặt/xem lịch khám, xem thông tin đã công bố và kế hoạch thuốc; nhận thông báo, nhắc lịch và nhắc thuốc.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Quản trị hệ thống 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Quản lý tài khoản, phân quyền, cấu hình và nhật ký hệ thống.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b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Quyền thao tác theo phân công; bác sĩ quyết định chuyên môn cuối cùng.</a:t>
            </a:r>
            <a:endParaRPr/>
          </a:p>
        </p:txBody>
      </p:sp>
      <p:sp>
        <p:nvSpPr>
          <p:cNvPr id="123" name="Google Shape;123;p9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2. Giới thiệu đề tài</a:t>
            </a:r>
            <a:endParaRPr/>
          </a:p>
        </p:txBody>
      </p:sp>
      <p:sp>
        <p:nvSpPr>
          <p:cNvPr id="129" name="Google Shape;129;p10"/>
          <p:cNvSpPr txBox="1"/>
          <p:nvPr>
            <p:ph idx="1" type="body"/>
          </p:nvPr>
        </p:nvSpPr>
        <p:spPr>
          <a:xfrm>
            <a:off x="138683" y="759609"/>
            <a:ext cx="8206762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2.4 Yêu cầu chức năng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Quản lý hồ sơ và lượt khám: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Lưu thông tin bệnh nhân, dữ liệu khám, kết quả, thuốc và diễn biến theo thời gian.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Tiếp nhận và kiểm tra dữ liệu: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Liên kết đúng hồ sơ/lượt khám; kiểm tra tính hợp lệ và chỉ rõ thông tin còn thiếu.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Hỗ trợ chuyên môn qua bốn phân hệ: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Diagnosis: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Hỗ trợ nhận định và phân loại suy tim.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Lab/Test: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Gợi ý cận lâm sàng cần bổ sung.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Treatment: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Hỗ trợ lựa chọn và điều chỉnh phương án điều trị.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MedSafety: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Rà soát an toàn thuốc và cung cấp cảnh báo.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Xác nhận và lưu lịch sử: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Ghi nhận kết luận, kế hoạch và quyết định của bác sĩ.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Hỗ trợ bệnh nhân: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Đặt/xem lịch, xem thông tin đã công bố và kế hoạch thuốc; nhận nhắc nhở.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0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2. Giới thiệu đề tài</a:t>
            </a:r>
            <a:endParaRPr/>
          </a:p>
        </p:txBody>
      </p:sp>
      <p:sp>
        <p:nvSpPr>
          <p:cNvPr id="136" name="Google Shape;136;p11"/>
          <p:cNvSpPr txBox="1"/>
          <p:nvPr>
            <p:ph idx="1" type="body"/>
          </p:nvPr>
        </p:nvSpPr>
        <p:spPr>
          <a:xfrm>
            <a:off x="230123" y="922169"/>
            <a:ext cx="8553668" cy="4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2.5 Yêu cầu phi chức năng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Bảo mật: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Xác thực người dùng, kiểm soát truy cập và thao tác theo quyền.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Toàn vẹn và khôi phục dữ liệu: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Duy trì liên kết bệnh nhân–lượt khám–kết quả; có cơ chế sao lưu và khôi phục.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Hiệu năng: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Phản hồi phù hợp với thao tác sử dụng; hiển thị trạng thái xử lý, lỗi hoặc thiếu dữ liệu. Chỉ tiêu cụ thể được xác định khi đặc tả.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Khả năng sử dụng: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Giao diện rõ ràng, dễ thao tác; phân biệt thông tin nháp, gợi ý và nội dung đã xác nhận.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Khả năng truy vết: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Tra cứu được dữ liệu đầu vào, căn cứ, phiên bản quy tắc và lịch sử quyết định.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An toàn chuyên môn: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Không coi thiếu dữ liệu là kết quả an toàn; không tự động kê đơn, thay đổi hoặc ngừng thuốc.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1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>
                <a:latin typeface="Lato"/>
                <a:ea typeface="Lato"/>
                <a:cs typeface="Lato"/>
                <a:sym typeface="Lato"/>
              </a:rPr>
              <a:t>3. Thiết kế hệ thống</a:t>
            </a:r>
            <a:endParaRPr b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143" name="Google Shape;143;p12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12"/>
          <p:cNvSpPr/>
          <p:nvPr/>
        </p:nvSpPr>
        <p:spPr>
          <a:xfrm>
            <a:off x="0" y="896218"/>
            <a:ext cx="8936180" cy="539807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>
                <a:latin typeface="Lato"/>
                <a:ea typeface="Lato"/>
                <a:cs typeface="Lato"/>
                <a:sym typeface="Lato"/>
              </a:rPr>
              <a:t>3. Thiết kế hệ thống</a:t>
            </a:r>
            <a:endParaRPr/>
          </a:p>
        </p:txBody>
      </p:sp>
      <p:sp>
        <p:nvSpPr>
          <p:cNvPr id="150" name="Google Shape;150;p13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13"/>
          <p:cNvSpPr txBox="1"/>
          <p:nvPr/>
        </p:nvSpPr>
        <p:spPr>
          <a:xfrm>
            <a:off x="0" y="757320"/>
            <a:ext cx="4572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Sơ đồ phân cấp chức năng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260" y="1255026"/>
            <a:ext cx="8959480" cy="4963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3. Thiết kế hệ thống</a:t>
            </a:r>
            <a:endParaRPr b="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158" name="Google Shape;158;p14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14"/>
          <p:cNvSpPr txBox="1"/>
          <p:nvPr/>
        </p:nvSpPr>
        <p:spPr>
          <a:xfrm>
            <a:off x="0" y="777240"/>
            <a:ext cx="376936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Usecase tổng quan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62" y="1147110"/>
            <a:ext cx="8938978" cy="518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3. Thiết kế hệ thống</a:t>
            </a:r>
            <a:endParaRPr b="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166" name="Google Shape;166;p15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0" y="777240"/>
            <a:ext cx="1678132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Usecase từng phần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diagram of a diagram" id="168" name="Google Shape;1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5516" y="871346"/>
            <a:ext cx="7453651" cy="5556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3. Thiết kế hệ thống</a:t>
            </a:r>
            <a:endParaRPr b="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174" name="Google Shape;174;p16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0" y="787491"/>
            <a:ext cx="130909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Usecase từng phần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4403" y="916924"/>
            <a:ext cx="7739597" cy="5495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3. Thiết kế hệ thống</a:t>
            </a:r>
            <a:endParaRPr b="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182" name="Google Shape;182;p17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0" y="777240"/>
            <a:ext cx="136953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Usecase từng phần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2085" y="875714"/>
            <a:ext cx="7891915" cy="5533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3. Thiết kế hệ thống</a:t>
            </a:r>
            <a:endParaRPr b="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190" name="Google Shape;190;p18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0" y="777240"/>
            <a:ext cx="1319343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Usecase từng phần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diagram of a diagram&#10;&#10;AI-generated content may be incorrect." id="192" name="Google Shape;1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0432" y="871345"/>
            <a:ext cx="7815782" cy="5535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3. Thiết kế hệ thống</a:t>
            </a:r>
            <a:endParaRPr b="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198" name="Google Shape;198;p19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0" y="777240"/>
            <a:ext cx="1288589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Usecase từng phần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diagram of a person with text" id="200" name="Google Shape;2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1644" y="902098"/>
            <a:ext cx="7852351" cy="5515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3. Thiết kế hệ thống</a:t>
            </a:r>
            <a:endParaRPr b="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0" y="777240"/>
            <a:ext cx="129884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Usecase từng phần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diagram of a person&amp;#39;s relationship" id="208" name="Google Shape;2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7065" y="779085"/>
            <a:ext cx="7949250" cy="5638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3. Thiết kế hệ thống</a:t>
            </a:r>
            <a:endParaRPr b="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0" y="777240"/>
            <a:ext cx="591184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Sơ đồ công nghệ sử dụng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AI-generated content may be incorrect." id="216" name="Google Shape;2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775" y="1159847"/>
            <a:ext cx="8692951" cy="513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3. Thiết kế hệ thống</a:t>
            </a:r>
            <a:endParaRPr b="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0" y="777240"/>
            <a:ext cx="517376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Kiến trúc và luồng dữ liệu AI-CDSS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diagram of a model"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013" y="1242316"/>
            <a:ext cx="8795463" cy="4844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3. Thiết kế hệ thống</a:t>
            </a:r>
            <a:endParaRPr b="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0" y="777240"/>
            <a:ext cx="376936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DFD-mức 0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rectangular blue rectangle with black text&#10;&#10;AI-generated content may be incorrect."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260" y="1150174"/>
            <a:ext cx="8959480" cy="5018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3. Thiết kế hệ thống</a:t>
            </a:r>
            <a:endParaRPr b="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238" name="Google Shape;238;p24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0" y="777240"/>
            <a:ext cx="376936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DFD-mức 1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013" y="1146567"/>
            <a:ext cx="9123497" cy="5149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3. Thiết kế hệ thống</a:t>
            </a:r>
            <a:endParaRPr b="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246" name="Google Shape;246;p25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0" y="777240"/>
            <a:ext cx="376936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DFD-mức 1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diagram of a medical procedure" id="248" name="Google Shape;24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03" y="1144167"/>
            <a:ext cx="9034097" cy="5141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3. Thiết kế hệ thống</a:t>
            </a:r>
            <a:endParaRPr b="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254" name="Google Shape;254;p26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p26"/>
          <p:cNvSpPr txBox="1"/>
          <p:nvPr/>
        </p:nvSpPr>
        <p:spPr>
          <a:xfrm>
            <a:off x="0" y="777240"/>
            <a:ext cx="376936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DFD-mức 1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diagram with text and images" id="256" name="Google Shape;25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47" y="1142999"/>
            <a:ext cx="8909296" cy="5187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3. Thiết kế hệ thống</a:t>
            </a:r>
            <a:endParaRPr b="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262" name="Google Shape;262;p27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27"/>
          <p:cNvSpPr txBox="1"/>
          <p:nvPr/>
        </p:nvSpPr>
        <p:spPr>
          <a:xfrm>
            <a:off x="0" y="777240"/>
            <a:ext cx="376936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C1 System Context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square with black text" id="264" name="Google Shape;26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894" y="1139002"/>
            <a:ext cx="8902212" cy="4953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8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3. Thiết kế hệ thống</a:t>
            </a:r>
            <a:endParaRPr b="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270" name="Google Shape;270;p28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p28"/>
          <p:cNvSpPr txBox="1"/>
          <p:nvPr/>
        </p:nvSpPr>
        <p:spPr>
          <a:xfrm>
            <a:off x="0" y="777240"/>
            <a:ext cx="376936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C2 Container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diagram of a container" id="272" name="Google Shape;27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62" y="1144024"/>
            <a:ext cx="8938978" cy="5174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>
                <a:latin typeface="Lato"/>
                <a:ea typeface="Lato"/>
                <a:cs typeface="Lato"/>
                <a:sym typeface="Lato"/>
              </a:rPr>
              <a:t>Tài liệu tham khảo</a:t>
            </a:r>
            <a:endParaRPr/>
          </a:p>
        </p:txBody>
      </p:sp>
      <p:sp>
        <p:nvSpPr>
          <p:cNvPr id="278" name="Google Shape;278;p29"/>
          <p:cNvSpPr txBox="1"/>
          <p:nvPr>
            <p:ph idx="1" type="body"/>
          </p:nvPr>
        </p:nvSpPr>
        <p:spPr>
          <a:xfrm>
            <a:off x="595884" y="1092219"/>
            <a:ext cx="7002540" cy="4792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Char char="•"/>
            </a:pPr>
            <a:r>
              <a:rPr lang="en-US" sz="20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Hướng dẫn đồ án môn học: Kỹ Thuật Phần Mềm Ứng Dụng</a:t>
            </a: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55CC"/>
              </a:buClr>
              <a:buSzPts val="2000"/>
              <a:buChar char="•"/>
            </a:pPr>
            <a:r>
              <a:rPr lang="en-US" sz="20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Tài liệu 4 module của AI-CDSS</a:t>
            </a: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55CC"/>
              </a:buClr>
              <a:buSzPts val="2000"/>
              <a:buChar char="•"/>
            </a:pPr>
            <a:r>
              <a:rPr lang="en-US" sz="20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Quy trình chuẩn đoán và điều trị bệnh Suy Tim ở người cao tuổi Bệnh Viện Hữu Nghị</a:t>
            </a: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55CC"/>
              </a:buClr>
              <a:buSzPts val="2000"/>
              <a:buChar char="•"/>
            </a:pPr>
            <a:r>
              <a:rPr lang="en-US" sz="20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Bảng biến 5 mặt bệnh</a:t>
            </a: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55CC"/>
              </a:buClr>
              <a:buSzPts val="2000"/>
              <a:buChar char="•"/>
            </a:pPr>
            <a:r>
              <a:rPr lang="en-US" sz="20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Schema tối thiểu AI-CDSS 5 mặt bệnh</a:t>
            </a:r>
            <a:r>
              <a:rPr lang="en-US" sz="20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55CC"/>
              </a:buClr>
              <a:buSzPts val="2000"/>
              <a:buChar char="•"/>
            </a:pPr>
            <a:r>
              <a:rPr lang="en-US" sz="20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Quy trình chuẩn đoán và điều trị bệnh Suy Tim của Sở Y Tế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55CC"/>
              </a:buClr>
              <a:buSzPts val="2000"/>
              <a:buChar char="•"/>
            </a:pPr>
            <a:r>
              <a:rPr lang="en-US" sz="20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DATA_DICTIONARY_SUY_TIM_AI_CDSS- sửa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US"/>
            </a:br>
            <a:endParaRPr/>
          </a:p>
        </p:txBody>
      </p:sp>
      <p:sp>
        <p:nvSpPr>
          <p:cNvPr id="279" name="Google Shape;279;p29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0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5" name="Google Shape;285;p30"/>
          <p:cNvSpPr txBox="1"/>
          <p:nvPr/>
        </p:nvSpPr>
        <p:spPr>
          <a:xfrm>
            <a:off x="4181094" y="3021991"/>
            <a:ext cx="4197975" cy="814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800"/>
              <a:buFont typeface="Lato"/>
              <a:buNone/>
            </a:pPr>
            <a:r>
              <a:rPr b="1" lang="en-US" sz="48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THANK YOU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2021-05-28T04:32:29Z</dcterms:created>
  <dc:creator>Phong TT &amp; QTTH</dc:creator>
</cp:coreProperties>
</file>