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67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95" r:id="rId25"/>
    <p:sldId id="279" r:id="rId26"/>
    <p:sldId id="280" r:id="rId27"/>
    <p:sldId id="281" r:id="rId28"/>
    <p:sldId id="296" r:id="rId29"/>
    <p:sldId id="297" r:id="rId30"/>
    <p:sldId id="298" r:id="rId31"/>
    <p:sldId id="299" r:id="rId32"/>
    <p:sldId id="308" r:id="rId33"/>
    <p:sldId id="307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305" r:id="rId44"/>
    <p:sldId id="306" r:id="rId45"/>
    <p:sldId id="291" r:id="rId46"/>
    <p:sldId id="292" r:id="rId47"/>
    <p:sldId id="301" r:id="rId48"/>
    <p:sldId id="303" r:id="rId49"/>
    <p:sldId id="304" r:id="rId50"/>
    <p:sldId id="293" r:id="rId51"/>
    <p:sldId id="294" r:id="rId52"/>
  </p:sldIdLst>
  <p:sldSz cx="12192000" cy="6858000"/>
  <p:notesSz cx="6858000" cy="9144000"/>
  <p:embeddedFontLst>
    <p:embeddedFont>
      <p:font typeface="Lato" panose="020F0502020204030203" pitchFamily="34" charset="0"/>
      <p:regular r:id="rId54"/>
      <p:bold r:id="rId55"/>
      <p:italic r:id="rId56"/>
      <p:boldItalic r:id="rId57"/>
    </p:embeddedFont>
  </p:embeddedFontLst>
  <p:defaultTextStyle>
    <a:defPPr marR="0" algn="l">
      <a:lnSpc>
        <a:spcPct val="100000"/>
      </a:lnSpc>
      <a:spcBef>
        <a:spcPts val="0"/>
      </a:spcBef>
      <a:spcAft>
        <a:spcPts val="0"/>
      </a:spcAft>
      <a:buNone/>
    </a:defPPr>
    <a:lvl1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164D6B-77A5-455B-8581-FB340438A784}">
  <a:tblStyle styleId="{69164D6B-77A5-455B-8581-FB340438A78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32" autoAdjust="0"/>
    <p:restoredTop sz="94660"/>
  </p:normalViewPr>
  <p:slideViewPr>
    <p:cSldViewPr snapToGrid="0">
      <p:cViewPr>
        <p:scale>
          <a:sx n="100" d="100"/>
          <a:sy n="100" d="100"/>
        </p:scale>
        <p:origin x="3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B282F-A083-A37F-60E5-6356A5B53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87CC48-42D9-3E5C-EE9D-0B6A9366EC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B22977-4138-2DC8-E568-2960934EC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6A4D0-6BE9-0075-1A7D-34A23D8A2BF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01306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197214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89877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76263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389749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421321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161988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2941013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334129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495736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ACE3E8E5-23DA-47C8-83CA-5F82DD9AD0B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601B5052-C2E5-4A81-9FA7-D7D88C17696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13" name="Google Shape;13;p2">
            <a:extLst>
              <a:ext uri="{FF2B5EF4-FFF2-40B4-BE49-F238E27FC236}">
                <a16:creationId xmlns:a16="http://schemas.microsoft.com/office/drawing/2014/main" id="{EA794F08-9755-4AB7-B588-D84167EDC14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>
            <a:extLst>
              <a:ext uri="{FF2B5EF4-FFF2-40B4-BE49-F238E27FC236}">
                <a16:creationId xmlns:a16="http://schemas.microsoft.com/office/drawing/2014/main" id="{F21A514F-ABBC-4276-843E-93B1A170B03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16" name="Google Shape;16;p3">
            <a:extLst>
              <a:ext uri="{FF2B5EF4-FFF2-40B4-BE49-F238E27FC236}">
                <a16:creationId xmlns:a16="http://schemas.microsoft.com/office/drawing/2014/main" id="{F9324E11-EFF1-4078-8C7F-C036B3C80B7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17" name="Google Shape;17;p3">
            <a:extLst>
              <a:ext uri="{FF2B5EF4-FFF2-40B4-BE49-F238E27FC236}">
                <a16:creationId xmlns:a16="http://schemas.microsoft.com/office/drawing/2014/main" id="{7C63BC0D-1FEF-49D6-8E39-9DF63DB9CE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8" name="Google Shape;18;p3">
            <a:extLst>
              <a:ext uri="{FF2B5EF4-FFF2-40B4-BE49-F238E27FC236}">
                <a16:creationId xmlns:a16="http://schemas.microsoft.com/office/drawing/2014/main" id="{499D32E7-3C8C-4CC6-9967-C9572271B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7BD42EDE-8041-406B-89F6-1816C533C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>
            <a:extLst>
              <a:ext uri="{FF2B5EF4-FFF2-40B4-BE49-F238E27FC236}">
                <a16:creationId xmlns:a16="http://schemas.microsoft.com/office/drawing/2014/main" id="{95BA8A33-D12B-4B07-905D-B2C8B3784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2" name="Google Shape;22;p4">
            <a:extLst>
              <a:ext uri="{FF2B5EF4-FFF2-40B4-BE49-F238E27FC236}">
                <a16:creationId xmlns:a16="http://schemas.microsoft.com/office/drawing/2014/main" id="{1690607E-892F-4406-A879-B80618EEF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23" name="Google Shape;23;p4">
            <a:extLst>
              <a:ext uri="{FF2B5EF4-FFF2-40B4-BE49-F238E27FC236}">
                <a16:creationId xmlns:a16="http://schemas.microsoft.com/office/drawing/2014/main" id="{5ABB3845-66B8-4D13-8860-7A5964E9724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24" name="Google Shape;24;p4">
            <a:extLst>
              <a:ext uri="{FF2B5EF4-FFF2-40B4-BE49-F238E27FC236}">
                <a16:creationId xmlns:a16="http://schemas.microsoft.com/office/drawing/2014/main" id="{654F0DE3-6385-490C-A415-FC82B7AC61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25" name="Google Shape;25;p4">
            <a:extLst>
              <a:ext uri="{FF2B5EF4-FFF2-40B4-BE49-F238E27FC236}">
                <a16:creationId xmlns:a16="http://schemas.microsoft.com/office/drawing/2014/main" id="{D89BC871-13CF-4229-BD00-0695BF2905F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1C8E3429-FBCB-4482-BFCB-B08933891D3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C576E8BD-9C16-4BF1-A713-3951F4D9887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1E438F50-2B22-418C-903D-964961AE86D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>
            <a:extLst>
              <a:ext uri="{FF2B5EF4-FFF2-40B4-BE49-F238E27FC236}">
                <a16:creationId xmlns:a16="http://schemas.microsoft.com/office/drawing/2014/main" id="{3881862C-987B-48BE-AF0A-12BE68230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>
            <a:extLst>
              <a:ext uri="{FF2B5EF4-FFF2-40B4-BE49-F238E27FC236}">
                <a16:creationId xmlns:a16="http://schemas.microsoft.com/office/drawing/2014/main" id="{325A7B47-9E73-44E9-B679-0F935A16B5B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35" name="Google Shape;35;p8">
            <a:extLst>
              <a:ext uri="{FF2B5EF4-FFF2-40B4-BE49-F238E27FC236}">
                <a16:creationId xmlns:a16="http://schemas.microsoft.com/office/drawing/2014/main" id="{42CF817F-C314-477F-B1AB-4BEA6E557DD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36" name="Google Shape;36;p8">
            <a:extLst>
              <a:ext uri="{FF2B5EF4-FFF2-40B4-BE49-F238E27FC236}">
                <a16:creationId xmlns:a16="http://schemas.microsoft.com/office/drawing/2014/main" id="{45C1D062-AD75-473F-A8D5-D1717E6DF49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37" name="Google Shape;37;p8">
            <a:extLst>
              <a:ext uri="{FF2B5EF4-FFF2-40B4-BE49-F238E27FC236}">
                <a16:creationId xmlns:a16="http://schemas.microsoft.com/office/drawing/2014/main" id="{E430B8F4-9C6B-4728-BF35-E95A1F64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8" name="Google Shape;38;p8">
            <a:extLst>
              <a:ext uri="{FF2B5EF4-FFF2-40B4-BE49-F238E27FC236}">
                <a16:creationId xmlns:a16="http://schemas.microsoft.com/office/drawing/2014/main" id="{652EF550-6B5C-4EF1-B5F3-A57AB13F7082}"/>
              </a:ext>
            </a:extLst>
          </p:cNvPr>
          <p:cNvSpPr>
            <a:spLocks noGrp="1"/>
          </p:cNvSpPr>
          <p:nvPr>
            <p:ph type="chart" idx="2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39" name="Google Shape;39;p8">
            <a:extLst>
              <a:ext uri="{FF2B5EF4-FFF2-40B4-BE49-F238E27FC236}">
                <a16:creationId xmlns:a16="http://schemas.microsoft.com/office/drawing/2014/main" id="{3300F6BC-4E26-4124-A908-FEEB12C2B454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>
            <a:extLst>
              <a:ext uri="{FF2B5EF4-FFF2-40B4-BE49-F238E27FC236}">
                <a16:creationId xmlns:a16="http://schemas.microsoft.com/office/drawing/2014/main" id="{10D4F28F-9AB0-4609-A600-4E90102AD2C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42" name="Google Shape;42;p9">
            <a:extLst>
              <a:ext uri="{FF2B5EF4-FFF2-40B4-BE49-F238E27FC236}">
                <a16:creationId xmlns:a16="http://schemas.microsoft.com/office/drawing/2014/main" id="{CDEB49A8-2968-49B9-AB6C-872C0954FBF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43" name="Google Shape;43;p9">
            <a:extLst>
              <a:ext uri="{FF2B5EF4-FFF2-40B4-BE49-F238E27FC236}">
                <a16:creationId xmlns:a16="http://schemas.microsoft.com/office/drawing/2014/main" id="{E1132326-CFE7-4D97-AD6E-68359C461C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44" name="Google Shape;44;p9">
            <a:extLst>
              <a:ext uri="{FF2B5EF4-FFF2-40B4-BE49-F238E27FC236}">
                <a16:creationId xmlns:a16="http://schemas.microsoft.com/office/drawing/2014/main" id="{3A950A9B-9402-4D02-A36A-BAB685F17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5" name="Google Shape;45;p9">
            <a:extLst>
              <a:ext uri="{FF2B5EF4-FFF2-40B4-BE49-F238E27FC236}">
                <a16:creationId xmlns:a16="http://schemas.microsoft.com/office/drawing/2014/main" id="{34B03061-23E7-4F34-8E89-040121009EDF}"/>
              </a:ext>
            </a:extLst>
          </p:cNvPr>
          <p:cNvSpPr>
            <a:spLocks noGrp="1"/>
          </p:cNvSpPr>
          <p:nvPr>
            <p:ph type="chart" idx="2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46" name="Google Shape;46;p9">
            <a:extLst>
              <a:ext uri="{FF2B5EF4-FFF2-40B4-BE49-F238E27FC236}">
                <a16:creationId xmlns:a16="http://schemas.microsoft.com/office/drawing/2014/main" id="{0A5D12F1-6223-410B-96EB-BDD434BC61C3}"/>
              </a:ext>
            </a:extLst>
          </p:cNvPr>
          <p:cNvSpPr>
            <a:spLocks noGrp="1"/>
          </p:cNvSpPr>
          <p:nvPr>
            <p:ph type="tbl" idx="3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>
            <a:extLst>
              <a:ext uri="{FF2B5EF4-FFF2-40B4-BE49-F238E27FC236}">
                <a16:creationId xmlns:a16="http://schemas.microsoft.com/office/drawing/2014/main" id="{8DA14ECD-D481-446A-B2B9-F5C137915ED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49" name="Google Shape;49;p10">
            <a:extLst>
              <a:ext uri="{FF2B5EF4-FFF2-40B4-BE49-F238E27FC236}">
                <a16:creationId xmlns:a16="http://schemas.microsoft.com/office/drawing/2014/main" id="{06867C55-E1EF-4187-A688-E0FE2D2C339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50" name="Google Shape;50;p10">
            <a:extLst>
              <a:ext uri="{FF2B5EF4-FFF2-40B4-BE49-F238E27FC236}">
                <a16:creationId xmlns:a16="http://schemas.microsoft.com/office/drawing/2014/main" id="{AADC5DDF-8578-4E91-9FA0-B9E141BC560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51" name="Google Shape;51;p10">
            <a:extLst>
              <a:ext uri="{FF2B5EF4-FFF2-40B4-BE49-F238E27FC236}">
                <a16:creationId xmlns:a16="http://schemas.microsoft.com/office/drawing/2014/main" id="{45772E92-AD4A-4CCF-A5E1-7ED11D9B8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52" name="Google Shape;52;p10">
            <a:extLst>
              <a:ext uri="{FF2B5EF4-FFF2-40B4-BE49-F238E27FC236}">
                <a16:creationId xmlns:a16="http://schemas.microsoft.com/office/drawing/2014/main" id="{0C0E9350-889E-497E-AADA-1CEBB985D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mparison">
  <p:cSld name="2_Comparis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D8DE05A3-6092-4759-8768-AD207BE6A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40441D8D-FD94-4170-B473-F8598176A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56" name="Google Shape;56;p11">
            <a:extLst>
              <a:ext uri="{FF2B5EF4-FFF2-40B4-BE49-F238E27FC236}">
                <a16:creationId xmlns:a16="http://schemas.microsoft.com/office/drawing/2014/main" id="{DF30C6B1-823F-42DB-AB24-339EC667803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57" name="Google Shape;57;p11">
            <a:extLst>
              <a:ext uri="{FF2B5EF4-FFF2-40B4-BE49-F238E27FC236}">
                <a16:creationId xmlns:a16="http://schemas.microsoft.com/office/drawing/2014/main" id="{DD3166B4-E3C9-471C-B8F8-F1874E223B7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58" name="Google Shape;58;p11">
            <a:extLst>
              <a:ext uri="{FF2B5EF4-FFF2-40B4-BE49-F238E27FC236}">
                <a16:creationId xmlns:a16="http://schemas.microsoft.com/office/drawing/2014/main" id="{24902EB6-0760-49BF-AD12-7DF2063272A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>
            <a:extLst>
              <a:ext uri="{FF2B5EF4-FFF2-40B4-BE49-F238E27FC236}">
                <a16:creationId xmlns:a16="http://schemas.microsoft.com/office/drawing/2014/main" id="{AAB4AA71-51B6-495B-BAFF-A4EA39C9E32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61" name="Google Shape;61;p12">
            <a:extLst>
              <a:ext uri="{FF2B5EF4-FFF2-40B4-BE49-F238E27FC236}">
                <a16:creationId xmlns:a16="http://schemas.microsoft.com/office/drawing/2014/main" id="{178277E9-478B-427A-BFFD-B357855EBAD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62" name="Google Shape;62;p12">
            <a:extLst>
              <a:ext uri="{FF2B5EF4-FFF2-40B4-BE49-F238E27FC236}">
                <a16:creationId xmlns:a16="http://schemas.microsoft.com/office/drawing/2014/main" id="{3E4504FD-A6B7-4ABE-8F27-05B0784FDD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63" name="Google Shape;63;p12">
            <a:extLst>
              <a:ext uri="{FF2B5EF4-FFF2-40B4-BE49-F238E27FC236}">
                <a16:creationId xmlns:a16="http://schemas.microsoft.com/office/drawing/2014/main" id="{439AEBEC-F9A7-48C2-9C38-E1A9ACDE7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4" name="Google Shape;64;p12">
            <a:extLst>
              <a:ext uri="{FF2B5EF4-FFF2-40B4-BE49-F238E27FC236}">
                <a16:creationId xmlns:a16="http://schemas.microsoft.com/office/drawing/2014/main" id="{571FE31E-6025-4047-8F2A-65F2A042B45B}"/>
              </a:ext>
            </a:extLst>
          </p:cNvPr>
          <p:cNvSpPr>
            <a:spLocks noGrp="1"/>
          </p:cNvSpPr>
          <p:nvPr>
            <p:ph type="chart" idx="2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65" name="Google Shape;65;p12">
            <a:extLst>
              <a:ext uri="{FF2B5EF4-FFF2-40B4-BE49-F238E27FC236}">
                <a16:creationId xmlns:a16="http://schemas.microsoft.com/office/drawing/2014/main" id="{990DB53B-D86B-409E-9628-DEDF4FD31B90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">
  <p:cSld name="1_Comparis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>
            <a:extLst>
              <a:ext uri="{FF2B5EF4-FFF2-40B4-BE49-F238E27FC236}">
                <a16:creationId xmlns:a16="http://schemas.microsoft.com/office/drawing/2014/main" id="{8DCDE2B6-CFDD-4CC1-B64E-2A09790C3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8" name="Google Shape;68;p13">
            <a:extLst>
              <a:ext uri="{FF2B5EF4-FFF2-40B4-BE49-F238E27FC236}">
                <a16:creationId xmlns:a16="http://schemas.microsoft.com/office/drawing/2014/main" id="{3AA51171-CEDD-4261-8AA5-E79616E0A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69" name="Google Shape;69;p13">
            <a:extLst>
              <a:ext uri="{FF2B5EF4-FFF2-40B4-BE49-F238E27FC236}">
                <a16:creationId xmlns:a16="http://schemas.microsoft.com/office/drawing/2014/main" id="{A5F727E0-65E5-4664-9095-CB17E2532B0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70" name="Google Shape;70;p13">
            <a:extLst>
              <a:ext uri="{FF2B5EF4-FFF2-40B4-BE49-F238E27FC236}">
                <a16:creationId xmlns:a16="http://schemas.microsoft.com/office/drawing/2014/main" id="{CBFE9DE9-8716-4005-B533-3D74ACBC85A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71" name="Google Shape;71;p13">
            <a:extLst>
              <a:ext uri="{FF2B5EF4-FFF2-40B4-BE49-F238E27FC236}">
                <a16:creationId xmlns:a16="http://schemas.microsoft.com/office/drawing/2014/main" id="{4DBB557D-1A6F-40FD-A10F-8CDF497E7D3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">
  <p:cSld name="2_Two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>
            <a:extLst>
              <a:ext uri="{FF2B5EF4-FFF2-40B4-BE49-F238E27FC236}">
                <a16:creationId xmlns:a16="http://schemas.microsoft.com/office/drawing/2014/main" id="{863F411D-B906-49B0-9021-D6333CD8DE2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74" name="Google Shape;74;p14">
            <a:extLst>
              <a:ext uri="{FF2B5EF4-FFF2-40B4-BE49-F238E27FC236}">
                <a16:creationId xmlns:a16="http://schemas.microsoft.com/office/drawing/2014/main" id="{F4604185-1324-4D1C-AAF9-0D2283E9526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75" name="Google Shape;75;p14">
            <a:extLst>
              <a:ext uri="{FF2B5EF4-FFF2-40B4-BE49-F238E27FC236}">
                <a16:creationId xmlns:a16="http://schemas.microsoft.com/office/drawing/2014/main" id="{1CC3697D-9EAF-42BF-9727-97F84F64F14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EBB73993-0232-452C-A372-FE4B39E55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7" name="Google Shape;77;p14">
            <a:extLst>
              <a:ext uri="{FF2B5EF4-FFF2-40B4-BE49-F238E27FC236}">
                <a16:creationId xmlns:a16="http://schemas.microsoft.com/office/drawing/2014/main" id="{8C2A247A-FFF2-4AD3-ADA5-3C1FFF1C84CA}"/>
              </a:ext>
            </a:extLst>
          </p:cNvPr>
          <p:cNvSpPr>
            <a:spLocks noGrp="1"/>
          </p:cNvSpPr>
          <p:nvPr>
            <p:ph type="chart" idx="2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78" name="Google Shape;78;p14">
            <a:extLst>
              <a:ext uri="{FF2B5EF4-FFF2-40B4-BE49-F238E27FC236}">
                <a16:creationId xmlns:a16="http://schemas.microsoft.com/office/drawing/2014/main" id="{D69B31FD-44D0-4EE3-9225-62CC81513B77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hyperlink" Target="https://benhvienhuunghi.vn/benh-vien-huu-nghi-chinh-thuc-trien-khai-benh-an-dien-tu/" TargetMode="External"/><Relationship Id="rId13" Type="http://schemas.openxmlformats.org/officeDocument/2006/relationships/hyperlink" Target="https://fossbk-spec.github.io/ktpmud-book/do_an_mon_hoc" TargetMode="External"/><Relationship Id="rId3" Type="http://schemas.openxmlformats.org/officeDocument/2006/relationships/hyperlink" Target="https://www.dexcom.com/start" TargetMode="External"/><Relationship Id="rId7" Type="http://schemas.openxmlformats.org/officeDocument/2006/relationships/hyperlink" Target="https://drive.google.com/file/d/1UGXuGpKD5oO8bJ7gSMFNImwpiUItsAKH/view?usp=sharing" TargetMode="External"/><Relationship Id="rId12" Type="http://schemas.openxmlformats.org/officeDocument/2006/relationships/hyperlink" Target="https://scrumguides.org/docs/scrumguide/v2020/2020-Scrum-Guide-US.pdf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vinmec.com/vie/bai-viet/benh-tieu-duong-type-2-nguyen-nhan-bien-chung-nguy-hiem-doi-tuong-de-mac-nhat-vi" TargetMode="External"/><Relationship Id="rId11" Type="http://schemas.openxmlformats.org/officeDocument/2006/relationships/hyperlink" Target="https://cdn.standards.iteh.ai/samples/35733/2ca18b477b7845a5b8cae39d6de0c098/ISO-IEC-25010-2011.pdf" TargetMode="External"/><Relationship Id="rId5" Type="http://schemas.openxmlformats.org/officeDocument/2006/relationships/hyperlink" Target="https://nhathuoclongchau.com.vn/bai-viet/giai-dap-tieu-duong-tuyp-2-co-nen-chich-insulin-khong.html" TargetMode="External"/><Relationship Id="rId10" Type="http://schemas.openxmlformats.org/officeDocument/2006/relationships/hyperlink" Target="https://ieeexplore.ieee.org/document/8559686" TargetMode="External"/><Relationship Id="rId4" Type="http://schemas.openxmlformats.org/officeDocument/2006/relationships/hyperlink" Target="https://mypharma.vn/san-pham/freestyle-libre-abbott/" TargetMode="External"/><Relationship Id="rId9" Type="http://schemas.openxmlformats.org/officeDocument/2006/relationships/hyperlink" Target="file:///C:\Users\Admin\Downloads\KTPMUD\output\7.%09IEEE%20Std%20830-1998.%20IEEE%20Recommended%20Practice%20for%20Software%20Requirements%20Specifications" TargetMode="Externa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5">
            <a:extLst>
              <a:ext uri="{FF2B5EF4-FFF2-40B4-BE49-F238E27FC236}">
                <a16:creationId xmlns:a16="http://schemas.microsoft.com/office/drawing/2014/main" id="{228A8B34-0CF5-419D-ABDF-F7B8A2799E0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  <a:ln>
            <a:noFill/>
          </a:ln>
        </p:spPr>
      </p:pic>
      <p:sp>
        <p:nvSpPr>
          <p:cNvPr id="85" name="Google Shape;85;p15">
            <a:extLst>
              <a:ext uri="{FF2B5EF4-FFF2-40B4-BE49-F238E27FC236}">
                <a16:creationId xmlns:a16="http://schemas.microsoft.com/office/drawing/2014/main" id="{7D9ADC26-5F62-4FF8-A1E1-8F5E3E052467}"/>
              </a:ext>
            </a:extLst>
          </p:cNvPr>
          <p:cNvSpPr>
            <a:spLocks noGrp="1"/>
          </p:cNvSpPr>
          <p:nvPr/>
        </p:nvSpPr>
        <p:spPr>
          <a:xfrm>
            <a:off x="476250" y="1828800"/>
            <a:ext cx="9525000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Lato"/>
              <a:buNone/>
            </a:pPr>
            <a:r>
              <a:rPr sz="42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BÁO CÁO TUẦN </a:t>
            </a:r>
            <a:r>
              <a:rPr lang="en-US" sz="42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6</a:t>
            </a:r>
            <a:endParaRPr sz="40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Google Shape;86;p15">
            <a:extLst>
              <a:ext uri="{FF2B5EF4-FFF2-40B4-BE49-F238E27FC236}">
                <a16:creationId xmlns:a16="http://schemas.microsoft.com/office/drawing/2014/main" id="{DB233B00-022D-41AC-8D53-25C20A03145C}"/>
              </a:ext>
            </a:extLst>
          </p:cNvPr>
          <p:cNvSpPr>
            <a:spLocks noGrp="1"/>
          </p:cNvSpPr>
          <p:nvPr/>
        </p:nvSpPr>
        <p:spPr>
          <a:xfrm>
            <a:off x="476250" y="4505325"/>
            <a:ext cx="85725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sz="195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GVHD: TS. Hoàng Quang Huy</a:t>
            </a:r>
            <a:endParaRPr sz="28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sz="195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Học phần ET3260    Mã lớp 173820</a:t>
            </a:r>
            <a:endParaRPr/>
          </a:p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sz="195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Nhóm 1</a:t>
            </a:r>
            <a:endParaRPr/>
          </a:p>
        </p:txBody>
      </p:sp>
      <p:sp>
        <p:nvSpPr>
          <p:cNvPr id="87" name="Google Shape;87;p15">
            <a:extLst>
              <a:ext uri="{FF2B5EF4-FFF2-40B4-BE49-F238E27FC236}">
                <a16:creationId xmlns:a16="http://schemas.microsoft.com/office/drawing/2014/main" id="{C090C4E6-1ED0-404B-8612-EB3171EFEC8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1</a:t>
            </a:r>
            <a:endParaRPr/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7324564B-4ACD-4FE6-9C9B-C45E4AE55C95}"/>
              </a:ext>
            </a:extLst>
          </p:cNvPr>
          <p:cNvSpPr>
            <a:spLocks noGrp="1"/>
          </p:cNvSpPr>
          <p:nvPr/>
        </p:nvSpPr>
        <p:spPr>
          <a:xfrm>
            <a:off x="476250" y="2619375"/>
            <a:ext cx="9477375" cy="161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dirty="0" err="1">
                <a:solidFill>
                  <a:srgbClr val="C00000"/>
                </a:solidFill>
              </a:rPr>
              <a:t>Xây</a:t>
            </a:r>
            <a:r>
              <a:rPr lang="en-US" sz="2700" b="1" dirty="0">
                <a:solidFill>
                  <a:srgbClr val="C00000"/>
                </a:solidFill>
              </a:rPr>
              <a:t> </a:t>
            </a:r>
            <a:r>
              <a:rPr lang="en-US" sz="2700" b="1" dirty="0" err="1">
                <a:solidFill>
                  <a:srgbClr val="C00000"/>
                </a:solidFill>
              </a:rPr>
              <a:t>dựng</a:t>
            </a:r>
            <a:r>
              <a:rPr lang="en-US" sz="2700" b="1" dirty="0">
                <a:solidFill>
                  <a:srgbClr val="C00000"/>
                </a:solidFill>
              </a:rPr>
              <a:t> </a:t>
            </a:r>
            <a:r>
              <a:rPr lang="en-US" sz="2700" b="1" dirty="0" err="1">
                <a:solidFill>
                  <a:srgbClr val="C00000"/>
                </a:solidFill>
              </a:rPr>
              <a:t>hệ</a:t>
            </a:r>
            <a:r>
              <a:rPr sz="27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thống</a:t>
            </a:r>
            <a:r>
              <a:rPr sz="27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hỗ</a:t>
            </a:r>
            <a:r>
              <a:rPr sz="27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trợ</a:t>
            </a:r>
            <a:r>
              <a:rPr sz="27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người</a:t>
            </a:r>
            <a:r>
              <a:rPr sz="27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chăm</a:t>
            </a:r>
            <a:r>
              <a:rPr sz="27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sóc</a:t>
            </a:r>
            <a:endParaRPr dirty="0"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sz="2700" b="1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theo</a:t>
            </a:r>
            <a:r>
              <a:rPr sz="27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dõi</a:t>
            </a:r>
            <a:r>
              <a:rPr sz="27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điều</a:t>
            </a:r>
            <a:r>
              <a:rPr sz="27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trị</a:t>
            </a:r>
            <a:r>
              <a:rPr sz="27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ngoại</a:t>
            </a:r>
            <a:r>
              <a:rPr sz="27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trú</a:t>
            </a:r>
            <a:endParaRPr dirty="0"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sz="2700" b="1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cho</a:t>
            </a:r>
            <a:r>
              <a:rPr sz="27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bệnh</a:t>
            </a:r>
            <a:r>
              <a:rPr sz="27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nhân</a:t>
            </a:r>
            <a:r>
              <a:rPr sz="27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đái</a:t>
            </a:r>
            <a:r>
              <a:rPr sz="27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tháo</a:t>
            </a:r>
            <a:r>
              <a:rPr sz="27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đường</a:t>
            </a:r>
            <a:r>
              <a:rPr sz="27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type 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8245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>
            <a:extLst>
              <a:ext uri="{FF2B5EF4-FFF2-40B4-BE49-F238E27FC236}">
                <a16:creationId xmlns:a16="http://schemas.microsoft.com/office/drawing/2014/main" id="{D86466E3-34C8-4989-AE5F-CF43844CF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MỤC LỤC</a:t>
            </a:r>
            <a:endParaRPr/>
          </a:p>
        </p:txBody>
      </p:sp>
      <p:sp>
        <p:nvSpPr>
          <p:cNvPr id="95" name="Google Shape;95;p16">
            <a:extLst>
              <a:ext uri="{FF2B5EF4-FFF2-40B4-BE49-F238E27FC236}">
                <a16:creationId xmlns:a16="http://schemas.microsoft.com/office/drawing/2014/main" id="{48CCB98E-40EF-4B21-B241-32D8DAC232C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2</a:t>
            </a:r>
            <a:endParaRPr/>
          </a:p>
        </p:txBody>
      </p:sp>
      <p:sp>
        <p:nvSpPr>
          <p:cNvPr id="96" name="Google Shape;96;p16">
            <a:extLst>
              <a:ext uri="{FF2B5EF4-FFF2-40B4-BE49-F238E27FC236}">
                <a16:creationId xmlns:a16="http://schemas.microsoft.com/office/drawing/2014/main" id="{71123312-D2F9-4BE5-AAD0-3BD057588E3E}"/>
              </a:ext>
            </a:extLst>
          </p:cNvPr>
          <p:cNvSpPr>
            <a:spLocks noGrp="1"/>
          </p:cNvSpPr>
          <p:nvPr/>
        </p:nvSpPr>
        <p:spPr>
          <a:xfrm>
            <a:off x="1097280" y="1417320"/>
            <a:ext cx="685800" cy="6858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/>
          </a:p>
        </p:txBody>
      </p:sp>
      <p:sp>
        <p:nvSpPr>
          <p:cNvPr id="97" name="Google Shape;97;p16">
            <a:extLst>
              <a:ext uri="{FF2B5EF4-FFF2-40B4-BE49-F238E27FC236}">
                <a16:creationId xmlns:a16="http://schemas.microsoft.com/office/drawing/2014/main" id="{E36405FE-93CC-40E5-A374-0B43DC31DBFC}"/>
              </a:ext>
            </a:extLst>
          </p:cNvPr>
          <p:cNvSpPr>
            <a:spLocks noGrp="1"/>
          </p:cNvSpPr>
          <p:nvPr/>
        </p:nvSpPr>
        <p:spPr>
          <a:xfrm>
            <a:off x="2057400" y="1371600"/>
            <a:ext cx="8686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Thành viên &amp; phân công</a:t>
            </a:r>
            <a:endParaRPr/>
          </a:p>
        </p:txBody>
      </p:sp>
      <p:sp>
        <p:nvSpPr>
          <p:cNvPr id="98" name="Google Shape;98;p16">
            <a:extLst>
              <a:ext uri="{FF2B5EF4-FFF2-40B4-BE49-F238E27FC236}">
                <a16:creationId xmlns:a16="http://schemas.microsoft.com/office/drawing/2014/main" id="{4D8BE348-C9B8-42EA-9EDD-87FA104947D1}"/>
              </a:ext>
            </a:extLst>
          </p:cNvPr>
          <p:cNvSpPr>
            <a:spLocks noGrp="1"/>
          </p:cNvSpPr>
          <p:nvPr/>
        </p:nvSpPr>
        <p:spPr>
          <a:xfrm>
            <a:off x="1097280" y="2331720"/>
            <a:ext cx="685800" cy="6858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2</a:t>
            </a:r>
            <a:endParaRPr/>
          </a:p>
        </p:txBody>
      </p:sp>
      <p:sp>
        <p:nvSpPr>
          <p:cNvPr id="99" name="Google Shape;99;p16">
            <a:extLst>
              <a:ext uri="{FF2B5EF4-FFF2-40B4-BE49-F238E27FC236}">
                <a16:creationId xmlns:a16="http://schemas.microsoft.com/office/drawing/2014/main" id="{698D4211-3D03-4127-8C4F-9CD84550A7C9}"/>
              </a:ext>
            </a:extLst>
          </p:cNvPr>
          <p:cNvSpPr>
            <a:spLocks noGrp="1"/>
          </p:cNvSpPr>
          <p:nvPr/>
        </p:nvSpPr>
        <p:spPr>
          <a:xfrm>
            <a:off x="2057400" y="2286000"/>
            <a:ext cx="8686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</a:rPr>
              <a:t>Cập</a:t>
            </a:r>
            <a:r>
              <a:rPr sz="26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</a:rPr>
              <a:t>nhật</a:t>
            </a:r>
            <a:r>
              <a:rPr sz="26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</a:rPr>
              <a:t>bài</a:t>
            </a:r>
            <a:r>
              <a:rPr sz="26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</a:rPr>
              <a:t>toán</a:t>
            </a:r>
            <a:endParaRPr dirty="0"/>
          </a:p>
        </p:txBody>
      </p:sp>
      <p:sp>
        <p:nvSpPr>
          <p:cNvPr id="100" name="Google Shape;100;p16">
            <a:extLst>
              <a:ext uri="{FF2B5EF4-FFF2-40B4-BE49-F238E27FC236}">
                <a16:creationId xmlns:a16="http://schemas.microsoft.com/office/drawing/2014/main" id="{EF278CE8-3CED-4903-B04B-7226BAE74E42}"/>
              </a:ext>
            </a:extLst>
          </p:cNvPr>
          <p:cNvSpPr>
            <a:spLocks noGrp="1"/>
          </p:cNvSpPr>
          <p:nvPr/>
        </p:nvSpPr>
        <p:spPr>
          <a:xfrm>
            <a:off x="1097280" y="3246120"/>
            <a:ext cx="685800" cy="6858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3</a:t>
            </a:r>
            <a:endParaRPr/>
          </a:p>
        </p:txBody>
      </p:sp>
      <p:sp>
        <p:nvSpPr>
          <p:cNvPr id="101" name="Google Shape;101;p16">
            <a:extLst>
              <a:ext uri="{FF2B5EF4-FFF2-40B4-BE49-F238E27FC236}">
                <a16:creationId xmlns:a16="http://schemas.microsoft.com/office/drawing/2014/main" id="{CC820046-B96A-42E9-82FD-C3D01AD90D5A}"/>
              </a:ext>
            </a:extLst>
          </p:cNvPr>
          <p:cNvSpPr>
            <a:spLocks noGrp="1"/>
          </p:cNvSpPr>
          <p:nvPr/>
        </p:nvSpPr>
        <p:spPr>
          <a:xfrm>
            <a:off x="2057400" y="3200400"/>
            <a:ext cx="8686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</a:rPr>
              <a:t>User story</a:t>
            </a:r>
            <a:endParaRPr dirty="0"/>
          </a:p>
        </p:txBody>
      </p:sp>
      <p:sp>
        <p:nvSpPr>
          <p:cNvPr id="102" name="Google Shape;102;p16">
            <a:extLst>
              <a:ext uri="{FF2B5EF4-FFF2-40B4-BE49-F238E27FC236}">
                <a16:creationId xmlns:a16="http://schemas.microsoft.com/office/drawing/2014/main" id="{E36CEB1C-C9D7-46BB-B043-36DA382E1322}"/>
              </a:ext>
            </a:extLst>
          </p:cNvPr>
          <p:cNvSpPr>
            <a:spLocks noGrp="1"/>
          </p:cNvSpPr>
          <p:nvPr/>
        </p:nvSpPr>
        <p:spPr>
          <a:xfrm>
            <a:off x="1097280" y="4160520"/>
            <a:ext cx="685800" cy="6858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4</a:t>
            </a:r>
            <a:endParaRPr/>
          </a:p>
        </p:txBody>
      </p:sp>
      <p:sp>
        <p:nvSpPr>
          <p:cNvPr id="103" name="Google Shape;103;p16">
            <a:extLst>
              <a:ext uri="{FF2B5EF4-FFF2-40B4-BE49-F238E27FC236}">
                <a16:creationId xmlns:a16="http://schemas.microsoft.com/office/drawing/2014/main" id="{C075E89C-8445-4E08-8F1C-A75E6A5BC277}"/>
              </a:ext>
            </a:extLst>
          </p:cNvPr>
          <p:cNvSpPr>
            <a:spLocks noGrp="1"/>
          </p:cNvSpPr>
          <p:nvPr/>
        </p:nvSpPr>
        <p:spPr>
          <a:xfrm>
            <a:off x="2057400" y="4114800"/>
            <a:ext cx="8686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</a:rPr>
              <a:t>Phân</a:t>
            </a:r>
            <a:r>
              <a:rPr sz="26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</a:rPr>
              <a:t>tích</a:t>
            </a:r>
            <a:r>
              <a:rPr sz="26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</a:rPr>
              <a:t> &amp; </a:t>
            </a:r>
            <a:r>
              <a:rPr sz="26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</a:rPr>
              <a:t>đặc</a:t>
            </a:r>
            <a:r>
              <a:rPr sz="26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</a:rPr>
              <a:t>tả</a:t>
            </a:r>
            <a:r>
              <a:rPr sz="26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</a:rPr>
              <a:t> SRS</a:t>
            </a:r>
            <a:endParaRPr dirty="0"/>
          </a:p>
        </p:txBody>
      </p:sp>
      <p:sp>
        <p:nvSpPr>
          <p:cNvPr id="104" name="Google Shape;104;p16">
            <a:extLst>
              <a:ext uri="{FF2B5EF4-FFF2-40B4-BE49-F238E27FC236}">
                <a16:creationId xmlns:a16="http://schemas.microsoft.com/office/drawing/2014/main" id="{93739063-8B46-4D66-BEC7-F7F1E1666245}"/>
              </a:ext>
            </a:extLst>
          </p:cNvPr>
          <p:cNvSpPr>
            <a:spLocks noGrp="1"/>
          </p:cNvSpPr>
          <p:nvPr/>
        </p:nvSpPr>
        <p:spPr>
          <a:xfrm>
            <a:off x="1097280" y="5074920"/>
            <a:ext cx="685800" cy="6858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5</a:t>
            </a:r>
            <a:endParaRPr/>
          </a:p>
        </p:txBody>
      </p:sp>
      <p:sp>
        <p:nvSpPr>
          <p:cNvPr id="105" name="Google Shape;105;p16">
            <a:extLst>
              <a:ext uri="{FF2B5EF4-FFF2-40B4-BE49-F238E27FC236}">
                <a16:creationId xmlns:a16="http://schemas.microsoft.com/office/drawing/2014/main" id="{1D2257F3-B51E-4B9F-8045-4BC60F30055C}"/>
              </a:ext>
            </a:extLst>
          </p:cNvPr>
          <p:cNvSpPr>
            <a:spLocks noGrp="1"/>
          </p:cNvSpPr>
          <p:nvPr/>
        </p:nvSpPr>
        <p:spPr>
          <a:xfrm>
            <a:off x="2057400" y="5029200"/>
            <a:ext cx="8686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>
            <a:defPPr>
              <a:defRPr sz="2400"/>
            </a:defPPr>
          </a:lstStyle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sz="2400"/>
            </a:pPr>
            <a:r>
              <a:rPr sz="24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</a:rPr>
              <a:t>Kiến</a:t>
            </a:r>
            <a:r>
              <a:rPr sz="24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</a:rPr>
              <a:t>trúc</a:t>
            </a:r>
            <a:r>
              <a:rPr sz="24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</a:rPr>
              <a:t>, API, </a:t>
            </a:r>
            <a:r>
              <a:rPr sz="24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</a:rPr>
              <a:t>quy</a:t>
            </a:r>
            <a:r>
              <a:rPr sz="24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</a:rPr>
              <a:t>trình</a:t>
            </a:r>
            <a:r>
              <a:rPr sz="24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</a:rPr>
              <a:t>và</a:t>
            </a:r>
            <a:r>
              <a:rPr sz="24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</a:rPr>
              <a:t>kế</a:t>
            </a:r>
            <a:r>
              <a:rPr sz="24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</a:rPr>
              <a:t>hoạch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8539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9B7638DF-27CD-4FF7-866E-C9A446745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1. Thành viên &amp; phân công</a:t>
            </a:r>
            <a:endParaRPr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0B66AA13-4AEF-4AD1-A5F5-EE1C0875785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3</a:t>
            </a:r>
            <a:endParaRPr/>
          </a:p>
        </p:txBody>
      </p:sp>
      <p:sp>
        <p:nvSpPr>
          <p:cNvPr id="113" name="Google Shape;113;p17">
            <a:extLst>
              <a:ext uri="{FF2B5EF4-FFF2-40B4-BE49-F238E27FC236}">
                <a16:creationId xmlns:a16="http://schemas.microsoft.com/office/drawing/2014/main" id="{9E4EDE83-0FFA-4705-AF17-EE03B207E333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Phân công </a:t>
            </a:r>
            <a:r>
              <a:rPr sz="3000" b="1">
                <a:solidFill>
                  <a:srgbClr val="1F1F1F"/>
                </a:solidFill>
              </a:rPr>
              <a:t>nhiệm vụ</a:t>
            </a:r>
            <a:endParaRPr/>
          </a:p>
        </p:txBody>
      </p:sp>
      <p:graphicFrame>
        <p:nvGraphicFramePr>
          <p:cNvPr id="114" name="Google Shape;114;p17">
            <a:extLst>
              <a:ext uri="{FF2B5EF4-FFF2-40B4-BE49-F238E27FC236}">
                <a16:creationId xmlns:a16="http://schemas.microsoft.com/office/drawing/2014/main" id="{5B9C3B2A-F53B-40B9-8629-7AA5E74E49D9}"/>
              </a:ext>
            </a:extLst>
          </p:cNvPr>
          <p:cNvGraphicFramePr/>
          <p:nvPr/>
        </p:nvGraphicFramePr>
        <p:xfrm>
          <a:off x="548640" y="1737360"/>
          <a:ext cx="10709800" cy="3474700"/>
        </p:xfrm>
        <a:graphic>
          <a:graphicData uri="http://schemas.openxmlformats.org/drawingml/2006/table">
            <a:tbl>
              <a:tblPr>
                <a:tableStyleId>{69164D6B-77A5-455B-8581-FB340438A784}</a:tableStyleId>
              </a:tblPr>
              <a:tblGrid>
                <a:gridCol w="329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7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Họ và tên</a:t>
                      </a:r>
                      <a:endParaRPr/>
                    </a:p>
                  </a:txBody>
                  <a:tcPr marL="91450" marR="91450" marT="45725" marB="45725" anchor="ctr">
                    <a:lnL w="9525" cmpd="sng">
                      <a:solidFill>
                        <a:srgbClr val="D0D0D0"/>
                      </a:solidFill>
                      <a:prstDash val="solid"/>
                    </a:lnL>
                    <a:lnR w="9525" cmpd="sng">
                      <a:solidFill>
                        <a:srgbClr val="D0D0D0"/>
                      </a:solidFill>
                      <a:prstDash val="solid"/>
                    </a:lnR>
                    <a:lnT w="9525" cmpd="sng">
                      <a:solidFill>
                        <a:srgbClr val="D0D0D0"/>
                      </a:solidFill>
                      <a:prstDash val="solid"/>
                    </a:lnT>
                    <a:lnB w="9525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MSSV</a:t>
                      </a:r>
                      <a:endParaRPr/>
                    </a:p>
                  </a:txBody>
                  <a:tcPr marL="91450" marR="91450" marT="45725" marB="45725" anchor="ctr">
                    <a:lnL w="9525" cmpd="sng">
                      <a:solidFill>
                        <a:srgbClr val="D0D0D0"/>
                      </a:solidFill>
                      <a:prstDash val="solid"/>
                    </a:lnL>
                    <a:lnR w="9525" cmpd="sng">
                      <a:solidFill>
                        <a:srgbClr val="D0D0D0"/>
                      </a:solidFill>
                      <a:prstDash val="solid"/>
                    </a:lnR>
                    <a:lnT w="9525" cmpd="sng">
                      <a:solidFill>
                        <a:srgbClr val="D0D0D0"/>
                      </a:solidFill>
                      <a:prstDash val="solid"/>
                    </a:lnT>
                    <a:lnB w="9525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Vai trò</a:t>
                      </a:r>
                      <a:endParaRPr/>
                    </a:p>
                  </a:txBody>
                  <a:tcPr marL="91450" marR="91450" marT="45725" marB="45725" anchor="ctr">
                    <a:lnL w="9525" cmpd="sng">
                      <a:solidFill>
                        <a:srgbClr val="D0D0D0"/>
                      </a:solidFill>
                      <a:prstDash val="solid"/>
                    </a:lnL>
                    <a:lnR w="9525" cmpd="sng">
                      <a:solidFill>
                        <a:srgbClr val="D0D0D0"/>
                      </a:solidFill>
                      <a:prstDash val="solid"/>
                    </a:lnR>
                    <a:lnT w="9525" cmpd="sng">
                      <a:solidFill>
                        <a:srgbClr val="D0D0D0"/>
                      </a:solidFill>
                      <a:prstDash val="solid"/>
                    </a:lnT>
                    <a:lnB w="9525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7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2000" b="0" i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Trần Nguyễn Phúc Bình</a:t>
                      </a:r>
                      <a:endParaRPr/>
                    </a:p>
                  </a:txBody>
                  <a:tcPr marL="91450" marR="91450" marT="45725" marB="45725" anchor="ctr">
                    <a:lnL w="9525" cmpd="sng">
                      <a:solidFill>
                        <a:srgbClr val="D0D0D0"/>
                      </a:solidFill>
                      <a:prstDash val="solid"/>
                    </a:lnL>
                    <a:lnR w="9525" cmpd="sng">
                      <a:solidFill>
                        <a:srgbClr val="D0D0D0"/>
                      </a:solidFill>
                      <a:prstDash val="solid"/>
                    </a:lnR>
                    <a:lnT w="9525" cmpd="sng">
                      <a:solidFill>
                        <a:srgbClr val="D0D0D0"/>
                      </a:solidFill>
                      <a:prstDash val="solid"/>
                    </a:lnT>
                    <a:lnB w="9525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2000" b="0" i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202413994</a:t>
                      </a:r>
                      <a:endParaRPr/>
                    </a:p>
                  </a:txBody>
                  <a:tcPr marL="91450" marR="91450" marT="45725" marB="45725" anchor="ctr">
                    <a:lnL w="9525" cmpd="sng">
                      <a:solidFill>
                        <a:srgbClr val="D0D0D0"/>
                      </a:solidFill>
                      <a:prstDash val="solid"/>
                    </a:lnL>
                    <a:lnR w="9525" cmpd="sng">
                      <a:solidFill>
                        <a:srgbClr val="D0D0D0"/>
                      </a:solidFill>
                      <a:prstDash val="solid"/>
                    </a:lnR>
                    <a:lnT w="9525" cmpd="sng">
                      <a:solidFill>
                        <a:srgbClr val="D0D0D0"/>
                      </a:solidFill>
                      <a:prstDash val="solid"/>
                    </a:lnT>
                    <a:lnB w="9525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2000" b="0" i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Scrum Master, Dev</a:t>
                      </a:r>
                      <a:endParaRPr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2000" b="0" i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Trưởng nhóm, Backend</a:t>
                      </a:r>
                      <a:endParaRPr/>
                    </a:p>
                  </a:txBody>
                  <a:tcPr marL="91450" marR="91450" marT="45725" marB="45725" anchor="ctr">
                    <a:lnL w="9525" cmpd="sng">
                      <a:solidFill>
                        <a:srgbClr val="D0D0D0"/>
                      </a:solidFill>
                      <a:prstDash val="solid"/>
                    </a:lnL>
                    <a:lnR w="9525" cmpd="sng">
                      <a:solidFill>
                        <a:srgbClr val="D0D0D0"/>
                      </a:solidFill>
                      <a:prstDash val="solid"/>
                    </a:lnR>
                    <a:lnT w="9525" cmpd="sng">
                      <a:solidFill>
                        <a:srgbClr val="D0D0D0"/>
                      </a:solidFill>
                      <a:prstDash val="solid"/>
                    </a:lnT>
                    <a:lnB w="9525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7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2000" b="0" i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Trần Đức Trí</a:t>
                      </a:r>
                      <a:endParaRPr/>
                    </a:p>
                  </a:txBody>
                  <a:tcPr marL="91450" marR="91450" marT="45725" marB="45725" anchor="ctr">
                    <a:lnL w="9525" cmpd="sng">
                      <a:solidFill>
                        <a:srgbClr val="D0D0D0"/>
                      </a:solidFill>
                      <a:prstDash val="solid"/>
                    </a:lnL>
                    <a:lnR w="9525" cmpd="sng">
                      <a:solidFill>
                        <a:srgbClr val="D0D0D0"/>
                      </a:solidFill>
                      <a:prstDash val="solid"/>
                    </a:lnR>
                    <a:lnT w="9525" cmpd="sng">
                      <a:solidFill>
                        <a:srgbClr val="D0D0D0"/>
                      </a:solidFill>
                      <a:prstDash val="solid"/>
                    </a:lnT>
                    <a:lnB w="9525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2000" b="0" i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202414408</a:t>
                      </a:r>
                      <a:endParaRPr/>
                    </a:p>
                  </a:txBody>
                  <a:tcPr marL="91450" marR="91450" marT="45725" marB="45725" anchor="ctr">
                    <a:lnL w="9525" cmpd="sng">
                      <a:solidFill>
                        <a:srgbClr val="D0D0D0"/>
                      </a:solidFill>
                      <a:prstDash val="solid"/>
                    </a:lnL>
                    <a:lnR w="9525" cmpd="sng">
                      <a:solidFill>
                        <a:srgbClr val="D0D0D0"/>
                      </a:solidFill>
                      <a:prstDash val="solid"/>
                    </a:lnR>
                    <a:lnT w="9525" cmpd="sng">
                      <a:solidFill>
                        <a:srgbClr val="D0D0D0"/>
                      </a:solidFill>
                      <a:prstDash val="solid"/>
                    </a:lnT>
                    <a:lnB w="9525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2000" b="0" i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Product Owner, Dev</a:t>
                      </a:r>
                      <a:endParaRPr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2000" b="0" i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BA, AI</a:t>
                      </a:r>
                      <a:endParaRPr/>
                    </a:p>
                  </a:txBody>
                  <a:tcPr marL="91450" marR="91450" marT="45725" marB="45725" anchor="ctr">
                    <a:lnL w="9525" cmpd="sng">
                      <a:solidFill>
                        <a:srgbClr val="D0D0D0"/>
                      </a:solidFill>
                      <a:prstDash val="solid"/>
                    </a:lnL>
                    <a:lnR w="9525" cmpd="sng">
                      <a:solidFill>
                        <a:srgbClr val="D0D0D0"/>
                      </a:solidFill>
                      <a:prstDash val="solid"/>
                    </a:lnR>
                    <a:lnT w="9525" cmpd="sng">
                      <a:solidFill>
                        <a:srgbClr val="D0D0D0"/>
                      </a:solidFill>
                      <a:prstDash val="solid"/>
                    </a:lnT>
                    <a:lnB w="9525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7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2000" b="0" i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Phùng Tuấn Tài</a:t>
                      </a:r>
                      <a:endParaRPr/>
                    </a:p>
                  </a:txBody>
                  <a:tcPr marL="91450" marR="91450" marT="45725" marB="45725" anchor="ctr">
                    <a:lnL w="9525" cmpd="sng">
                      <a:solidFill>
                        <a:srgbClr val="D0D0D0"/>
                      </a:solidFill>
                      <a:prstDash val="solid"/>
                    </a:lnL>
                    <a:lnR w="9525" cmpd="sng">
                      <a:solidFill>
                        <a:srgbClr val="D0D0D0"/>
                      </a:solidFill>
                      <a:prstDash val="solid"/>
                    </a:lnR>
                    <a:lnT w="9525" cmpd="sng">
                      <a:solidFill>
                        <a:srgbClr val="D0D0D0"/>
                      </a:solidFill>
                      <a:prstDash val="solid"/>
                    </a:lnT>
                    <a:lnB w="9525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2000" b="0" i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202414357</a:t>
                      </a:r>
                      <a:endParaRPr/>
                    </a:p>
                  </a:txBody>
                  <a:tcPr marL="91450" marR="91450" marT="45725" marB="45725" anchor="ctr">
                    <a:lnL w="9525" cmpd="sng">
                      <a:solidFill>
                        <a:srgbClr val="D0D0D0"/>
                      </a:solidFill>
                      <a:prstDash val="solid"/>
                    </a:lnL>
                    <a:lnR w="9525" cmpd="sng">
                      <a:solidFill>
                        <a:srgbClr val="D0D0D0"/>
                      </a:solidFill>
                      <a:prstDash val="solid"/>
                    </a:lnR>
                    <a:lnT w="9525" cmpd="sng">
                      <a:solidFill>
                        <a:srgbClr val="D0D0D0"/>
                      </a:solidFill>
                      <a:prstDash val="solid"/>
                    </a:lnT>
                    <a:lnB w="9525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2000" b="0" i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Dev, Frontend</a:t>
                      </a:r>
                      <a:endParaRPr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2000" b="0" i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UI/UX, QA</a:t>
                      </a:r>
                      <a:endParaRPr/>
                    </a:p>
                  </a:txBody>
                  <a:tcPr marL="91450" marR="91450" marT="45725" marB="45725" anchor="ctr">
                    <a:lnL w="9525" cmpd="sng">
                      <a:solidFill>
                        <a:srgbClr val="D0D0D0"/>
                      </a:solidFill>
                      <a:prstDash val="solid"/>
                    </a:lnL>
                    <a:lnR w="9525" cmpd="sng">
                      <a:solidFill>
                        <a:srgbClr val="D0D0D0"/>
                      </a:solidFill>
                      <a:prstDash val="solid"/>
                    </a:lnR>
                    <a:lnT w="9525" cmpd="sng">
                      <a:solidFill>
                        <a:srgbClr val="D0D0D0"/>
                      </a:solidFill>
                      <a:prstDash val="solid"/>
                    </a:lnT>
                    <a:lnB w="9525" cmpd="sng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6" name="Google Shape;116;p17">
            <a:extLst>
              <a:ext uri="{FF2B5EF4-FFF2-40B4-BE49-F238E27FC236}">
                <a16:creationId xmlns:a16="http://schemas.microsoft.com/office/drawing/2014/main" id="{4B81DCEF-0806-403F-9130-E620B062B1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9224" y="5541264"/>
            <a:ext cx="256032" cy="25603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20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>
            <a:extLst>
              <a:ext uri="{FF2B5EF4-FFF2-40B4-BE49-F238E27FC236}">
                <a16:creationId xmlns:a16="http://schemas.microsoft.com/office/drawing/2014/main" id="{72304E2B-32BB-4DBB-91B9-EFCDEA121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2. Cập nhật bài toán</a:t>
            </a:r>
            <a:endParaRPr/>
          </a:p>
        </p:txBody>
      </p:sp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0FF92017-E7CD-47D2-B12A-9A710B6A6C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4</a:t>
            </a:r>
            <a:endParaRPr/>
          </a:p>
        </p:txBody>
      </p:sp>
      <p:sp>
        <p:nvSpPr>
          <p:cNvPr id="125" name="Google Shape;125;p18">
            <a:extLst>
              <a:ext uri="{FF2B5EF4-FFF2-40B4-BE49-F238E27FC236}">
                <a16:creationId xmlns:a16="http://schemas.microsoft.com/office/drawing/2014/main" id="{EE1EF32F-87D7-4933-AD3B-3106562C224E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490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Phạm vi phiên bản 1.0</a:t>
            </a:r>
            <a:endParaRPr/>
          </a:p>
        </p:txBody>
      </p:sp>
      <p:graphicFrame>
        <p:nvGraphicFramePr>
          <p:cNvPr id="126" name="Google Shape;126;p18">
            <a:extLst>
              <a:ext uri="{FF2B5EF4-FFF2-40B4-BE49-F238E27FC236}">
                <a16:creationId xmlns:a16="http://schemas.microsoft.com/office/drawing/2014/main" id="{7C233B24-9072-46F3-A9C9-2C31CDB01457}"/>
              </a:ext>
            </a:extLst>
          </p:cNvPr>
          <p:cNvGraphicFramePr/>
          <p:nvPr/>
        </p:nvGraphicFramePr>
        <p:xfrm>
          <a:off x="552450" y="1685925"/>
          <a:ext cx="11049000" cy="2343150"/>
        </p:xfrm>
        <a:graphic>
          <a:graphicData uri="http://schemas.openxmlformats.org/drawingml/2006/table">
            <a:tbl>
              <a:tblPr>
                <a:tableStyleId>{69164D6B-77A5-455B-8581-FB340438A784}</a:tableStyleId>
              </a:tblPr>
              <a:tblGrid>
                <a:gridCol w="552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sz="1898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Trong phạm vi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sz="1898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Ngoài phạm vi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sz="1898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Bệnh nhân ngoại trú ĐTĐ type 2 tại BV Hữu Nghị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sz="1898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Tích hợp trực tiếp hệ thống bệnh viện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sz="1898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Nhắc thuốc, xác nhận và theo dõi tuân thủ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sz="1898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Tự thay đổi đơn hoặc quyết định điều trị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23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>
            <a:extLst>
              <a:ext uri="{FF2B5EF4-FFF2-40B4-BE49-F238E27FC236}">
                <a16:creationId xmlns:a16="http://schemas.microsoft.com/office/drawing/2014/main" id="{3CBED9DC-E060-430F-AD0D-22581491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2. Cập nhật bài toán</a:t>
            </a:r>
            <a:endParaRPr/>
          </a:p>
        </p:txBody>
      </p:sp>
      <p:sp>
        <p:nvSpPr>
          <p:cNvPr id="133" name="Google Shape;133;p19">
            <a:extLst>
              <a:ext uri="{FF2B5EF4-FFF2-40B4-BE49-F238E27FC236}">
                <a16:creationId xmlns:a16="http://schemas.microsoft.com/office/drawing/2014/main" id="{2FB589B0-CD3D-4660-A6CF-3E8BA7C7F2D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5</a:t>
            </a:r>
            <a:endParaRPr/>
          </a:p>
        </p:txBody>
      </p:sp>
      <p:sp>
        <p:nvSpPr>
          <p:cNvPr id="134" name="Google Shape;134;p19">
            <a:extLst>
              <a:ext uri="{FF2B5EF4-FFF2-40B4-BE49-F238E27FC236}">
                <a16:creationId xmlns:a16="http://schemas.microsoft.com/office/drawing/2014/main" id="{08F9A1BD-7D99-4FB0-91C9-63B5117A02BF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Bỏ OCR, giữ nguyên bài toán lõi</a:t>
            </a:r>
            <a:endParaRPr/>
          </a:p>
        </p:txBody>
      </p:sp>
      <p:sp>
        <p:nvSpPr>
          <p:cNvPr id="135" name="Google Shape;135;p19">
            <a:extLst>
              <a:ext uri="{FF2B5EF4-FFF2-40B4-BE49-F238E27FC236}">
                <a16:creationId xmlns:a16="http://schemas.microsoft.com/office/drawing/2014/main" id="{85854331-08C2-48C7-8D29-D9FA782D9B69}"/>
              </a:ext>
            </a:extLst>
          </p:cNvPr>
          <p:cNvSpPr>
            <a:spLocks noGrp="1"/>
          </p:cNvSpPr>
          <p:nvPr/>
        </p:nvSpPr>
        <p:spPr>
          <a:xfrm>
            <a:off x="3429000" y="1508760"/>
            <a:ext cx="3200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>
            <a:defPPr>
              <a:defRPr sz="1875"/>
            </a:defPPr>
          </a:lstStyle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75"/>
            </a:pPr>
            <a:r>
              <a:rPr sz="1875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Trước điều chỉnh</a:t>
            </a:r>
            <a:endParaRPr/>
          </a:p>
        </p:txBody>
      </p:sp>
      <p:sp>
        <p:nvSpPr>
          <p:cNvPr id="136" name="Google Shape;136;p19">
            <a:extLst>
              <a:ext uri="{FF2B5EF4-FFF2-40B4-BE49-F238E27FC236}">
                <a16:creationId xmlns:a16="http://schemas.microsoft.com/office/drawing/2014/main" id="{BF25B964-F887-4352-AA3C-B90F2C7EE49E}"/>
              </a:ext>
            </a:extLst>
          </p:cNvPr>
          <p:cNvSpPr>
            <a:spLocks noGrp="1"/>
          </p:cNvSpPr>
          <p:nvPr/>
        </p:nvSpPr>
        <p:spPr>
          <a:xfrm>
            <a:off x="7543800" y="150876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>
            <a:defPPr>
              <a:defRPr sz="1875"/>
            </a:defPPr>
          </a:lstStyle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75"/>
            </a:pPr>
            <a:r>
              <a:rPr sz="1875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Phạm vi hiện tại</a:t>
            </a:r>
            <a:endParaRPr/>
          </a:p>
        </p:txBody>
      </p:sp>
      <p:sp>
        <p:nvSpPr>
          <p:cNvPr id="137" name="Google Shape;137;p19">
            <a:extLst>
              <a:ext uri="{FF2B5EF4-FFF2-40B4-BE49-F238E27FC236}">
                <a16:creationId xmlns:a16="http://schemas.microsoft.com/office/drawing/2014/main" id="{323A9116-614E-40C7-93CE-09A4A9DF22C9}"/>
              </a:ext>
            </a:extLst>
          </p:cNvPr>
          <p:cNvSpPr>
            <a:spLocks noGrp="1"/>
          </p:cNvSpPr>
          <p:nvPr/>
        </p:nvSpPr>
        <p:spPr>
          <a:xfrm>
            <a:off x="548640" y="192024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21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Nguồn đơn thuốc</a:t>
            </a:r>
            <a:endParaRPr/>
          </a:p>
        </p:txBody>
      </p:sp>
      <p:sp>
        <p:nvSpPr>
          <p:cNvPr id="138" name="Google Shape;138;p19">
            <a:extLst>
              <a:ext uri="{FF2B5EF4-FFF2-40B4-BE49-F238E27FC236}">
                <a16:creationId xmlns:a16="http://schemas.microsoft.com/office/drawing/2014/main" id="{E5814B6B-53DB-4018-B5EA-4FC0BC54B1F7}"/>
              </a:ext>
            </a:extLst>
          </p:cNvPr>
          <p:cNvSpPr>
            <a:spLocks noGrp="1"/>
          </p:cNvSpPr>
          <p:nvPr/>
        </p:nvSpPr>
        <p:spPr>
          <a:xfrm>
            <a:off x="3429000" y="1920240"/>
            <a:ext cx="3200400" cy="731520"/>
          </a:xfrm>
          <a:prstGeom prst="roundRect">
            <a:avLst>
              <a:gd name="adj" fmla="val 2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137150" rIns="137150" bIns="13715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Chụp ảnh, OCR</a:t>
            </a:r>
            <a:endParaRPr/>
          </a:p>
        </p:txBody>
      </p:sp>
      <p:sp>
        <p:nvSpPr>
          <p:cNvPr id="139" name="Google Shape;139;p19">
            <a:extLst>
              <a:ext uri="{FF2B5EF4-FFF2-40B4-BE49-F238E27FC236}">
                <a16:creationId xmlns:a16="http://schemas.microsoft.com/office/drawing/2014/main" id="{5B6772EC-65D7-4797-87A5-03F5CF13DBAD}"/>
              </a:ext>
            </a:extLst>
          </p:cNvPr>
          <p:cNvSpPr>
            <a:spLocks noGrp="1"/>
          </p:cNvSpPr>
          <p:nvPr/>
        </p:nvSpPr>
        <p:spPr>
          <a:xfrm>
            <a:off x="6812280" y="2121408"/>
            <a:ext cx="548640" cy="3291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Google Shape;140;p19">
            <a:extLst>
              <a:ext uri="{FF2B5EF4-FFF2-40B4-BE49-F238E27FC236}">
                <a16:creationId xmlns:a16="http://schemas.microsoft.com/office/drawing/2014/main" id="{D463E4B6-93E5-4C8A-999E-523E46C54F6A}"/>
              </a:ext>
            </a:extLst>
          </p:cNvPr>
          <p:cNvSpPr>
            <a:spLocks noGrp="1"/>
          </p:cNvSpPr>
          <p:nvPr/>
        </p:nvSpPr>
        <p:spPr>
          <a:xfrm>
            <a:off x="7543800" y="1920240"/>
            <a:ext cx="4023360" cy="731520"/>
          </a:xfrm>
          <a:prstGeom prst="roundRect">
            <a:avLst>
              <a:gd name="adj" fmla="val 25000"/>
            </a:avLst>
          </a:prstGeom>
          <a:solidFill>
            <a:srgbClr val="FBEAEA"/>
          </a:solidFill>
          <a:ln>
            <a:noFill/>
          </a:ln>
        </p:spPr>
        <p:txBody>
          <a:bodyPr spcFirstLastPara="1" wrap="square" lIns="137150" tIns="137150" rIns="137150" bIns="13715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 i="0" u="none" strike="noStrike" cap="none">
                <a:solidFill>
                  <a:srgbClr val="8E0E1F"/>
                </a:solidFill>
                <a:latin typeface="Arial"/>
                <a:ea typeface="Arial"/>
                <a:cs typeface="Arial"/>
              </a:rPr>
              <a:t>Nhập có gợi ý tên</a:t>
            </a:r>
            <a:endParaRPr/>
          </a:p>
        </p:txBody>
      </p:sp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F1B27020-BF89-4173-B587-13BDACFDA9C9}"/>
              </a:ext>
            </a:extLst>
          </p:cNvPr>
          <p:cNvSpPr>
            <a:spLocks noGrp="1"/>
          </p:cNvSpPr>
          <p:nvPr/>
        </p:nvSpPr>
        <p:spPr>
          <a:xfrm>
            <a:off x="548640" y="2816352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21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Module AI</a:t>
            </a:r>
            <a:endParaRPr/>
          </a:p>
        </p:txBody>
      </p:sp>
      <p:sp>
        <p:nvSpPr>
          <p:cNvPr id="142" name="Google Shape;142;p19">
            <a:extLst>
              <a:ext uri="{FF2B5EF4-FFF2-40B4-BE49-F238E27FC236}">
                <a16:creationId xmlns:a16="http://schemas.microsoft.com/office/drawing/2014/main" id="{9814CA76-F915-4355-8A35-666C26860C68}"/>
              </a:ext>
            </a:extLst>
          </p:cNvPr>
          <p:cNvSpPr>
            <a:spLocks noGrp="1"/>
          </p:cNvSpPr>
          <p:nvPr/>
        </p:nvSpPr>
        <p:spPr>
          <a:xfrm>
            <a:off x="3429000" y="2816352"/>
            <a:ext cx="3200400" cy="731520"/>
          </a:xfrm>
          <a:prstGeom prst="roundRect">
            <a:avLst>
              <a:gd name="adj" fmla="val 2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137150" rIns="137150" bIns="13715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OCR đơn thuốc</a:t>
            </a:r>
            <a:endParaRPr/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84159B64-8DB2-4EC0-B2A9-DEA0E1DC7DA4}"/>
              </a:ext>
            </a:extLst>
          </p:cNvPr>
          <p:cNvSpPr>
            <a:spLocks noGrp="1"/>
          </p:cNvSpPr>
          <p:nvPr/>
        </p:nvSpPr>
        <p:spPr>
          <a:xfrm>
            <a:off x="6812280" y="3017520"/>
            <a:ext cx="548640" cy="3291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Google Shape;144;p19">
            <a:extLst>
              <a:ext uri="{FF2B5EF4-FFF2-40B4-BE49-F238E27FC236}">
                <a16:creationId xmlns:a16="http://schemas.microsoft.com/office/drawing/2014/main" id="{3C29030A-7EBF-41A8-B106-9A6833564500}"/>
              </a:ext>
            </a:extLst>
          </p:cNvPr>
          <p:cNvSpPr>
            <a:spLocks noGrp="1"/>
          </p:cNvSpPr>
          <p:nvPr/>
        </p:nvSpPr>
        <p:spPr>
          <a:xfrm>
            <a:off x="7543800" y="2816352"/>
            <a:ext cx="4023360" cy="731520"/>
          </a:xfrm>
          <a:prstGeom prst="roundRect">
            <a:avLst>
              <a:gd name="adj" fmla="val 25000"/>
            </a:avLst>
          </a:prstGeom>
          <a:solidFill>
            <a:srgbClr val="FBEAEA"/>
          </a:solidFill>
          <a:ln>
            <a:noFill/>
          </a:ln>
        </p:spPr>
        <p:txBody>
          <a:bodyPr spcFirstLastPara="1" wrap="square" lIns="137150" tIns="137150" rIns="137150" bIns="13715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8"/>
              <a:buFont typeface="Arial"/>
              <a:buNone/>
            </a:pPr>
            <a:r>
              <a:rPr sz="1898" b="1" i="0" u="none" strike="noStrike" cap="none" dirty="0" err="1">
                <a:solidFill>
                  <a:srgbClr val="8E0E1F"/>
                </a:solidFill>
                <a:latin typeface="Arial"/>
                <a:ea typeface="Arial"/>
                <a:cs typeface="Arial"/>
              </a:rPr>
              <a:t>Chuẩn</a:t>
            </a:r>
            <a:r>
              <a:rPr sz="1898" b="1" i="0" u="none" strike="noStrike" cap="none" dirty="0">
                <a:solidFill>
                  <a:srgbClr val="8E0E1F"/>
                </a:solidFill>
                <a:latin typeface="Arial"/>
                <a:ea typeface="Arial"/>
                <a:cs typeface="Arial"/>
              </a:rPr>
              <a:t> </a:t>
            </a:r>
            <a:r>
              <a:rPr sz="1898" b="1" i="0" u="none" strike="noStrike" cap="none" dirty="0" err="1">
                <a:solidFill>
                  <a:srgbClr val="8E0E1F"/>
                </a:solidFill>
                <a:latin typeface="Arial"/>
                <a:ea typeface="Arial"/>
                <a:cs typeface="Arial"/>
              </a:rPr>
              <a:t>hóa</a:t>
            </a:r>
            <a:r>
              <a:rPr sz="1898" b="1" i="0" u="none" strike="noStrike" cap="none" dirty="0">
                <a:solidFill>
                  <a:srgbClr val="8E0E1F"/>
                </a:solidFill>
                <a:latin typeface="Arial"/>
                <a:ea typeface="Arial"/>
                <a:cs typeface="Arial"/>
              </a:rPr>
              <a:t> </a:t>
            </a:r>
            <a:r>
              <a:rPr sz="1898" b="1" i="0" u="none" strike="noStrike" cap="none" dirty="0" err="1">
                <a:solidFill>
                  <a:srgbClr val="8E0E1F"/>
                </a:solidFill>
                <a:latin typeface="Arial"/>
                <a:ea typeface="Arial"/>
                <a:cs typeface="Arial"/>
              </a:rPr>
              <a:t>tên</a:t>
            </a:r>
            <a:r>
              <a:rPr sz="1898" b="1" i="0" u="none" strike="noStrike" cap="none" dirty="0">
                <a:solidFill>
                  <a:srgbClr val="8E0E1F"/>
                </a:solidFill>
                <a:latin typeface="Arial"/>
                <a:ea typeface="Arial"/>
                <a:cs typeface="Arial"/>
              </a:rPr>
              <a:t> (Sprint 3)</a:t>
            </a:r>
            <a:endParaRPr dirty="0"/>
          </a:p>
        </p:txBody>
      </p:sp>
      <p:sp>
        <p:nvSpPr>
          <p:cNvPr id="145" name="Google Shape;145;p19">
            <a:extLst>
              <a:ext uri="{FF2B5EF4-FFF2-40B4-BE49-F238E27FC236}">
                <a16:creationId xmlns:a16="http://schemas.microsoft.com/office/drawing/2014/main" id="{17E33A40-6631-4F4D-B758-4E9ADF3CB783}"/>
              </a:ext>
            </a:extLst>
          </p:cNvPr>
          <p:cNvSpPr>
            <a:spLocks noGrp="1"/>
          </p:cNvSpPr>
          <p:nvPr/>
        </p:nvSpPr>
        <p:spPr>
          <a:xfrm>
            <a:off x="548640" y="371246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21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Phạm vi</a:t>
            </a:r>
            <a:endParaRPr/>
          </a:p>
        </p:txBody>
      </p:sp>
      <p:sp>
        <p:nvSpPr>
          <p:cNvPr id="146" name="Google Shape;146;p19">
            <a:extLst>
              <a:ext uri="{FF2B5EF4-FFF2-40B4-BE49-F238E27FC236}">
                <a16:creationId xmlns:a16="http://schemas.microsoft.com/office/drawing/2014/main" id="{0AF4FE5B-C39A-4A6D-9251-7980CD081B3B}"/>
              </a:ext>
            </a:extLst>
          </p:cNvPr>
          <p:cNvSpPr>
            <a:spLocks noGrp="1"/>
          </p:cNvSpPr>
          <p:nvPr/>
        </p:nvSpPr>
        <p:spPr>
          <a:xfrm>
            <a:off x="3429000" y="3712464"/>
            <a:ext cx="3200400" cy="731520"/>
          </a:xfrm>
          <a:prstGeom prst="roundRect">
            <a:avLst>
              <a:gd name="adj" fmla="val 2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137150" rIns="137150" bIns="13715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ĐTĐ type 2 nói chung</a:t>
            </a:r>
            <a:endParaRPr/>
          </a:p>
        </p:txBody>
      </p:sp>
      <p:sp>
        <p:nvSpPr>
          <p:cNvPr id="147" name="Google Shape;147;p19">
            <a:extLst>
              <a:ext uri="{FF2B5EF4-FFF2-40B4-BE49-F238E27FC236}">
                <a16:creationId xmlns:a16="http://schemas.microsoft.com/office/drawing/2014/main" id="{92A6F40B-25EE-4B60-9C19-0A807022FB7F}"/>
              </a:ext>
            </a:extLst>
          </p:cNvPr>
          <p:cNvSpPr>
            <a:spLocks noGrp="1"/>
          </p:cNvSpPr>
          <p:nvPr/>
        </p:nvSpPr>
        <p:spPr>
          <a:xfrm>
            <a:off x="6812280" y="3913632"/>
            <a:ext cx="548640" cy="3291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Google Shape;148;p19">
            <a:extLst>
              <a:ext uri="{FF2B5EF4-FFF2-40B4-BE49-F238E27FC236}">
                <a16:creationId xmlns:a16="http://schemas.microsoft.com/office/drawing/2014/main" id="{2799E7F4-C2D2-4983-917D-32B025C81D15}"/>
              </a:ext>
            </a:extLst>
          </p:cNvPr>
          <p:cNvSpPr>
            <a:spLocks noGrp="1"/>
          </p:cNvSpPr>
          <p:nvPr/>
        </p:nvSpPr>
        <p:spPr>
          <a:xfrm>
            <a:off x="7543800" y="3712464"/>
            <a:ext cx="4023360" cy="731520"/>
          </a:xfrm>
          <a:prstGeom prst="roundRect">
            <a:avLst>
              <a:gd name="adj" fmla="val 25000"/>
            </a:avLst>
          </a:prstGeom>
          <a:solidFill>
            <a:srgbClr val="FBEAEA"/>
          </a:solidFill>
          <a:ln>
            <a:noFill/>
          </a:ln>
        </p:spPr>
        <p:txBody>
          <a:bodyPr spcFirstLastPara="1" wrap="square" lIns="137150" tIns="137150" rIns="137150" bIns="13715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 i="0" u="none" strike="noStrike" cap="none">
                <a:solidFill>
                  <a:srgbClr val="8E0E1F"/>
                </a:solidFill>
                <a:latin typeface="Arial"/>
                <a:ea typeface="Arial"/>
                <a:cs typeface="Arial"/>
              </a:rPr>
              <a:t>Ngoại trú BV Hữu Nghị</a:t>
            </a:r>
            <a:endParaRPr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BA806FB-5A48-4CA3-88CA-034DABB10A60}"/>
              </a:ext>
            </a:extLst>
          </p:cNvPr>
          <p:cNvSpPr>
            <a:spLocks noGrp="1"/>
          </p:cNvSpPr>
          <p:nvPr/>
        </p:nvSpPr>
        <p:spPr>
          <a:xfrm>
            <a:off x="548640" y="4608576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21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Kênh bệnh nhân</a:t>
            </a:r>
            <a:endParaRPr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FD45696B-E2DB-423C-9AF7-C00402AA1F60}"/>
              </a:ext>
            </a:extLst>
          </p:cNvPr>
          <p:cNvSpPr>
            <a:spLocks noGrp="1"/>
          </p:cNvSpPr>
          <p:nvPr/>
        </p:nvSpPr>
        <p:spPr>
          <a:xfrm>
            <a:off x="3429000" y="4608576"/>
            <a:ext cx="3200400" cy="731520"/>
          </a:xfrm>
          <a:prstGeom prst="roundRect">
            <a:avLst>
              <a:gd name="adj" fmla="val 2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137150" rIns="137150" bIns="13715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Chưa chốt</a:t>
            </a:r>
            <a:endParaRPr/>
          </a:p>
        </p:txBody>
      </p:sp>
      <p:sp>
        <p:nvSpPr>
          <p:cNvPr id="151" name="Google Shape;151;p19">
            <a:extLst>
              <a:ext uri="{FF2B5EF4-FFF2-40B4-BE49-F238E27FC236}">
                <a16:creationId xmlns:a16="http://schemas.microsoft.com/office/drawing/2014/main" id="{2C16AD68-9325-4165-8AD2-95255A1F138B}"/>
              </a:ext>
            </a:extLst>
          </p:cNvPr>
          <p:cNvSpPr>
            <a:spLocks noGrp="1"/>
          </p:cNvSpPr>
          <p:nvPr/>
        </p:nvSpPr>
        <p:spPr>
          <a:xfrm>
            <a:off x="6812280" y="4809744"/>
            <a:ext cx="548640" cy="3291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Google Shape;152;p19">
            <a:extLst>
              <a:ext uri="{FF2B5EF4-FFF2-40B4-BE49-F238E27FC236}">
                <a16:creationId xmlns:a16="http://schemas.microsoft.com/office/drawing/2014/main" id="{67D0731B-7B11-45E3-91DE-2117C48D2DC5}"/>
              </a:ext>
            </a:extLst>
          </p:cNvPr>
          <p:cNvSpPr>
            <a:spLocks noGrp="1"/>
          </p:cNvSpPr>
          <p:nvPr/>
        </p:nvSpPr>
        <p:spPr>
          <a:xfrm>
            <a:off x="7543800" y="4608576"/>
            <a:ext cx="4023360" cy="731520"/>
          </a:xfrm>
          <a:prstGeom prst="roundRect">
            <a:avLst>
              <a:gd name="adj" fmla="val 25000"/>
            </a:avLst>
          </a:prstGeom>
          <a:solidFill>
            <a:srgbClr val="FBEAEA"/>
          </a:solidFill>
          <a:ln>
            <a:noFill/>
          </a:ln>
        </p:spPr>
        <p:txBody>
          <a:bodyPr spcFirstLastPara="1" wrap="square" lIns="137150" tIns="137150" rIns="137150" bIns="13715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 i="0" u="none" strike="noStrike" cap="none">
                <a:solidFill>
                  <a:srgbClr val="8E0E1F"/>
                </a:solidFill>
                <a:latin typeface="Arial"/>
                <a:ea typeface="Arial"/>
                <a:cs typeface="Arial"/>
              </a:rPr>
              <a:t>App chế độ đơn giản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04327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>
            <a:extLst>
              <a:ext uri="{FF2B5EF4-FFF2-40B4-BE49-F238E27FC236}">
                <a16:creationId xmlns:a16="http://schemas.microsoft.com/office/drawing/2014/main" id="{BA41A27C-FD55-40A6-BCE8-75D13D991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2. Cập nhật bài toán</a:t>
            </a:r>
            <a:endParaRPr/>
          </a:p>
        </p:txBody>
      </p:sp>
      <p:sp>
        <p:nvSpPr>
          <p:cNvPr id="159" name="Google Shape;159;p20">
            <a:extLst>
              <a:ext uri="{FF2B5EF4-FFF2-40B4-BE49-F238E27FC236}">
                <a16:creationId xmlns:a16="http://schemas.microsoft.com/office/drawing/2014/main" id="{61D056C7-FA30-4A99-A31D-3555CA7FE4F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6</a:t>
            </a:r>
            <a:endParaRPr/>
          </a:p>
        </p:txBody>
      </p:sp>
      <p:sp>
        <p:nvSpPr>
          <p:cNvPr id="160" name="Google Shape;160;p20">
            <a:extLst>
              <a:ext uri="{FF2B5EF4-FFF2-40B4-BE49-F238E27FC236}">
                <a16:creationId xmlns:a16="http://schemas.microsoft.com/office/drawing/2014/main" id="{08384B38-8334-4E83-B316-941DC2CB1107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sz="285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Danh sách khảo sát: 3 bệnh nhân, 2 người con</a:t>
            </a:r>
            <a:endParaRPr/>
          </a:p>
        </p:txBody>
      </p:sp>
      <p:sp>
        <p:nvSpPr>
          <p:cNvPr id="161" name="Google Shape;161;p20">
            <a:extLst>
              <a:ext uri="{FF2B5EF4-FFF2-40B4-BE49-F238E27FC236}">
                <a16:creationId xmlns:a16="http://schemas.microsoft.com/office/drawing/2014/main" id="{719D22F0-C735-43BF-9819-57BAD2A9394B}"/>
              </a:ext>
            </a:extLst>
          </p:cNvPr>
          <p:cNvSpPr>
            <a:spLocks noGrp="1"/>
          </p:cNvSpPr>
          <p:nvPr/>
        </p:nvSpPr>
        <p:spPr>
          <a:xfrm>
            <a:off x="548640" y="1600200"/>
            <a:ext cx="1874519" cy="1874519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Google Shape;162;p20">
            <a:extLst>
              <a:ext uri="{FF2B5EF4-FFF2-40B4-BE49-F238E27FC236}">
                <a16:creationId xmlns:a16="http://schemas.microsoft.com/office/drawing/2014/main" id="{B80CC086-6638-4C6E-B9DD-DDB1E59ECBBE}"/>
              </a:ext>
            </a:extLst>
          </p:cNvPr>
          <p:cNvSpPr>
            <a:spLocks noGrp="1"/>
          </p:cNvSpPr>
          <p:nvPr/>
        </p:nvSpPr>
        <p:spPr>
          <a:xfrm>
            <a:off x="548640" y="1645920"/>
            <a:ext cx="1874519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sz="60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3</a:t>
            </a:r>
            <a:endParaRPr/>
          </a:p>
        </p:txBody>
      </p:sp>
      <p:sp>
        <p:nvSpPr>
          <p:cNvPr id="163" name="Google Shape;163;p20">
            <a:extLst>
              <a:ext uri="{FF2B5EF4-FFF2-40B4-BE49-F238E27FC236}">
                <a16:creationId xmlns:a16="http://schemas.microsoft.com/office/drawing/2014/main" id="{AE79CF0A-11B6-4D8F-A667-FA71BEAA6488}"/>
              </a:ext>
            </a:extLst>
          </p:cNvPr>
          <p:cNvSpPr>
            <a:spLocks noGrp="1"/>
          </p:cNvSpPr>
          <p:nvPr/>
        </p:nvSpPr>
        <p:spPr>
          <a:xfrm>
            <a:off x="548640" y="2697480"/>
            <a:ext cx="18745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bệnh nhân</a:t>
            </a:r>
            <a:endParaRPr/>
          </a:p>
        </p:txBody>
      </p:sp>
      <p:sp>
        <p:nvSpPr>
          <p:cNvPr id="164" name="Google Shape;164;p20">
            <a:extLst>
              <a:ext uri="{FF2B5EF4-FFF2-40B4-BE49-F238E27FC236}">
                <a16:creationId xmlns:a16="http://schemas.microsoft.com/office/drawing/2014/main" id="{9B8D9195-8045-4309-8592-C13DD55BAF13}"/>
              </a:ext>
            </a:extLst>
          </p:cNvPr>
          <p:cNvSpPr>
            <a:spLocks noGrp="1"/>
          </p:cNvSpPr>
          <p:nvPr/>
        </p:nvSpPr>
        <p:spPr>
          <a:xfrm>
            <a:off x="2606040" y="1600200"/>
            <a:ext cx="1874519" cy="1874519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Google Shape;165;p20">
            <a:extLst>
              <a:ext uri="{FF2B5EF4-FFF2-40B4-BE49-F238E27FC236}">
                <a16:creationId xmlns:a16="http://schemas.microsoft.com/office/drawing/2014/main" id="{0701ED04-60B1-4D38-A77F-82CFE2FC4952}"/>
              </a:ext>
            </a:extLst>
          </p:cNvPr>
          <p:cNvSpPr>
            <a:spLocks noGrp="1"/>
          </p:cNvSpPr>
          <p:nvPr/>
        </p:nvSpPr>
        <p:spPr>
          <a:xfrm>
            <a:off x="2606040" y="1645920"/>
            <a:ext cx="1874519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sz="60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2</a:t>
            </a:r>
            <a:endParaRPr/>
          </a:p>
        </p:txBody>
      </p:sp>
      <p:sp>
        <p:nvSpPr>
          <p:cNvPr id="166" name="Google Shape;166;p20">
            <a:extLst>
              <a:ext uri="{FF2B5EF4-FFF2-40B4-BE49-F238E27FC236}">
                <a16:creationId xmlns:a16="http://schemas.microsoft.com/office/drawing/2014/main" id="{DCBB3753-3502-4423-BACE-8D0FFDEE8A96}"/>
              </a:ext>
            </a:extLst>
          </p:cNvPr>
          <p:cNvSpPr>
            <a:spLocks noGrp="1"/>
          </p:cNvSpPr>
          <p:nvPr/>
        </p:nvSpPr>
        <p:spPr>
          <a:xfrm>
            <a:off x="2606040" y="2697480"/>
            <a:ext cx="18745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người con</a:t>
            </a:r>
            <a:endParaRPr/>
          </a:p>
        </p:txBody>
      </p:sp>
      <p:sp>
        <p:nvSpPr>
          <p:cNvPr id="167" name="Google Shape;167;p20">
            <a:extLst>
              <a:ext uri="{FF2B5EF4-FFF2-40B4-BE49-F238E27FC236}">
                <a16:creationId xmlns:a16="http://schemas.microsoft.com/office/drawing/2014/main" id="{7ADDB749-508A-4490-9FB6-3D9B18AA89DD}"/>
              </a:ext>
            </a:extLst>
          </p:cNvPr>
          <p:cNvSpPr>
            <a:spLocks noGrp="1"/>
          </p:cNvSpPr>
          <p:nvPr/>
        </p:nvSpPr>
        <p:spPr>
          <a:xfrm>
            <a:off x="4663440" y="1600200"/>
            <a:ext cx="1874519" cy="1874519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Google Shape;168;p20">
            <a:extLst>
              <a:ext uri="{FF2B5EF4-FFF2-40B4-BE49-F238E27FC236}">
                <a16:creationId xmlns:a16="http://schemas.microsoft.com/office/drawing/2014/main" id="{AE4D5D1B-0795-4089-80D0-F8650073CEE1}"/>
              </a:ext>
            </a:extLst>
          </p:cNvPr>
          <p:cNvSpPr>
            <a:spLocks noGrp="1"/>
          </p:cNvSpPr>
          <p:nvPr/>
        </p:nvSpPr>
        <p:spPr>
          <a:xfrm>
            <a:off x="4663440" y="1645920"/>
            <a:ext cx="1874519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sz="6000" b="1" i="0" u="none" strike="noStrike" cap="none">
                <a:solidFill>
                  <a:srgbClr val="5F6B7A"/>
                </a:solidFill>
                <a:latin typeface="Arial"/>
                <a:ea typeface="Arial"/>
                <a:cs typeface="Arial"/>
              </a:rPr>
              <a:t>0</a:t>
            </a:r>
            <a:endParaRPr/>
          </a:p>
        </p:txBody>
      </p:sp>
      <p:sp>
        <p:nvSpPr>
          <p:cNvPr id="169" name="Google Shape;169;p20">
            <a:extLst>
              <a:ext uri="{FF2B5EF4-FFF2-40B4-BE49-F238E27FC236}">
                <a16:creationId xmlns:a16="http://schemas.microsoft.com/office/drawing/2014/main" id="{B674727B-A29E-4992-A8C5-B6F52BCFFDC0}"/>
              </a:ext>
            </a:extLst>
          </p:cNvPr>
          <p:cNvSpPr>
            <a:spLocks noGrp="1"/>
          </p:cNvSpPr>
          <p:nvPr/>
        </p:nvSpPr>
        <p:spPr>
          <a:xfrm>
            <a:off x="4663440" y="2697480"/>
            <a:ext cx="18745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bác sĩ, dược sĩ</a:t>
            </a:r>
            <a:endParaRPr/>
          </a:p>
        </p:txBody>
      </p:sp>
      <p:sp>
        <p:nvSpPr>
          <p:cNvPr id="170" name="Google Shape;170;p20">
            <a:extLst>
              <a:ext uri="{FF2B5EF4-FFF2-40B4-BE49-F238E27FC236}">
                <a16:creationId xmlns:a16="http://schemas.microsoft.com/office/drawing/2014/main" id="{8FD78D30-91DB-4610-A237-DB10CF286497}"/>
              </a:ext>
            </a:extLst>
          </p:cNvPr>
          <p:cNvSpPr>
            <a:spLocks noGrp="1"/>
          </p:cNvSpPr>
          <p:nvPr/>
        </p:nvSpPr>
        <p:spPr>
          <a:xfrm>
            <a:off x="6858000" y="16002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sz="22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Điều nhóm nghe được</a:t>
            </a:r>
            <a:endParaRPr/>
          </a:p>
        </p:txBody>
      </p:sp>
      <p:sp>
        <p:nvSpPr>
          <p:cNvPr id="171" name="Google Shape;171;p20">
            <a:extLst>
              <a:ext uri="{FF2B5EF4-FFF2-40B4-BE49-F238E27FC236}">
                <a16:creationId xmlns:a16="http://schemas.microsoft.com/office/drawing/2014/main" id="{3AC603A1-B8AE-468A-9A65-0D8C53399357}"/>
              </a:ext>
            </a:extLst>
          </p:cNvPr>
          <p:cNvSpPr>
            <a:spLocks noGrp="1"/>
          </p:cNvSpPr>
          <p:nvPr/>
        </p:nvSpPr>
        <p:spPr>
          <a:xfrm>
            <a:off x="6858000" y="214884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320040" marR="0" lvl="0" indent="-27432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Char char="•"/>
            </a:pPr>
            <a:r>
              <a:rPr sz="21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Uống thuốc dựa vào trí nhớ</a:t>
            </a:r>
            <a:endParaRPr/>
          </a:p>
          <a:p>
            <a:pPr marL="320040" marR="0" lvl="0" indent="-2743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Char char="•"/>
            </a:pPr>
            <a:r>
              <a:rPr sz="21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Hay quên liều trưa</a:t>
            </a:r>
            <a:endParaRPr/>
          </a:p>
          <a:p>
            <a:pPr marL="320040" marR="0" lvl="0" indent="-2743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Char char="•"/>
            </a:pPr>
            <a:r>
              <a:rPr sz="21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Phải đếm lại vỉ thuốc</a:t>
            </a:r>
            <a:endParaRPr/>
          </a:p>
          <a:p>
            <a:pPr marL="320040" marR="0" lvl="0" indent="-2743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Char char="•"/>
            </a:pPr>
            <a:r>
              <a:rPr sz="21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Máy để im lặng, lỡ nhắc</a:t>
            </a:r>
            <a:endParaRPr/>
          </a:p>
          <a:p>
            <a:pPr marL="320040" marR="0" lvl="0" indent="-2743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Char char="•"/>
            </a:pPr>
            <a:r>
              <a:rPr sz="21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Có người sợ làm phiền con</a:t>
            </a:r>
            <a:endParaRPr/>
          </a:p>
        </p:txBody>
      </p:sp>
      <p:sp>
        <p:nvSpPr>
          <p:cNvPr id="172" name="Google Shape;172;p20">
            <a:extLst>
              <a:ext uri="{FF2B5EF4-FFF2-40B4-BE49-F238E27FC236}">
                <a16:creationId xmlns:a16="http://schemas.microsoft.com/office/drawing/2014/main" id="{529DAE7C-8753-45AF-BCBF-B8C05F6013EA}"/>
              </a:ext>
            </a:extLst>
          </p:cNvPr>
          <p:cNvSpPr>
            <a:spLocks noGrp="1"/>
          </p:cNvSpPr>
          <p:nvPr/>
        </p:nvSpPr>
        <p:spPr>
          <a:xfrm>
            <a:off x="548640" y="3840480"/>
            <a:ext cx="6035040" cy="1600200"/>
          </a:xfrm>
          <a:prstGeom prst="roundRect">
            <a:avLst>
              <a:gd name="adj" fmla="val 12000"/>
            </a:avLst>
          </a:prstGeom>
          <a:solidFill>
            <a:srgbClr val="ECEFF3"/>
          </a:solidFill>
          <a:ln>
            <a:noFill/>
          </a:ln>
        </p:spPr>
        <p:txBody>
          <a:bodyPr spcFirstLastPara="1" wrap="square" lIns="137150" tIns="137150" rIns="137150" bIns="137150" anchor="ctr">
            <a:noAutofit/>
          </a:bodyPr>
          <a:lstStyle>
            <a:defPPr>
              <a:defRPr sz="1650"/>
            </a:defPPr>
          </a:lstStyle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650"/>
            </a:pPr>
            <a:r>
              <a:rPr sz="1650" b="0" i="0" u="none" strike="noStrike" cap="none">
                <a:solidFill>
                  <a:srgbClr val="5F6B7A"/>
                </a:solidFill>
                <a:latin typeface="Arial"/>
                <a:ea typeface="Arial"/>
                <a:cs typeface="Arial"/>
              </a:rPr>
              <a:t>Giới hạn khảo sát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650"/>
            </a:pPr>
            <a:r>
              <a:rPr sz="1650" b="0" i="0" u="none" strike="noStrike" cap="none">
                <a:solidFill>
                  <a:srgbClr val="5F6B7A"/>
                </a:solidFill>
                <a:latin typeface="Arial"/>
                <a:ea typeface="Arial"/>
                <a:cs typeface="Arial"/>
              </a:rPr>
              <a:t>Danh sách ghi nhận 5 người.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650"/>
            </a:pPr>
            <a:r>
              <a:rPr sz="1650" b="0" i="0" u="none" strike="noStrike" cap="none">
                <a:solidFill>
                  <a:srgbClr val="5F6B7A"/>
                </a:solidFill>
                <a:latin typeface="Arial"/>
                <a:ea typeface="Arial"/>
                <a:cs typeface="Arial"/>
              </a:rPr>
              <a:t>Mẫu quen biết, chưa có bác sĩ hoặc dược sĩ.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72539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>
            <a:extLst>
              <a:ext uri="{FF2B5EF4-FFF2-40B4-BE49-F238E27FC236}">
                <a16:creationId xmlns:a16="http://schemas.microsoft.com/office/drawing/2014/main" id="{CE4DA93A-D454-4C19-8CB6-583C0E415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2. Cập nhật bài toán</a:t>
            </a:r>
            <a:endParaRPr/>
          </a:p>
        </p:txBody>
      </p:sp>
      <p:sp>
        <p:nvSpPr>
          <p:cNvPr id="179" name="Google Shape;179;p21">
            <a:extLst>
              <a:ext uri="{FF2B5EF4-FFF2-40B4-BE49-F238E27FC236}">
                <a16:creationId xmlns:a16="http://schemas.microsoft.com/office/drawing/2014/main" id="{6D69A9DA-BC06-450C-8EC6-96A85639346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7</a:t>
            </a:r>
            <a:endParaRPr/>
          </a:p>
        </p:txBody>
      </p:sp>
      <p:sp>
        <p:nvSpPr>
          <p:cNvPr id="180" name="Google Shape;180;p21">
            <a:extLst>
              <a:ext uri="{FF2B5EF4-FFF2-40B4-BE49-F238E27FC236}">
                <a16:creationId xmlns:a16="http://schemas.microsoft.com/office/drawing/2014/main" id="{4B484D23-4FA7-4F59-8CC7-F459664F5983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Kết quả kiểm chứng 7 giả định</a:t>
            </a:r>
            <a:endParaRPr/>
          </a:p>
        </p:txBody>
      </p:sp>
      <p:sp>
        <p:nvSpPr>
          <p:cNvPr id="181" name="Google Shape;181;p21">
            <a:extLst>
              <a:ext uri="{FF2B5EF4-FFF2-40B4-BE49-F238E27FC236}">
                <a16:creationId xmlns:a16="http://schemas.microsoft.com/office/drawing/2014/main" id="{9C3E46A2-756B-4FF5-92FB-03B3D18BB9F3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2606040" cy="1783080"/>
          </a:xfrm>
          <a:prstGeom prst="roundRect">
            <a:avLst>
              <a:gd name="adj" fmla="val 12000"/>
            </a:avLst>
          </a:prstGeom>
          <a:solidFill>
            <a:srgbClr val="E6F2E7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2" name="Google Shape;182;p21">
            <a:extLst>
              <a:ext uri="{FF2B5EF4-FFF2-40B4-BE49-F238E27FC236}">
                <a16:creationId xmlns:a16="http://schemas.microsoft.com/office/drawing/2014/main" id="{1345927D-77D1-482D-90CD-55BE172DFAB1}"/>
              </a:ext>
            </a:extLst>
          </p:cNvPr>
          <p:cNvSpPr>
            <a:spLocks noGrp="1"/>
          </p:cNvSpPr>
          <p:nvPr/>
        </p:nvSpPr>
        <p:spPr>
          <a:xfrm>
            <a:off x="685800" y="180136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sz="22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</a:rPr>
              <a:t>G1</a:t>
            </a:r>
            <a:endParaRPr/>
          </a:p>
        </p:txBody>
      </p:sp>
      <p:sp>
        <p:nvSpPr>
          <p:cNvPr id="183" name="Google Shape;183;p21">
            <a:extLst>
              <a:ext uri="{FF2B5EF4-FFF2-40B4-BE49-F238E27FC236}">
                <a16:creationId xmlns:a16="http://schemas.microsoft.com/office/drawing/2014/main" id="{760FDC37-04D2-4831-BEDA-F573FABEAAF7}"/>
              </a:ext>
            </a:extLst>
          </p:cNvPr>
          <p:cNvSpPr>
            <a:spLocks noGrp="1"/>
          </p:cNvSpPr>
          <p:nvPr/>
        </p:nvSpPr>
        <p:spPr>
          <a:xfrm>
            <a:off x="685800" y="2258568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19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Người con lo chính</a:t>
            </a:r>
            <a:endParaRPr/>
          </a:p>
        </p:txBody>
      </p:sp>
      <p:sp>
        <p:nvSpPr>
          <p:cNvPr id="184" name="Google Shape;184;p21">
            <a:extLst>
              <a:ext uri="{FF2B5EF4-FFF2-40B4-BE49-F238E27FC236}">
                <a16:creationId xmlns:a16="http://schemas.microsoft.com/office/drawing/2014/main" id="{2B672839-84BB-4F0E-8068-F192E4E337D1}"/>
              </a:ext>
            </a:extLst>
          </p:cNvPr>
          <p:cNvSpPr>
            <a:spLocks noGrp="1"/>
          </p:cNvSpPr>
          <p:nvPr/>
        </p:nvSpPr>
        <p:spPr>
          <a:xfrm>
            <a:off x="685800" y="2990088"/>
            <a:ext cx="1417320" cy="347472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>
            <a:noFill/>
          </a:ln>
        </p:spPr>
        <p:txBody>
          <a:bodyPr spcFirstLastPara="1" wrap="square" lIns="18275" tIns="18275" rIns="18275" bIns="18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Củng cố</a:t>
            </a:r>
            <a:endParaRPr/>
          </a:p>
        </p:txBody>
      </p:sp>
      <p:sp>
        <p:nvSpPr>
          <p:cNvPr id="185" name="Google Shape;185;p21">
            <a:extLst>
              <a:ext uri="{FF2B5EF4-FFF2-40B4-BE49-F238E27FC236}">
                <a16:creationId xmlns:a16="http://schemas.microsoft.com/office/drawing/2014/main" id="{270C6F85-392C-4B37-AEE5-22A8C3EB74C4}"/>
              </a:ext>
            </a:extLst>
          </p:cNvPr>
          <p:cNvSpPr>
            <a:spLocks noGrp="1"/>
          </p:cNvSpPr>
          <p:nvPr/>
        </p:nvSpPr>
        <p:spPr>
          <a:xfrm>
            <a:off x="3355848" y="1691640"/>
            <a:ext cx="2606040" cy="1783080"/>
          </a:xfrm>
          <a:prstGeom prst="roundRect">
            <a:avLst>
              <a:gd name="adj" fmla="val 12000"/>
            </a:avLst>
          </a:prstGeom>
          <a:solidFill>
            <a:srgbClr val="E6F2E7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6" name="Google Shape;186;p21">
            <a:extLst>
              <a:ext uri="{FF2B5EF4-FFF2-40B4-BE49-F238E27FC236}">
                <a16:creationId xmlns:a16="http://schemas.microsoft.com/office/drawing/2014/main" id="{360BEAB3-7359-4A92-8AFE-533ADFFFED55}"/>
              </a:ext>
            </a:extLst>
          </p:cNvPr>
          <p:cNvSpPr>
            <a:spLocks noGrp="1"/>
          </p:cNvSpPr>
          <p:nvPr/>
        </p:nvSpPr>
        <p:spPr>
          <a:xfrm>
            <a:off x="3493008" y="180136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sz="22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</a:rPr>
              <a:t>G2</a:t>
            </a:r>
            <a:endParaRPr/>
          </a:p>
        </p:txBody>
      </p:sp>
      <p:sp>
        <p:nvSpPr>
          <p:cNvPr id="187" name="Google Shape;187;p21">
            <a:extLst>
              <a:ext uri="{FF2B5EF4-FFF2-40B4-BE49-F238E27FC236}">
                <a16:creationId xmlns:a16="http://schemas.microsoft.com/office/drawing/2014/main" id="{DE3E9FD1-0682-4275-BDBB-CB670FC1C5B6}"/>
              </a:ext>
            </a:extLst>
          </p:cNvPr>
          <p:cNvSpPr>
            <a:spLocks noGrp="1"/>
          </p:cNvSpPr>
          <p:nvPr/>
        </p:nvSpPr>
        <p:spPr>
          <a:xfrm>
            <a:off x="3493008" y="2258568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19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Không ai ghi chép</a:t>
            </a:r>
            <a:endParaRPr/>
          </a:p>
        </p:txBody>
      </p:sp>
      <p:sp>
        <p:nvSpPr>
          <p:cNvPr id="188" name="Google Shape;188;p21">
            <a:extLst>
              <a:ext uri="{FF2B5EF4-FFF2-40B4-BE49-F238E27FC236}">
                <a16:creationId xmlns:a16="http://schemas.microsoft.com/office/drawing/2014/main" id="{610DCF16-829F-472C-8331-7D4EDC7FDC13}"/>
              </a:ext>
            </a:extLst>
          </p:cNvPr>
          <p:cNvSpPr>
            <a:spLocks noGrp="1"/>
          </p:cNvSpPr>
          <p:nvPr/>
        </p:nvSpPr>
        <p:spPr>
          <a:xfrm>
            <a:off x="3493008" y="2990088"/>
            <a:ext cx="1417320" cy="347472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>
            <a:noFill/>
          </a:ln>
        </p:spPr>
        <p:txBody>
          <a:bodyPr spcFirstLastPara="1" wrap="square" lIns="18275" tIns="18275" rIns="18275" bIns="18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Củng cố</a:t>
            </a:r>
            <a:endParaRPr/>
          </a:p>
        </p:txBody>
      </p:sp>
      <p:sp>
        <p:nvSpPr>
          <p:cNvPr id="189" name="Google Shape;189;p21">
            <a:extLst>
              <a:ext uri="{FF2B5EF4-FFF2-40B4-BE49-F238E27FC236}">
                <a16:creationId xmlns:a16="http://schemas.microsoft.com/office/drawing/2014/main" id="{CCFAE787-D67B-421E-BFAC-7F9CE2680B9D}"/>
              </a:ext>
            </a:extLst>
          </p:cNvPr>
          <p:cNvSpPr>
            <a:spLocks noGrp="1"/>
          </p:cNvSpPr>
          <p:nvPr/>
        </p:nvSpPr>
        <p:spPr>
          <a:xfrm>
            <a:off x="6163055" y="1691640"/>
            <a:ext cx="2606040" cy="1783080"/>
          </a:xfrm>
          <a:prstGeom prst="roundRect">
            <a:avLst>
              <a:gd name="adj" fmla="val 12000"/>
            </a:avLst>
          </a:prstGeom>
          <a:solidFill>
            <a:srgbClr val="E6F2E7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" name="Google Shape;190;p21">
            <a:extLst>
              <a:ext uri="{FF2B5EF4-FFF2-40B4-BE49-F238E27FC236}">
                <a16:creationId xmlns:a16="http://schemas.microsoft.com/office/drawing/2014/main" id="{862242FC-2A7D-423D-AC3E-2D5AF95DC003}"/>
              </a:ext>
            </a:extLst>
          </p:cNvPr>
          <p:cNvSpPr>
            <a:spLocks noGrp="1"/>
          </p:cNvSpPr>
          <p:nvPr/>
        </p:nvSpPr>
        <p:spPr>
          <a:xfrm>
            <a:off x="6300216" y="180136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sz="22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</a:rPr>
              <a:t>G3</a:t>
            </a:r>
            <a:endParaRPr/>
          </a:p>
        </p:txBody>
      </p:sp>
      <p:sp>
        <p:nvSpPr>
          <p:cNvPr id="191" name="Google Shape;191;p21">
            <a:extLst>
              <a:ext uri="{FF2B5EF4-FFF2-40B4-BE49-F238E27FC236}">
                <a16:creationId xmlns:a16="http://schemas.microsoft.com/office/drawing/2014/main" id="{C34FE39F-51B4-405C-A460-BA3D0F5D8086}"/>
              </a:ext>
            </a:extLst>
          </p:cNvPr>
          <p:cNvSpPr>
            <a:spLocks noGrp="1"/>
          </p:cNvSpPr>
          <p:nvPr/>
        </p:nvSpPr>
        <p:spPr>
          <a:xfrm>
            <a:off x="6300216" y="2258568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19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Bệnh nhân hay quên</a:t>
            </a:r>
            <a:endParaRPr/>
          </a:p>
        </p:txBody>
      </p:sp>
      <p:sp>
        <p:nvSpPr>
          <p:cNvPr id="192" name="Google Shape;192;p21">
            <a:extLst>
              <a:ext uri="{FF2B5EF4-FFF2-40B4-BE49-F238E27FC236}">
                <a16:creationId xmlns:a16="http://schemas.microsoft.com/office/drawing/2014/main" id="{34ADA550-640C-48E6-B195-8D9D5A27434D}"/>
              </a:ext>
            </a:extLst>
          </p:cNvPr>
          <p:cNvSpPr>
            <a:spLocks noGrp="1"/>
          </p:cNvSpPr>
          <p:nvPr/>
        </p:nvSpPr>
        <p:spPr>
          <a:xfrm>
            <a:off x="6300216" y="2990088"/>
            <a:ext cx="1417320" cy="347472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>
            <a:noFill/>
          </a:ln>
        </p:spPr>
        <p:txBody>
          <a:bodyPr spcFirstLastPara="1" wrap="square" lIns="18275" tIns="18275" rIns="18275" bIns="18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Củng cố</a:t>
            </a:r>
            <a:endParaRPr/>
          </a:p>
        </p:txBody>
      </p:sp>
      <p:sp>
        <p:nvSpPr>
          <p:cNvPr id="193" name="Google Shape;193;p21">
            <a:extLst>
              <a:ext uri="{FF2B5EF4-FFF2-40B4-BE49-F238E27FC236}">
                <a16:creationId xmlns:a16="http://schemas.microsoft.com/office/drawing/2014/main" id="{71C50C21-AD31-45BC-A78E-50A10F97ED77}"/>
              </a:ext>
            </a:extLst>
          </p:cNvPr>
          <p:cNvSpPr>
            <a:spLocks noGrp="1"/>
          </p:cNvSpPr>
          <p:nvPr/>
        </p:nvSpPr>
        <p:spPr>
          <a:xfrm>
            <a:off x="8970263" y="1691640"/>
            <a:ext cx="2606040" cy="1783080"/>
          </a:xfrm>
          <a:prstGeom prst="roundRect">
            <a:avLst>
              <a:gd name="adj" fmla="val 12000"/>
            </a:avLst>
          </a:prstGeom>
          <a:solidFill>
            <a:srgbClr val="FFF1D6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" name="Google Shape;194;p21">
            <a:extLst>
              <a:ext uri="{FF2B5EF4-FFF2-40B4-BE49-F238E27FC236}">
                <a16:creationId xmlns:a16="http://schemas.microsoft.com/office/drawing/2014/main" id="{F1B4D1D4-A765-4FEC-8CE0-32B568857350}"/>
              </a:ext>
            </a:extLst>
          </p:cNvPr>
          <p:cNvSpPr>
            <a:spLocks noGrp="1"/>
          </p:cNvSpPr>
          <p:nvPr/>
        </p:nvSpPr>
        <p:spPr>
          <a:xfrm>
            <a:off x="9107424" y="180136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sz="2200" b="1" i="0" u="none" strike="noStrike" cap="none">
                <a:solidFill>
                  <a:srgbClr val="B26A00"/>
                </a:solidFill>
                <a:latin typeface="Arial"/>
                <a:ea typeface="Arial"/>
                <a:cs typeface="Arial"/>
              </a:rPr>
              <a:t>G4</a:t>
            </a:r>
            <a:endParaRPr/>
          </a:p>
        </p:txBody>
      </p:sp>
      <p:sp>
        <p:nvSpPr>
          <p:cNvPr id="195" name="Google Shape;195;p21">
            <a:extLst>
              <a:ext uri="{FF2B5EF4-FFF2-40B4-BE49-F238E27FC236}">
                <a16:creationId xmlns:a16="http://schemas.microsoft.com/office/drawing/2014/main" id="{8EC86BFD-E935-47FC-9321-849232D79252}"/>
              </a:ext>
            </a:extLst>
          </p:cNvPr>
          <p:cNvSpPr>
            <a:spLocks noGrp="1"/>
          </p:cNvSpPr>
          <p:nvPr/>
        </p:nvSpPr>
        <p:spPr>
          <a:xfrm>
            <a:off x="9107424" y="2258568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19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Nghe nhắc, bấm được</a:t>
            </a:r>
            <a:endParaRPr/>
          </a:p>
        </p:txBody>
      </p:sp>
      <p:sp>
        <p:nvSpPr>
          <p:cNvPr id="196" name="Google Shape;196;p21">
            <a:extLst>
              <a:ext uri="{FF2B5EF4-FFF2-40B4-BE49-F238E27FC236}">
                <a16:creationId xmlns:a16="http://schemas.microsoft.com/office/drawing/2014/main" id="{BDFAF9AF-A7BD-4C1C-AB3A-B38BEFA82346}"/>
              </a:ext>
            </a:extLst>
          </p:cNvPr>
          <p:cNvSpPr>
            <a:spLocks noGrp="1"/>
          </p:cNvSpPr>
          <p:nvPr/>
        </p:nvSpPr>
        <p:spPr>
          <a:xfrm>
            <a:off x="9107424" y="2990088"/>
            <a:ext cx="1417320" cy="347472"/>
          </a:xfrm>
          <a:prstGeom prst="roundRect">
            <a:avLst>
              <a:gd name="adj" fmla="val 25000"/>
            </a:avLst>
          </a:prstGeom>
          <a:solidFill>
            <a:srgbClr val="B26A00"/>
          </a:solidFill>
          <a:ln>
            <a:noFill/>
          </a:ln>
        </p:spPr>
        <p:txBody>
          <a:bodyPr spcFirstLastPara="1" wrap="square" lIns="18275" tIns="18275" rIns="18275" bIns="18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Một phần</a:t>
            </a:r>
            <a:endParaRPr/>
          </a:p>
        </p:txBody>
      </p:sp>
      <p:sp>
        <p:nvSpPr>
          <p:cNvPr id="197" name="Google Shape;197;p21">
            <a:extLst>
              <a:ext uri="{FF2B5EF4-FFF2-40B4-BE49-F238E27FC236}">
                <a16:creationId xmlns:a16="http://schemas.microsoft.com/office/drawing/2014/main" id="{E71048E3-02A1-4F10-883A-294ED816C397}"/>
              </a:ext>
            </a:extLst>
          </p:cNvPr>
          <p:cNvSpPr>
            <a:spLocks noGrp="1"/>
          </p:cNvSpPr>
          <p:nvPr/>
        </p:nvSpPr>
        <p:spPr>
          <a:xfrm>
            <a:off x="1952243" y="3703320"/>
            <a:ext cx="2606040" cy="1783080"/>
          </a:xfrm>
          <a:prstGeom prst="roundRect">
            <a:avLst>
              <a:gd name="adj" fmla="val 12000"/>
            </a:avLst>
          </a:prstGeom>
          <a:solidFill>
            <a:srgbClr val="ECEFF3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8" name="Google Shape;198;p21">
            <a:extLst>
              <a:ext uri="{FF2B5EF4-FFF2-40B4-BE49-F238E27FC236}">
                <a16:creationId xmlns:a16="http://schemas.microsoft.com/office/drawing/2014/main" id="{BC5639C5-63CB-44F0-8107-CAEF6CEF0070}"/>
              </a:ext>
            </a:extLst>
          </p:cNvPr>
          <p:cNvSpPr>
            <a:spLocks noGrp="1"/>
          </p:cNvSpPr>
          <p:nvPr/>
        </p:nvSpPr>
        <p:spPr>
          <a:xfrm>
            <a:off x="2089403" y="381304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sz="2200" b="1" i="0" u="none" strike="noStrike" cap="none">
                <a:solidFill>
                  <a:srgbClr val="5F6B7A"/>
                </a:solidFill>
                <a:latin typeface="Arial"/>
                <a:ea typeface="Arial"/>
                <a:cs typeface="Arial"/>
              </a:rPr>
              <a:t>G5</a:t>
            </a:r>
            <a:endParaRPr/>
          </a:p>
        </p:txBody>
      </p:sp>
      <p:sp>
        <p:nvSpPr>
          <p:cNvPr id="199" name="Google Shape;199;p21">
            <a:extLst>
              <a:ext uri="{FF2B5EF4-FFF2-40B4-BE49-F238E27FC236}">
                <a16:creationId xmlns:a16="http://schemas.microsoft.com/office/drawing/2014/main" id="{A0A7CE15-1EDE-4DE3-8F42-B33A98C68BDA}"/>
              </a:ext>
            </a:extLst>
          </p:cNvPr>
          <p:cNvSpPr>
            <a:spLocks noGrp="1"/>
          </p:cNvSpPr>
          <p:nvPr/>
        </p:nvSpPr>
        <p:spPr>
          <a:xfrm>
            <a:off x="2089403" y="4270248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19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Chấp nhận bị theo dõi</a:t>
            </a:r>
            <a:endParaRPr/>
          </a:p>
        </p:txBody>
      </p:sp>
      <p:sp>
        <p:nvSpPr>
          <p:cNvPr id="200" name="Google Shape;200;p21">
            <a:extLst>
              <a:ext uri="{FF2B5EF4-FFF2-40B4-BE49-F238E27FC236}">
                <a16:creationId xmlns:a16="http://schemas.microsoft.com/office/drawing/2014/main" id="{667AE785-2EFF-48BF-8319-FE448408C512}"/>
              </a:ext>
            </a:extLst>
          </p:cNvPr>
          <p:cNvSpPr>
            <a:spLocks noGrp="1"/>
          </p:cNvSpPr>
          <p:nvPr/>
        </p:nvSpPr>
        <p:spPr>
          <a:xfrm>
            <a:off x="2089403" y="5001768"/>
            <a:ext cx="1417320" cy="347472"/>
          </a:xfrm>
          <a:prstGeom prst="roundRect">
            <a:avLst>
              <a:gd name="adj" fmla="val 25000"/>
            </a:avLst>
          </a:prstGeom>
          <a:solidFill>
            <a:srgbClr val="5F6B7A"/>
          </a:solidFill>
          <a:ln>
            <a:noFill/>
          </a:ln>
        </p:spPr>
        <p:txBody>
          <a:bodyPr spcFirstLastPara="1" wrap="square" lIns="18275" tIns="18275" rIns="18275" bIns="18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Chưa rõ</a:t>
            </a:r>
            <a:endParaRPr/>
          </a:p>
        </p:txBody>
      </p:sp>
      <p:sp>
        <p:nvSpPr>
          <p:cNvPr id="201" name="Google Shape;201;p21">
            <a:extLst>
              <a:ext uri="{FF2B5EF4-FFF2-40B4-BE49-F238E27FC236}">
                <a16:creationId xmlns:a16="http://schemas.microsoft.com/office/drawing/2014/main" id="{7825B59D-E498-4C0F-84E0-C9BDF06DB6DD}"/>
              </a:ext>
            </a:extLst>
          </p:cNvPr>
          <p:cNvSpPr>
            <a:spLocks noGrp="1"/>
          </p:cNvSpPr>
          <p:nvPr/>
        </p:nvSpPr>
        <p:spPr>
          <a:xfrm>
            <a:off x="4759452" y="3703320"/>
            <a:ext cx="2606040" cy="1783080"/>
          </a:xfrm>
          <a:prstGeom prst="roundRect">
            <a:avLst>
              <a:gd name="adj" fmla="val 12000"/>
            </a:avLst>
          </a:prstGeom>
          <a:solidFill>
            <a:srgbClr val="E4EEF8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2" name="Google Shape;202;p21">
            <a:extLst>
              <a:ext uri="{FF2B5EF4-FFF2-40B4-BE49-F238E27FC236}">
                <a16:creationId xmlns:a16="http://schemas.microsoft.com/office/drawing/2014/main" id="{7F122869-14EB-4886-8985-918FD9051E5E}"/>
              </a:ext>
            </a:extLst>
          </p:cNvPr>
          <p:cNvSpPr>
            <a:spLocks noGrp="1"/>
          </p:cNvSpPr>
          <p:nvPr/>
        </p:nvSpPr>
        <p:spPr>
          <a:xfrm>
            <a:off x="4896612" y="381304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sz="2200" b="1" i="0" u="none" strike="noStrike" cap="none">
                <a:solidFill>
                  <a:srgbClr val="1F5A96"/>
                </a:solidFill>
                <a:latin typeface="Arial"/>
                <a:ea typeface="Arial"/>
                <a:cs typeface="Arial"/>
              </a:rPr>
              <a:t>G6</a:t>
            </a:r>
            <a:endParaRPr/>
          </a:p>
        </p:txBody>
      </p:sp>
      <p:sp>
        <p:nvSpPr>
          <p:cNvPr id="203" name="Google Shape;203;p21">
            <a:extLst>
              <a:ext uri="{FF2B5EF4-FFF2-40B4-BE49-F238E27FC236}">
                <a16:creationId xmlns:a16="http://schemas.microsoft.com/office/drawing/2014/main" id="{D6B8B91E-9356-4779-B0A2-8CC8A625986E}"/>
              </a:ext>
            </a:extLst>
          </p:cNvPr>
          <p:cNvSpPr>
            <a:spLocks noGrp="1"/>
          </p:cNvSpPr>
          <p:nvPr/>
        </p:nvSpPr>
        <p:spPr>
          <a:xfrm>
            <a:off x="4896612" y="4270248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19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Tiếp cận được đơn</a:t>
            </a:r>
            <a:endParaRPr/>
          </a:p>
        </p:txBody>
      </p:sp>
      <p:sp>
        <p:nvSpPr>
          <p:cNvPr id="204" name="Google Shape;204;p21">
            <a:extLst>
              <a:ext uri="{FF2B5EF4-FFF2-40B4-BE49-F238E27FC236}">
                <a16:creationId xmlns:a16="http://schemas.microsoft.com/office/drawing/2014/main" id="{50D648A2-9A43-435B-99D9-EEDD33EA53C0}"/>
              </a:ext>
            </a:extLst>
          </p:cNvPr>
          <p:cNvSpPr>
            <a:spLocks noGrp="1"/>
          </p:cNvSpPr>
          <p:nvPr/>
        </p:nvSpPr>
        <p:spPr>
          <a:xfrm>
            <a:off x="4896612" y="5001768"/>
            <a:ext cx="1417320" cy="347472"/>
          </a:xfrm>
          <a:prstGeom prst="roundRect">
            <a:avLst>
              <a:gd name="adj" fmla="val 25000"/>
            </a:avLst>
          </a:prstGeom>
          <a:solidFill>
            <a:srgbClr val="1F5A96"/>
          </a:solidFill>
          <a:ln>
            <a:noFill/>
          </a:ln>
        </p:spPr>
        <p:txBody>
          <a:bodyPr spcFirstLastPara="1" wrap="square" lIns="18275" tIns="18275" rIns="18275" bIns="18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Thay đổi</a:t>
            </a:r>
            <a:endParaRPr/>
          </a:p>
        </p:txBody>
      </p:sp>
      <p:sp>
        <p:nvSpPr>
          <p:cNvPr id="205" name="Google Shape;205;p21">
            <a:extLst>
              <a:ext uri="{FF2B5EF4-FFF2-40B4-BE49-F238E27FC236}">
                <a16:creationId xmlns:a16="http://schemas.microsoft.com/office/drawing/2014/main" id="{E6215D79-AA10-4D23-B7F6-1C7CB8AD9206}"/>
              </a:ext>
            </a:extLst>
          </p:cNvPr>
          <p:cNvSpPr>
            <a:spLocks noGrp="1"/>
          </p:cNvSpPr>
          <p:nvPr/>
        </p:nvSpPr>
        <p:spPr>
          <a:xfrm>
            <a:off x="7566659" y="3703320"/>
            <a:ext cx="2606040" cy="1783080"/>
          </a:xfrm>
          <a:prstGeom prst="roundRect">
            <a:avLst>
              <a:gd name="adj" fmla="val 12000"/>
            </a:avLst>
          </a:prstGeom>
          <a:solidFill>
            <a:srgbClr val="ECEFF3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6" name="Google Shape;206;p21">
            <a:extLst>
              <a:ext uri="{FF2B5EF4-FFF2-40B4-BE49-F238E27FC236}">
                <a16:creationId xmlns:a16="http://schemas.microsoft.com/office/drawing/2014/main" id="{89148C5F-A45E-4B12-A0F1-A5A0CE714041}"/>
              </a:ext>
            </a:extLst>
          </p:cNvPr>
          <p:cNvSpPr>
            <a:spLocks noGrp="1"/>
          </p:cNvSpPr>
          <p:nvPr/>
        </p:nvSpPr>
        <p:spPr>
          <a:xfrm>
            <a:off x="7703819" y="381304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sz="2200" b="1" i="0" u="none" strike="noStrike" cap="none">
                <a:solidFill>
                  <a:srgbClr val="5F6B7A"/>
                </a:solidFill>
                <a:latin typeface="Arial"/>
                <a:ea typeface="Arial"/>
                <a:cs typeface="Arial"/>
              </a:rPr>
              <a:t>G7</a:t>
            </a:r>
            <a:endParaRPr/>
          </a:p>
        </p:txBody>
      </p:sp>
      <p:sp>
        <p:nvSpPr>
          <p:cNvPr id="207" name="Google Shape;207;p21">
            <a:extLst>
              <a:ext uri="{FF2B5EF4-FFF2-40B4-BE49-F238E27FC236}">
                <a16:creationId xmlns:a16="http://schemas.microsoft.com/office/drawing/2014/main" id="{C95138CB-A1E2-4286-9E5E-F6F34B0C10E6}"/>
              </a:ext>
            </a:extLst>
          </p:cNvPr>
          <p:cNvSpPr>
            <a:spLocks noGrp="1"/>
          </p:cNvSpPr>
          <p:nvPr/>
        </p:nvSpPr>
        <p:spPr>
          <a:xfrm>
            <a:off x="7703819" y="4270248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19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Bác sĩ dùng báo cáo</a:t>
            </a:r>
            <a:endParaRPr/>
          </a:p>
        </p:txBody>
      </p:sp>
      <p:sp>
        <p:nvSpPr>
          <p:cNvPr id="208" name="Google Shape;208;p21">
            <a:extLst>
              <a:ext uri="{FF2B5EF4-FFF2-40B4-BE49-F238E27FC236}">
                <a16:creationId xmlns:a16="http://schemas.microsoft.com/office/drawing/2014/main" id="{C69E99E8-09C9-4454-A0BA-2165BF9C1EEA}"/>
              </a:ext>
            </a:extLst>
          </p:cNvPr>
          <p:cNvSpPr>
            <a:spLocks noGrp="1"/>
          </p:cNvSpPr>
          <p:nvPr/>
        </p:nvSpPr>
        <p:spPr>
          <a:xfrm>
            <a:off x="7703819" y="5001768"/>
            <a:ext cx="1417320" cy="347472"/>
          </a:xfrm>
          <a:prstGeom prst="roundRect">
            <a:avLst>
              <a:gd name="adj" fmla="val 25000"/>
            </a:avLst>
          </a:prstGeom>
          <a:solidFill>
            <a:srgbClr val="5F6B7A"/>
          </a:solidFill>
          <a:ln>
            <a:noFill/>
          </a:ln>
        </p:spPr>
        <p:txBody>
          <a:bodyPr spcFirstLastPara="1" wrap="square" lIns="18275" tIns="18275" rIns="18275" bIns="18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Chưa rõ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2411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>
            <a:extLst>
              <a:ext uri="{FF2B5EF4-FFF2-40B4-BE49-F238E27FC236}">
                <a16:creationId xmlns:a16="http://schemas.microsoft.com/office/drawing/2014/main" id="{FC265514-C7ED-4828-AB2E-C022C5B3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2. Cập nhật bài toán</a:t>
            </a:r>
            <a:endParaRPr/>
          </a:p>
        </p:txBody>
      </p:sp>
      <p:sp>
        <p:nvSpPr>
          <p:cNvPr id="215" name="Google Shape;215;p22">
            <a:extLst>
              <a:ext uri="{FF2B5EF4-FFF2-40B4-BE49-F238E27FC236}">
                <a16:creationId xmlns:a16="http://schemas.microsoft.com/office/drawing/2014/main" id="{48BF53D6-412D-4AAB-AB08-B439261AB5F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8</a:t>
            </a:r>
            <a:endParaRPr/>
          </a:p>
        </p:txBody>
      </p:sp>
      <p:sp>
        <p:nvSpPr>
          <p:cNvPr id="216" name="Google Shape;216;p22">
            <a:extLst>
              <a:ext uri="{FF2B5EF4-FFF2-40B4-BE49-F238E27FC236}">
                <a16:creationId xmlns:a16="http://schemas.microsoft.com/office/drawing/2014/main" id="{7D34D5F5-EBA6-4AD7-96EF-37CC459FE465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Bảy vấn đề hệ thống cần giải quyết</a:t>
            </a:r>
            <a:endParaRPr/>
          </a:p>
        </p:txBody>
      </p:sp>
      <p:sp>
        <p:nvSpPr>
          <p:cNvPr id="217" name="Google Shape;217;p22">
            <a:extLst>
              <a:ext uri="{FF2B5EF4-FFF2-40B4-BE49-F238E27FC236}">
                <a16:creationId xmlns:a16="http://schemas.microsoft.com/office/drawing/2014/main" id="{E2270034-F115-46ED-9F85-8477A542F6EB}"/>
              </a:ext>
            </a:extLst>
          </p:cNvPr>
          <p:cNvSpPr>
            <a:spLocks noGrp="1"/>
          </p:cNvSpPr>
          <p:nvPr/>
        </p:nvSpPr>
        <p:spPr>
          <a:xfrm>
            <a:off x="548640" y="164592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P1</a:t>
            </a:r>
            <a:endParaRPr/>
          </a:p>
        </p:txBody>
      </p:sp>
      <p:sp>
        <p:nvSpPr>
          <p:cNvPr id="218" name="Google Shape;218;p22">
            <a:extLst>
              <a:ext uri="{FF2B5EF4-FFF2-40B4-BE49-F238E27FC236}">
                <a16:creationId xmlns:a16="http://schemas.microsoft.com/office/drawing/2014/main" id="{FC0BE9F7-2B30-44F5-9A02-00091334C48F}"/>
              </a:ext>
            </a:extLst>
          </p:cNvPr>
          <p:cNvSpPr>
            <a:spLocks noGrp="1"/>
          </p:cNvSpPr>
          <p:nvPr/>
        </p:nvSpPr>
        <p:spPr>
          <a:xfrm>
            <a:off x="1508760" y="1645920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sz="23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Không ghi nhận việc uống thu</a:t>
            </a:r>
            <a:r>
              <a:rPr sz="2300">
                <a:solidFill>
                  <a:srgbClr val="1F1F1F"/>
                </a:solidFill>
              </a:rPr>
              <a:t>ốc</a:t>
            </a:r>
            <a:endParaRPr/>
          </a:p>
        </p:txBody>
      </p:sp>
      <p:sp>
        <p:nvSpPr>
          <p:cNvPr id="219" name="Google Shape;219;p22">
            <a:extLst>
              <a:ext uri="{FF2B5EF4-FFF2-40B4-BE49-F238E27FC236}">
                <a16:creationId xmlns:a16="http://schemas.microsoft.com/office/drawing/2014/main" id="{6EF5E9BB-9F9D-4008-8FCB-31636F99EAEC}"/>
              </a:ext>
            </a:extLst>
          </p:cNvPr>
          <p:cNvSpPr>
            <a:spLocks noGrp="1"/>
          </p:cNvSpPr>
          <p:nvPr/>
        </p:nvSpPr>
        <p:spPr>
          <a:xfrm>
            <a:off x="548640" y="2670048"/>
            <a:ext cx="777300" cy="7773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P2</a:t>
            </a:r>
            <a:endParaRPr/>
          </a:p>
        </p:txBody>
      </p:sp>
      <p:sp>
        <p:nvSpPr>
          <p:cNvPr id="220" name="Google Shape;220;p22">
            <a:extLst>
              <a:ext uri="{FF2B5EF4-FFF2-40B4-BE49-F238E27FC236}">
                <a16:creationId xmlns:a16="http://schemas.microsoft.com/office/drawing/2014/main" id="{6CB6AAF7-442D-4AB4-AA3A-EEDB0A2E6659}"/>
              </a:ext>
            </a:extLst>
          </p:cNvPr>
          <p:cNvSpPr>
            <a:spLocks noGrp="1"/>
          </p:cNvSpPr>
          <p:nvPr/>
        </p:nvSpPr>
        <p:spPr>
          <a:xfrm>
            <a:off x="1508760" y="2670048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sz="23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Quên liều, uống trùng thu</a:t>
            </a:r>
            <a:r>
              <a:rPr sz="2300">
                <a:solidFill>
                  <a:srgbClr val="1F1F1F"/>
                </a:solidFill>
              </a:rPr>
              <a:t>ốc</a:t>
            </a:r>
            <a:endParaRPr/>
          </a:p>
        </p:txBody>
      </p:sp>
      <p:sp>
        <p:nvSpPr>
          <p:cNvPr id="221" name="Google Shape;221;p22">
            <a:extLst>
              <a:ext uri="{FF2B5EF4-FFF2-40B4-BE49-F238E27FC236}">
                <a16:creationId xmlns:a16="http://schemas.microsoft.com/office/drawing/2014/main" id="{D35B6AA5-0A58-43C3-8E7E-D2ED28142B33}"/>
              </a:ext>
            </a:extLst>
          </p:cNvPr>
          <p:cNvSpPr>
            <a:spLocks noGrp="1"/>
          </p:cNvSpPr>
          <p:nvPr/>
        </p:nvSpPr>
        <p:spPr>
          <a:xfrm>
            <a:off x="1508760" y="3694176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sz="2300" i="0" u="none" strike="noStrike" cap="none">
                <a:solidFill>
                  <a:srgbClr val="1F1F1F"/>
                </a:solidFill>
              </a:rPr>
              <a:t>Tên biệt dược hay đổi</a:t>
            </a:r>
            <a:endParaRPr/>
          </a:p>
        </p:txBody>
      </p:sp>
      <p:sp>
        <p:nvSpPr>
          <p:cNvPr id="222" name="Google Shape;222;p22">
            <a:extLst>
              <a:ext uri="{FF2B5EF4-FFF2-40B4-BE49-F238E27FC236}">
                <a16:creationId xmlns:a16="http://schemas.microsoft.com/office/drawing/2014/main" id="{1F3934A2-7006-4C71-8A67-00C8CC1E39CC}"/>
              </a:ext>
            </a:extLst>
          </p:cNvPr>
          <p:cNvSpPr>
            <a:spLocks noGrp="1"/>
          </p:cNvSpPr>
          <p:nvPr/>
        </p:nvSpPr>
        <p:spPr>
          <a:xfrm>
            <a:off x="548640" y="4718304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P4</a:t>
            </a:r>
            <a:endParaRPr/>
          </a:p>
        </p:txBody>
      </p:sp>
      <p:sp>
        <p:nvSpPr>
          <p:cNvPr id="223" name="Google Shape;223;p22">
            <a:extLst>
              <a:ext uri="{FF2B5EF4-FFF2-40B4-BE49-F238E27FC236}">
                <a16:creationId xmlns:a16="http://schemas.microsoft.com/office/drawing/2014/main" id="{241903A3-5B0D-483C-938D-125AB24E6BCF}"/>
              </a:ext>
            </a:extLst>
          </p:cNvPr>
          <p:cNvSpPr>
            <a:spLocks noGrp="1"/>
          </p:cNvSpPr>
          <p:nvPr/>
        </p:nvSpPr>
        <p:spPr>
          <a:xfrm>
            <a:off x="1508760" y="4718304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sz="23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Con ở xa phải gọi hỏi</a:t>
            </a:r>
            <a:endParaRPr/>
          </a:p>
        </p:txBody>
      </p:sp>
      <p:sp>
        <p:nvSpPr>
          <p:cNvPr id="224" name="Google Shape;224;p22">
            <a:extLst>
              <a:ext uri="{FF2B5EF4-FFF2-40B4-BE49-F238E27FC236}">
                <a16:creationId xmlns:a16="http://schemas.microsoft.com/office/drawing/2014/main" id="{A4A86483-914C-454C-B095-1AD4D4FB925F}"/>
              </a:ext>
            </a:extLst>
          </p:cNvPr>
          <p:cNvSpPr>
            <a:spLocks noGrp="1"/>
          </p:cNvSpPr>
          <p:nvPr/>
        </p:nvSpPr>
        <p:spPr>
          <a:xfrm>
            <a:off x="6217920" y="164592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P5</a:t>
            </a:r>
            <a:endParaRPr/>
          </a:p>
        </p:txBody>
      </p:sp>
      <p:sp>
        <p:nvSpPr>
          <p:cNvPr id="225" name="Google Shape;225;p22">
            <a:extLst>
              <a:ext uri="{FF2B5EF4-FFF2-40B4-BE49-F238E27FC236}">
                <a16:creationId xmlns:a16="http://schemas.microsoft.com/office/drawing/2014/main" id="{1DA098BB-EDF7-45AF-A2BE-CA2E9BDC535D}"/>
              </a:ext>
            </a:extLst>
          </p:cNvPr>
          <p:cNvSpPr>
            <a:spLocks noGrp="1"/>
          </p:cNvSpPr>
          <p:nvPr/>
        </p:nvSpPr>
        <p:spPr>
          <a:xfrm>
            <a:off x="7178040" y="1645920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sz="23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Nhiều người nhắc trùng l</a:t>
            </a:r>
            <a:r>
              <a:rPr sz="2300">
                <a:solidFill>
                  <a:srgbClr val="1F1F1F"/>
                </a:solidFill>
              </a:rPr>
              <a:t>ịch</a:t>
            </a:r>
            <a:endParaRPr/>
          </a:p>
        </p:txBody>
      </p:sp>
      <p:sp>
        <p:nvSpPr>
          <p:cNvPr id="226" name="Google Shape;226;p22">
            <a:extLst>
              <a:ext uri="{FF2B5EF4-FFF2-40B4-BE49-F238E27FC236}">
                <a16:creationId xmlns:a16="http://schemas.microsoft.com/office/drawing/2014/main" id="{1505641B-FB6C-4BCB-A9C9-A29D831F25BC}"/>
              </a:ext>
            </a:extLst>
          </p:cNvPr>
          <p:cNvSpPr>
            <a:spLocks noGrp="1"/>
          </p:cNvSpPr>
          <p:nvPr/>
        </p:nvSpPr>
        <p:spPr>
          <a:xfrm>
            <a:off x="6217920" y="2670048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P6</a:t>
            </a:r>
            <a:endParaRPr/>
          </a:p>
        </p:txBody>
      </p:sp>
      <p:sp>
        <p:nvSpPr>
          <p:cNvPr id="227" name="Google Shape;227;p22">
            <a:extLst>
              <a:ext uri="{FF2B5EF4-FFF2-40B4-BE49-F238E27FC236}">
                <a16:creationId xmlns:a16="http://schemas.microsoft.com/office/drawing/2014/main" id="{2064630F-2612-4526-A355-5B77C6F1EBEB}"/>
              </a:ext>
            </a:extLst>
          </p:cNvPr>
          <p:cNvSpPr>
            <a:spLocks noGrp="1"/>
          </p:cNvSpPr>
          <p:nvPr/>
        </p:nvSpPr>
        <p:spPr>
          <a:xfrm>
            <a:off x="7178040" y="2670048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sz="23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Bác sĩ thiếu số liệu</a:t>
            </a:r>
            <a:endParaRPr/>
          </a:p>
        </p:txBody>
      </p:sp>
      <p:sp>
        <p:nvSpPr>
          <p:cNvPr id="228" name="Google Shape;228;p22">
            <a:extLst>
              <a:ext uri="{FF2B5EF4-FFF2-40B4-BE49-F238E27FC236}">
                <a16:creationId xmlns:a16="http://schemas.microsoft.com/office/drawing/2014/main" id="{E46A8C1C-A0F9-4016-967D-C870AEE09E82}"/>
              </a:ext>
            </a:extLst>
          </p:cNvPr>
          <p:cNvSpPr>
            <a:spLocks noGrp="1"/>
          </p:cNvSpPr>
          <p:nvPr/>
        </p:nvSpPr>
        <p:spPr>
          <a:xfrm>
            <a:off x="6217920" y="3694176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P7</a:t>
            </a:r>
            <a:endParaRPr/>
          </a:p>
        </p:txBody>
      </p:sp>
      <p:sp>
        <p:nvSpPr>
          <p:cNvPr id="229" name="Google Shape;229;p22">
            <a:extLst>
              <a:ext uri="{FF2B5EF4-FFF2-40B4-BE49-F238E27FC236}">
                <a16:creationId xmlns:a16="http://schemas.microsoft.com/office/drawing/2014/main" id="{3BE27A2A-D2EB-4559-A1EF-DA0198A91BA6}"/>
              </a:ext>
            </a:extLst>
          </p:cNvPr>
          <p:cNvSpPr>
            <a:spLocks noGrp="1"/>
          </p:cNvSpPr>
          <p:nvPr/>
        </p:nvSpPr>
        <p:spPr>
          <a:xfrm>
            <a:off x="7178040" y="3694176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21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Khó thao tác, ngại giám sát</a:t>
            </a:r>
            <a:endParaRPr/>
          </a:p>
        </p:txBody>
      </p:sp>
      <p:sp>
        <p:nvSpPr>
          <p:cNvPr id="230" name="Google Shape;230;p22">
            <a:extLst>
              <a:ext uri="{FF2B5EF4-FFF2-40B4-BE49-F238E27FC236}">
                <a16:creationId xmlns:a16="http://schemas.microsoft.com/office/drawing/2014/main" id="{0DB03DBE-0371-4B69-B0D2-BB0BD84098C5}"/>
              </a:ext>
            </a:extLst>
          </p:cNvPr>
          <p:cNvSpPr>
            <a:spLocks noGrp="1"/>
          </p:cNvSpPr>
          <p:nvPr/>
        </p:nvSpPr>
        <p:spPr>
          <a:xfrm>
            <a:off x="548640" y="3694173"/>
            <a:ext cx="777300" cy="7773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</a:t>
            </a:r>
            <a:r>
              <a:rPr sz="1800" b="1">
                <a:solidFill>
                  <a:srgbClr val="FFFFFF"/>
                </a:solidFill>
              </a:rPr>
              <a:t>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32420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>
            <a:extLst>
              <a:ext uri="{FF2B5EF4-FFF2-40B4-BE49-F238E27FC236}">
                <a16:creationId xmlns:a16="http://schemas.microsoft.com/office/drawing/2014/main" id="{62E25910-550C-451C-95A3-111517093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3. User story</a:t>
            </a:r>
            <a:endParaRPr/>
          </a:p>
        </p:txBody>
      </p:sp>
      <p:sp>
        <p:nvSpPr>
          <p:cNvPr id="237" name="Google Shape;237;p23">
            <a:extLst>
              <a:ext uri="{FF2B5EF4-FFF2-40B4-BE49-F238E27FC236}">
                <a16:creationId xmlns:a16="http://schemas.microsoft.com/office/drawing/2014/main" id="{D2E2C086-2CD8-4D69-8A0F-6C5CD06BFBE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9</a:t>
            </a:r>
            <a:endParaRPr/>
          </a:p>
        </p:txBody>
      </p:sp>
      <p:sp>
        <p:nvSpPr>
          <p:cNvPr id="238" name="Google Shape;238;p23">
            <a:extLst>
              <a:ext uri="{FF2B5EF4-FFF2-40B4-BE49-F238E27FC236}">
                <a16:creationId xmlns:a16="http://schemas.microsoft.com/office/drawing/2014/main" id="{74EB63F7-F36B-4702-8788-62728A32DCC6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490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Người dùng và quyền trong hệ thống</a:t>
            </a:r>
            <a:endParaRPr/>
          </a:p>
        </p:txBody>
      </p:sp>
      <p:graphicFrame>
        <p:nvGraphicFramePr>
          <p:cNvPr id="239" name="Google Shape;239;p23">
            <a:extLst>
              <a:ext uri="{FF2B5EF4-FFF2-40B4-BE49-F238E27FC236}">
                <a16:creationId xmlns:a16="http://schemas.microsoft.com/office/drawing/2014/main" id="{D0F22F73-7F85-4D06-9DE2-6C7880038148}"/>
              </a:ext>
            </a:extLst>
          </p:cNvPr>
          <p:cNvGraphicFramePr/>
          <p:nvPr/>
        </p:nvGraphicFramePr>
        <p:xfrm>
          <a:off x="552450" y="1685925"/>
          <a:ext cx="11049000" cy="3695750"/>
        </p:xfrm>
        <a:graphic>
          <a:graphicData uri="http://schemas.openxmlformats.org/drawingml/2006/table">
            <a:tbl>
              <a:tblPr>
                <a:tableStyleId>{69164D6B-77A5-455B-8581-FB340438A784}</a:tableStyleId>
              </a:tblPr>
              <a:tblGrid>
                <a:gridCol w="352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9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sz="19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Vai trò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sz="19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Quyền chính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sz="1950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Người chăm sóc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sz="1950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Quản lý hồ sơ, nhập và xác nhận đơn, theo dõi, xuất báo cáo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sz="1950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Bệnh nhân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sz="1950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Nhận nhắc nhở và xác nhận đã uống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sz="1950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Người nhà được ủy quyền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sz="1950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Xác nhận hộ và nhận cảnh báo tại chỗ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sz="1950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Bộ lập lịch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sz="1950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Phát nhắc, phát hiện quá hạn, nhắc tái khám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7203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>
            <a:extLst>
              <a:ext uri="{FF2B5EF4-FFF2-40B4-BE49-F238E27FC236}">
                <a16:creationId xmlns:a16="http://schemas.microsoft.com/office/drawing/2014/main" id="{58848DC2-8991-404F-8DD8-E10B043F5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3. User story</a:t>
            </a:r>
            <a:endParaRPr/>
          </a:p>
        </p:txBody>
      </p:sp>
      <p:sp>
        <p:nvSpPr>
          <p:cNvPr id="246" name="Google Shape;246;p24">
            <a:extLst>
              <a:ext uri="{FF2B5EF4-FFF2-40B4-BE49-F238E27FC236}">
                <a16:creationId xmlns:a16="http://schemas.microsoft.com/office/drawing/2014/main" id="{43E7AE27-B0B6-47D0-8AA0-4DB41F26556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10</a:t>
            </a:r>
            <a:endParaRPr/>
          </a:p>
        </p:txBody>
      </p:sp>
      <p:sp>
        <p:nvSpPr>
          <p:cNvPr id="247" name="Google Shape;247;p24">
            <a:extLst>
              <a:ext uri="{FF2B5EF4-FFF2-40B4-BE49-F238E27FC236}">
                <a16:creationId xmlns:a16="http://schemas.microsoft.com/office/drawing/2014/main" id="{79DE60F2-B2E8-4857-A6B0-E25589E71761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Cấu trúc user story và tiêu chí INVEST</a:t>
            </a:r>
            <a:endParaRPr/>
          </a:p>
        </p:txBody>
      </p:sp>
      <p:sp>
        <p:nvSpPr>
          <p:cNvPr id="248" name="Google Shape;248;p24">
            <a:extLst>
              <a:ext uri="{FF2B5EF4-FFF2-40B4-BE49-F238E27FC236}">
                <a16:creationId xmlns:a16="http://schemas.microsoft.com/office/drawing/2014/main" id="{5636B908-BBE2-4538-B49A-91F046617FFF}"/>
              </a:ext>
            </a:extLst>
          </p:cNvPr>
          <p:cNvSpPr>
            <a:spLocks noGrp="1"/>
          </p:cNvSpPr>
          <p:nvPr/>
        </p:nvSpPr>
        <p:spPr>
          <a:xfrm>
            <a:off x="548640" y="1645920"/>
            <a:ext cx="3291840" cy="123444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>
            <a:noFill/>
          </a:ln>
        </p:spPr>
        <p:txBody>
          <a:bodyPr spcFirstLastPara="1" wrap="square" lIns="137150" tIns="137150" rIns="137150" bIns="13715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LÀ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19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vai trò người dùng</a:t>
            </a:r>
            <a:endParaRPr/>
          </a:p>
        </p:txBody>
      </p:sp>
      <p:sp>
        <p:nvSpPr>
          <p:cNvPr id="249" name="Google Shape;249;p24">
            <a:extLst>
              <a:ext uri="{FF2B5EF4-FFF2-40B4-BE49-F238E27FC236}">
                <a16:creationId xmlns:a16="http://schemas.microsoft.com/office/drawing/2014/main" id="{AAFA8429-3480-497D-B5C5-09F18774959B}"/>
              </a:ext>
            </a:extLst>
          </p:cNvPr>
          <p:cNvSpPr>
            <a:spLocks noGrp="1"/>
          </p:cNvSpPr>
          <p:nvPr/>
        </p:nvSpPr>
        <p:spPr>
          <a:xfrm>
            <a:off x="3913632" y="2103120"/>
            <a:ext cx="365760" cy="320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0" name="Google Shape;250;p24">
            <a:extLst>
              <a:ext uri="{FF2B5EF4-FFF2-40B4-BE49-F238E27FC236}">
                <a16:creationId xmlns:a16="http://schemas.microsoft.com/office/drawing/2014/main" id="{5F826714-FFCF-4F8D-BC1F-A5397D44A475}"/>
              </a:ext>
            </a:extLst>
          </p:cNvPr>
          <p:cNvSpPr>
            <a:spLocks noGrp="1"/>
          </p:cNvSpPr>
          <p:nvPr/>
        </p:nvSpPr>
        <p:spPr>
          <a:xfrm>
            <a:off x="4343400" y="1645920"/>
            <a:ext cx="3291840" cy="123444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137150" tIns="137150" rIns="137150" bIns="13715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TÔI MUỐN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1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một hành động</a:t>
            </a:r>
            <a:endParaRPr/>
          </a:p>
        </p:txBody>
      </p:sp>
      <p:sp>
        <p:nvSpPr>
          <p:cNvPr id="251" name="Google Shape;251;p24">
            <a:extLst>
              <a:ext uri="{FF2B5EF4-FFF2-40B4-BE49-F238E27FC236}">
                <a16:creationId xmlns:a16="http://schemas.microsoft.com/office/drawing/2014/main" id="{45B7A45C-258E-427E-B758-3B68D6A93BF5}"/>
              </a:ext>
            </a:extLst>
          </p:cNvPr>
          <p:cNvSpPr>
            <a:spLocks noGrp="1"/>
          </p:cNvSpPr>
          <p:nvPr/>
        </p:nvSpPr>
        <p:spPr>
          <a:xfrm>
            <a:off x="7708392" y="2103120"/>
            <a:ext cx="365760" cy="320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2" name="Google Shape;252;p24">
            <a:extLst>
              <a:ext uri="{FF2B5EF4-FFF2-40B4-BE49-F238E27FC236}">
                <a16:creationId xmlns:a16="http://schemas.microsoft.com/office/drawing/2014/main" id="{EF43FB1E-DB2F-4D7B-BA6F-92B7E212B0C4}"/>
              </a:ext>
            </a:extLst>
          </p:cNvPr>
          <p:cNvSpPr>
            <a:spLocks noGrp="1"/>
          </p:cNvSpPr>
          <p:nvPr/>
        </p:nvSpPr>
        <p:spPr>
          <a:xfrm>
            <a:off x="8138160" y="1645920"/>
            <a:ext cx="3291840" cy="123444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>
            <a:noFill/>
          </a:ln>
        </p:spPr>
        <p:txBody>
          <a:bodyPr spcFirstLastPara="1" wrap="square" lIns="137150" tIns="137150" rIns="137150" bIns="13715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ĐỂ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19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đạt một lợi ích</a:t>
            </a:r>
            <a:endParaRPr/>
          </a:p>
        </p:txBody>
      </p:sp>
      <p:sp>
        <p:nvSpPr>
          <p:cNvPr id="253" name="Google Shape;253;p24">
            <a:extLst>
              <a:ext uri="{FF2B5EF4-FFF2-40B4-BE49-F238E27FC236}">
                <a16:creationId xmlns:a16="http://schemas.microsoft.com/office/drawing/2014/main" id="{1D7E4180-97FE-40AA-B3E6-1011C1E35D94}"/>
              </a:ext>
            </a:extLst>
          </p:cNvPr>
          <p:cNvSpPr>
            <a:spLocks noGrp="1"/>
          </p:cNvSpPr>
          <p:nvPr/>
        </p:nvSpPr>
        <p:spPr>
          <a:xfrm>
            <a:off x="548640" y="31546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sz="22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Tiêu chí INVEST</a:t>
            </a:r>
            <a:endParaRPr/>
          </a:p>
        </p:txBody>
      </p:sp>
      <p:sp>
        <p:nvSpPr>
          <p:cNvPr id="254" name="Google Shape;254;p24">
            <a:extLst>
              <a:ext uri="{FF2B5EF4-FFF2-40B4-BE49-F238E27FC236}">
                <a16:creationId xmlns:a16="http://schemas.microsoft.com/office/drawing/2014/main" id="{B1381C4D-D6EF-4EF9-8B58-78D3BAC6B0D4}"/>
              </a:ext>
            </a:extLst>
          </p:cNvPr>
          <p:cNvSpPr>
            <a:spLocks noGrp="1"/>
          </p:cNvSpPr>
          <p:nvPr/>
        </p:nvSpPr>
        <p:spPr>
          <a:xfrm>
            <a:off x="548640" y="3703320"/>
            <a:ext cx="1691640" cy="16002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09725" tIns="109725" rIns="109725" bIns="1097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sz="40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I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Độc lập</a:t>
            </a:r>
            <a:endParaRPr/>
          </a:p>
        </p:txBody>
      </p:sp>
      <p:sp>
        <p:nvSpPr>
          <p:cNvPr id="255" name="Google Shape;255;p24">
            <a:extLst>
              <a:ext uri="{FF2B5EF4-FFF2-40B4-BE49-F238E27FC236}">
                <a16:creationId xmlns:a16="http://schemas.microsoft.com/office/drawing/2014/main" id="{7892AAF8-DD67-418C-9283-225DFEEE8044}"/>
              </a:ext>
            </a:extLst>
          </p:cNvPr>
          <p:cNvSpPr>
            <a:spLocks noGrp="1"/>
          </p:cNvSpPr>
          <p:nvPr/>
        </p:nvSpPr>
        <p:spPr>
          <a:xfrm>
            <a:off x="2423160" y="3703320"/>
            <a:ext cx="1691640" cy="16002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09725" tIns="109725" rIns="109725" bIns="1097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sz="40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N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Thương lượng được</a:t>
            </a:r>
            <a:endParaRPr/>
          </a:p>
        </p:txBody>
      </p:sp>
      <p:sp>
        <p:nvSpPr>
          <p:cNvPr id="256" name="Google Shape;256;p24">
            <a:extLst>
              <a:ext uri="{FF2B5EF4-FFF2-40B4-BE49-F238E27FC236}">
                <a16:creationId xmlns:a16="http://schemas.microsoft.com/office/drawing/2014/main" id="{80A378B7-22D3-4CD6-B211-E6E8372112CC}"/>
              </a:ext>
            </a:extLst>
          </p:cNvPr>
          <p:cNvSpPr>
            <a:spLocks noGrp="1"/>
          </p:cNvSpPr>
          <p:nvPr/>
        </p:nvSpPr>
        <p:spPr>
          <a:xfrm>
            <a:off x="4297679" y="3703320"/>
            <a:ext cx="1691640" cy="16002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09725" tIns="109725" rIns="109725" bIns="1097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sz="40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V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Có giá trị</a:t>
            </a:r>
            <a:endParaRPr/>
          </a:p>
        </p:txBody>
      </p:sp>
      <p:sp>
        <p:nvSpPr>
          <p:cNvPr id="257" name="Google Shape;257;p24">
            <a:extLst>
              <a:ext uri="{FF2B5EF4-FFF2-40B4-BE49-F238E27FC236}">
                <a16:creationId xmlns:a16="http://schemas.microsoft.com/office/drawing/2014/main" id="{347ECD37-8E15-4101-9B03-262D116F5BEA}"/>
              </a:ext>
            </a:extLst>
          </p:cNvPr>
          <p:cNvSpPr>
            <a:spLocks noGrp="1"/>
          </p:cNvSpPr>
          <p:nvPr/>
        </p:nvSpPr>
        <p:spPr>
          <a:xfrm>
            <a:off x="6172199" y="3703320"/>
            <a:ext cx="1691640" cy="16002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09725" tIns="109725" rIns="109725" bIns="1097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sz="40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E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Ước lượng được</a:t>
            </a:r>
            <a:endParaRPr/>
          </a:p>
        </p:txBody>
      </p:sp>
      <p:sp>
        <p:nvSpPr>
          <p:cNvPr id="258" name="Google Shape;258;p24">
            <a:extLst>
              <a:ext uri="{FF2B5EF4-FFF2-40B4-BE49-F238E27FC236}">
                <a16:creationId xmlns:a16="http://schemas.microsoft.com/office/drawing/2014/main" id="{31040CD9-9193-4AB1-BACC-683B896C35CA}"/>
              </a:ext>
            </a:extLst>
          </p:cNvPr>
          <p:cNvSpPr>
            <a:spLocks noGrp="1"/>
          </p:cNvSpPr>
          <p:nvPr/>
        </p:nvSpPr>
        <p:spPr>
          <a:xfrm>
            <a:off x="8046719" y="3703320"/>
            <a:ext cx="1691640" cy="16002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09725" tIns="109725" rIns="109725" bIns="1097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sz="40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S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Đủ nhỏ</a:t>
            </a:r>
            <a:endParaRPr/>
          </a:p>
        </p:txBody>
      </p:sp>
      <p:sp>
        <p:nvSpPr>
          <p:cNvPr id="259" name="Google Shape;259;p24">
            <a:extLst>
              <a:ext uri="{FF2B5EF4-FFF2-40B4-BE49-F238E27FC236}">
                <a16:creationId xmlns:a16="http://schemas.microsoft.com/office/drawing/2014/main" id="{B7BA573F-10F7-49AD-A1AB-979CEF5A1FF1}"/>
              </a:ext>
            </a:extLst>
          </p:cNvPr>
          <p:cNvSpPr>
            <a:spLocks noGrp="1"/>
          </p:cNvSpPr>
          <p:nvPr/>
        </p:nvSpPr>
        <p:spPr>
          <a:xfrm>
            <a:off x="9921240" y="3703320"/>
            <a:ext cx="1691640" cy="16002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09725" tIns="109725" rIns="109725" bIns="1097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sz="40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T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Kiểm thử được</a:t>
            </a:r>
            <a:endParaRPr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B974B74B-68C0-4BF7-8002-89E4638E5E64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650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650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endParaRPr sz="1650" b="0" dirty="0">
              <a:solidFill>
                <a:srgbClr val="595959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8328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5">
            <a:extLst>
              <a:ext uri="{FF2B5EF4-FFF2-40B4-BE49-F238E27FC236}">
                <a16:creationId xmlns:a16="http://schemas.microsoft.com/office/drawing/2014/main" id="{DBE06F61-70A7-470B-9067-91897D1A2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3. User story</a:t>
            </a:r>
            <a:endParaRPr/>
          </a:p>
        </p:txBody>
      </p:sp>
      <p:sp>
        <p:nvSpPr>
          <p:cNvPr id="266" name="Google Shape;266;p25">
            <a:extLst>
              <a:ext uri="{FF2B5EF4-FFF2-40B4-BE49-F238E27FC236}">
                <a16:creationId xmlns:a16="http://schemas.microsoft.com/office/drawing/2014/main" id="{26C3C228-D801-43DE-BB2E-C643D6AD41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11</a:t>
            </a:r>
            <a:endParaRPr/>
          </a:p>
        </p:txBody>
      </p:sp>
      <p:sp>
        <p:nvSpPr>
          <p:cNvPr id="267" name="Google Shape;267;p25">
            <a:extLst>
              <a:ext uri="{FF2B5EF4-FFF2-40B4-BE49-F238E27FC236}">
                <a16:creationId xmlns:a16="http://schemas.microsoft.com/office/drawing/2014/main" id="{448354C6-1F97-4FDA-ABD8-04993CA7B38B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17 user story cho 3 vai trò trực tiếp</a:t>
            </a:r>
            <a:endParaRPr/>
          </a:p>
        </p:txBody>
      </p:sp>
      <p:sp>
        <p:nvSpPr>
          <p:cNvPr id="268" name="Google Shape;268;p25">
            <a:extLst>
              <a:ext uri="{FF2B5EF4-FFF2-40B4-BE49-F238E27FC236}">
                <a16:creationId xmlns:a16="http://schemas.microsoft.com/office/drawing/2014/main" id="{9B2D90B3-5E53-48B9-A8F9-E68E4B9F5B03}"/>
              </a:ext>
            </a:extLst>
          </p:cNvPr>
          <p:cNvSpPr>
            <a:spLocks noGrp="1"/>
          </p:cNvSpPr>
          <p:nvPr/>
        </p:nvSpPr>
        <p:spPr>
          <a:xfrm>
            <a:off x="548640" y="1600200"/>
            <a:ext cx="3474720" cy="338328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9" name="Google Shape;269;p25">
            <a:extLst>
              <a:ext uri="{FF2B5EF4-FFF2-40B4-BE49-F238E27FC236}">
                <a16:creationId xmlns:a16="http://schemas.microsoft.com/office/drawing/2014/main" id="{E63A6225-0C52-4E1A-83B4-FAE330ED8E44}"/>
              </a:ext>
            </a:extLst>
          </p:cNvPr>
          <p:cNvSpPr>
            <a:spLocks noGrp="1"/>
          </p:cNvSpPr>
          <p:nvPr/>
        </p:nvSpPr>
        <p:spPr>
          <a:xfrm>
            <a:off x="1783080" y="1783080"/>
            <a:ext cx="1005840" cy="10058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70" name="Google Shape;270;p25">
            <a:extLst>
              <a:ext uri="{FF2B5EF4-FFF2-40B4-BE49-F238E27FC236}">
                <a16:creationId xmlns:a16="http://schemas.microsoft.com/office/drawing/2014/main" id="{775FDCD2-A56A-423A-9CB2-9553086555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364" y="2004364"/>
            <a:ext cx="563270" cy="563270"/>
          </a:xfrm>
          <a:prstGeom prst="rect">
            <a:avLst/>
          </a:prstGeom>
          <a:ln>
            <a:noFill/>
          </a:ln>
        </p:spPr>
      </p:pic>
      <p:sp>
        <p:nvSpPr>
          <p:cNvPr id="271" name="Google Shape;271;p25">
            <a:extLst>
              <a:ext uri="{FF2B5EF4-FFF2-40B4-BE49-F238E27FC236}">
                <a16:creationId xmlns:a16="http://schemas.microsoft.com/office/drawing/2014/main" id="{22921085-3856-4D31-8E64-59CF87E19DF2}"/>
              </a:ext>
            </a:extLst>
          </p:cNvPr>
          <p:cNvSpPr>
            <a:spLocks noGrp="1"/>
          </p:cNvSpPr>
          <p:nvPr/>
        </p:nvSpPr>
        <p:spPr>
          <a:xfrm>
            <a:off x="548640" y="283464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4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Người con</a:t>
            </a:r>
            <a:endParaRPr/>
          </a:p>
        </p:txBody>
      </p:sp>
      <p:sp>
        <p:nvSpPr>
          <p:cNvPr id="272" name="Google Shape;272;p25">
            <a:extLst>
              <a:ext uri="{FF2B5EF4-FFF2-40B4-BE49-F238E27FC236}">
                <a16:creationId xmlns:a16="http://schemas.microsoft.com/office/drawing/2014/main" id="{AC25DA41-9916-42A5-8705-EFBA8B59EA31}"/>
              </a:ext>
            </a:extLst>
          </p:cNvPr>
          <p:cNvSpPr>
            <a:spLocks noGrp="1"/>
          </p:cNvSpPr>
          <p:nvPr/>
        </p:nvSpPr>
        <p:spPr>
          <a:xfrm>
            <a:off x="548640" y="329184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sz="44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12 story</a:t>
            </a:r>
            <a:endParaRPr/>
          </a:p>
        </p:txBody>
      </p:sp>
      <p:sp>
        <p:nvSpPr>
          <p:cNvPr id="273" name="Google Shape;273;p25">
            <a:extLst>
              <a:ext uri="{FF2B5EF4-FFF2-40B4-BE49-F238E27FC236}">
                <a16:creationId xmlns:a16="http://schemas.microsoft.com/office/drawing/2014/main" id="{682817C1-7B52-478A-9DB1-341355776441}"/>
              </a:ext>
            </a:extLst>
          </p:cNvPr>
          <p:cNvSpPr>
            <a:spLocks noGrp="1"/>
          </p:cNvSpPr>
          <p:nvPr/>
        </p:nvSpPr>
        <p:spPr>
          <a:xfrm>
            <a:off x="548640" y="416052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>
            <a:defPPr>
              <a:defRPr sz="1650"/>
            </a:defPPr>
          </a:lstStyle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650"/>
            </a:pPr>
            <a:r>
              <a:rPr sz="165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Hồ sơ, đơn, giám sát, báo cáo</a:t>
            </a:r>
            <a:endParaRPr/>
          </a:p>
        </p:txBody>
      </p:sp>
      <p:sp>
        <p:nvSpPr>
          <p:cNvPr id="274" name="Google Shape;274;p25">
            <a:extLst>
              <a:ext uri="{FF2B5EF4-FFF2-40B4-BE49-F238E27FC236}">
                <a16:creationId xmlns:a16="http://schemas.microsoft.com/office/drawing/2014/main" id="{58452366-06FB-4944-98DD-BA2B2FCDB568}"/>
              </a:ext>
            </a:extLst>
          </p:cNvPr>
          <p:cNvSpPr>
            <a:spLocks noGrp="1"/>
          </p:cNvSpPr>
          <p:nvPr/>
        </p:nvSpPr>
        <p:spPr>
          <a:xfrm>
            <a:off x="4297679" y="1600200"/>
            <a:ext cx="3474720" cy="338328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5" name="Google Shape;275;p25">
            <a:extLst>
              <a:ext uri="{FF2B5EF4-FFF2-40B4-BE49-F238E27FC236}">
                <a16:creationId xmlns:a16="http://schemas.microsoft.com/office/drawing/2014/main" id="{77C194F0-6CD1-4D04-A834-2A1DF8E28731}"/>
              </a:ext>
            </a:extLst>
          </p:cNvPr>
          <p:cNvSpPr>
            <a:spLocks noGrp="1"/>
          </p:cNvSpPr>
          <p:nvPr/>
        </p:nvSpPr>
        <p:spPr>
          <a:xfrm>
            <a:off x="5532119" y="1783080"/>
            <a:ext cx="1005840" cy="10058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76" name="Google Shape;276;p25">
            <a:extLst>
              <a:ext uri="{FF2B5EF4-FFF2-40B4-BE49-F238E27FC236}">
                <a16:creationId xmlns:a16="http://schemas.microsoft.com/office/drawing/2014/main" id="{065595F5-C62E-4E1D-B8A8-3C047ED102A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53404" y="2004364"/>
            <a:ext cx="563270" cy="563270"/>
          </a:xfrm>
          <a:prstGeom prst="rect">
            <a:avLst/>
          </a:prstGeom>
          <a:ln>
            <a:noFill/>
          </a:ln>
        </p:spPr>
      </p:pic>
      <p:sp>
        <p:nvSpPr>
          <p:cNvPr id="277" name="Google Shape;277;p25">
            <a:extLst>
              <a:ext uri="{FF2B5EF4-FFF2-40B4-BE49-F238E27FC236}">
                <a16:creationId xmlns:a16="http://schemas.microsoft.com/office/drawing/2014/main" id="{D731602C-3FCC-4284-8651-D9FA1511F6D2}"/>
              </a:ext>
            </a:extLst>
          </p:cNvPr>
          <p:cNvSpPr>
            <a:spLocks noGrp="1"/>
          </p:cNvSpPr>
          <p:nvPr/>
        </p:nvSpPr>
        <p:spPr>
          <a:xfrm>
            <a:off x="4297679" y="283464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4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Bệnh nhân</a:t>
            </a:r>
            <a:endParaRPr/>
          </a:p>
        </p:txBody>
      </p:sp>
      <p:sp>
        <p:nvSpPr>
          <p:cNvPr id="278" name="Google Shape;278;p25">
            <a:extLst>
              <a:ext uri="{FF2B5EF4-FFF2-40B4-BE49-F238E27FC236}">
                <a16:creationId xmlns:a16="http://schemas.microsoft.com/office/drawing/2014/main" id="{A0CF729F-1834-4EA4-AF1D-3769C8E54348}"/>
              </a:ext>
            </a:extLst>
          </p:cNvPr>
          <p:cNvSpPr>
            <a:spLocks noGrp="1"/>
          </p:cNvSpPr>
          <p:nvPr/>
        </p:nvSpPr>
        <p:spPr>
          <a:xfrm>
            <a:off x="4297679" y="329184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sz="44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3</a:t>
            </a:r>
            <a:r>
              <a:rPr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 story</a:t>
            </a:r>
            <a:endParaRPr/>
          </a:p>
        </p:txBody>
      </p:sp>
      <p:sp>
        <p:nvSpPr>
          <p:cNvPr id="279" name="Google Shape;279;p25">
            <a:extLst>
              <a:ext uri="{FF2B5EF4-FFF2-40B4-BE49-F238E27FC236}">
                <a16:creationId xmlns:a16="http://schemas.microsoft.com/office/drawing/2014/main" id="{F1B72F67-736B-409B-8F67-65BE2568FA90}"/>
              </a:ext>
            </a:extLst>
          </p:cNvPr>
          <p:cNvSpPr>
            <a:spLocks noGrp="1"/>
          </p:cNvSpPr>
          <p:nvPr/>
        </p:nvSpPr>
        <p:spPr>
          <a:xfrm>
            <a:off x="4297679" y="416052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Nhắc, xác nhận một chạm</a:t>
            </a:r>
            <a:endParaRPr/>
          </a:p>
        </p:txBody>
      </p:sp>
      <p:sp>
        <p:nvSpPr>
          <p:cNvPr id="280" name="Google Shape;280;p25">
            <a:extLst>
              <a:ext uri="{FF2B5EF4-FFF2-40B4-BE49-F238E27FC236}">
                <a16:creationId xmlns:a16="http://schemas.microsoft.com/office/drawing/2014/main" id="{C793F873-6427-4A09-B5FE-058819BBDE8B}"/>
              </a:ext>
            </a:extLst>
          </p:cNvPr>
          <p:cNvSpPr>
            <a:spLocks noGrp="1"/>
          </p:cNvSpPr>
          <p:nvPr/>
        </p:nvSpPr>
        <p:spPr>
          <a:xfrm>
            <a:off x="8046719" y="1600200"/>
            <a:ext cx="3474720" cy="338328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1" name="Google Shape;281;p25">
            <a:extLst>
              <a:ext uri="{FF2B5EF4-FFF2-40B4-BE49-F238E27FC236}">
                <a16:creationId xmlns:a16="http://schemas.microsoft.com/office/drawing/2014/main" id="{3CDAA722-4729-4A15-9F01-0D3236E41AA4}"/>
              </a:ext>
            </a:extLst>
          </p:cNvPr>
          <p:cNvSpPr>
            <a:spLocks noGrp="1"/>
          </p:cNvSpPr>
          <p:nvPr/>
        </p:nvSpPr>
        <p:spPr>
          <a:xfrm>
            <a:off x="9281159" y="1783080"/>
            <a:ext cx="1005840" cy="10058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82" name="Google Shape;282;p25">
            <a:extLst>
              <a:ext uri="{FF2B5EF4-FFF2-40B4-BE49-F238E27FC236}">
                <a16:creationId xmlns:a16="http://schemas.microsoft.com/office/drawing/2014/main" id="{2D1639A9-D8E9-4F91-B4AD-4F0AFC7AC1D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02444" y="2004364"/>
            <a:ext cx="563270" cy="563270"/>
          </a:xfrm>
          <a:prstGeom prst="rect">
            <a:avLst/>
          </a:prstGeom>
          <a:ln>
            <a:noFill/>
          </a:ln>
        </p:spPr>
      </p:pic>
      <p:sp>
        <p:nvSpPr>
          <p:cNvPr id="283" name="Google Shape;283;p25">
            <a:extLst>
              <a:ext uri="{FF2B5EF4-FFF2-40B4-BE49-F238E27FC236}">
                <a16:creationId xmlns:a16="http://schemas.microsoft.com/office/drawing/2014/main" id="{16E7DB91-84B6-4C84-9BA5-3991E34897AE}"/>
              </a:ext>
            </a:extLst>
          </p:cNvPr>
          <p:cNvSpPr>
            <a:spLocks noGrp="1"/>
          </p:cNvSpPr>
          <p:nvPr/>
        </p:nvSpPr>
        <p:spPr>
          <a:xfrm>
            <a:off x="8046719" y="2743215"/>
            <a:ext cx="3474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4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Người </a:t>
            </a:r>
            <a:r>
              <a:rPr sz="2400" b="1">
                <a:solidFill>
                  <a:srgbClr val="1F1F1F"/>
                </a:solidFill>
              </a:rPr>
              <a:t>thân (được ủy quyền)</a:t>
            </a:r>
            <a:endParaRPr/>
          </a:p>
        </p:txBody>
      </p:sp>
      <p:sp>
        <p:nvSpPr>
          <p:cNvPr id="284" name="Google Shape;284;p25">
            <a:extLst>
              <a:ext uri="{FF2B5EF4-FFF2-40B4-BE49-F238E27FC236}">
                <a16:creationId xmlns:a16="http://schemas.microsoft.com/office/drawing/2014/main" id="{7ED34732-B1BB-411E-AAFE-BDF17EA719CC}"/>
              </a:ext>
            </a:extLst>
          </p:cNvPr>
          <p:cNvSpPr>
            <a:spLocks noGrp="1"/>
          </p:cNvSpPr>
          <p:nvPr/>
        </p:nvSpPr>
        <p:spPr>
          <a:xfrm>
            <a:off x="8046719" y="3421615"/>
            <a:ext cx="3474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sz="44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2</a:t>
            </a:r>
            <a:r>
              <a:rPr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 story</a:t>
            </a:r>
            <a:endParaRPr/>
          </a:p>
        </p:txBody>
      </p:sp>
      <p:sp>
        <p:nvSpPr>
          <p:cNvPr id="285" name="Google Shape;285;p25">
            <a:extLst>
              <a:ext uri="{FF2B5EF4-FFF2-40B4-BE49-F238E27FC236}">
                <a16:creationId xmlns:a16="http://schemas.microsoft.com/office/drawing/2014/main" id="{91B9F0E8-8E26-404A-BFC4-FE4852927BFF}"/>
              </a:ext>
            </a:extLst>
          </p:cNvPr>
          <p:cNvSpPr>
            <a:spLocks noGrp="1"/>
          </p:cNvSpPr>
          <p:nvPr/>
        </p:nvSpPr>
        <p:spPr>
          <a:xfrm>
            <a:off x="8046719" y="416052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Hỗ trợ tại chỗ</a:t>
            </a:r>
            <a:endParaRPr/>
          </a:p>
        </p:txBody>
      </p:sp>
      <p:sp>
        <p:nvSpPr>
          <p:cNvPr id="286" name="Google Shape;286;p25">
            <a:extLst>
              <a:ext uri="{FF2B5EF4-FFF2-40B4-BE49-F238E27FC236}">
                <a16:creationId xmlns:a16="http://schemas.microsoft.com/office/drawing/2014/main" id="{35698323-7856-4EA5-8FFD-7C78549A07CD}"/>
              </a:ext>
            </a:extLst>
          </p:cNvPr>
          <p:cNvSpPr>
            <a:spLocks noGrp="1"/>
          </p:cNvSpPr>
          <p:nvPr/>
        </p:nvSpPr>
        <p:spPr>
          <a:xfrm>
            <a:off x="5760715" y="5138918"/>
            <a:ext cx="548700" cy="548700"/>
          </a:xfrm>
          <a:prstGeom prst="ellipse">
            <a:avLst/>
          </a:prstGeom>
          <a:solidFill>
            <a:srgbClr val="5F6B7A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87" name="Google Shape;287;p25">
            <a:extLst>
              <a:ext uri="{FF2B5EF4-FFF2-40B4-BE49-F238E27FC236}">
                <a16:creationId xmlns:a16="http://schemas.microsoft.com/office/drawing/2014/main" id="{F44A9575-EDA9-46E9-8A10-4D921FDD1DB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1415" y="5259618"/>
            <a:ext cx="307238" cy="307238"/>
          </a:xfrm>
          <a:prstGeom prst="rect">
            <a:avLst/>
          </a:prstGeom>
          <a:ln>
            <a:noFill/>
          </a:ln>
        </p:spPr>
      </p:pic>
      <p:sp>
        <p:nvSpPr>
          <p:cNvPr id="288" name="Rectangle 287">
            <a:extLst>
              <a:ext uri="{FF2B5EF4-FFF2-40B4-BE49-F238E27FC236}">
                <a16:creationId xmlns:a16="http://schemas.microsoft.com/office/drawing/2014/main" id="{3403691D-3247-467A-8EB5-40E640DC56C6}"/>
              </a:ext>
            </a:extLst>
          </p:cNvPr>
          <p:cNvSpPr>
            <a:spLocks noGrp="1"/>
          </p:cNvSpPr>
          <p:nvPr/>
        </p:nvSpPr>
        <p:spPr>
          <a:xfrm>
            <a:off x="3848100" y="5791200"/>
            <a:ext cx="63436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7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7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Bác sĩ nhận báo cáo PDF bên ngoài hệ thống</a:t>
            </a:r>
          </a:p>
        </p:txBody>
      </p:sp>
    </p:spTree>
    <p:extLst>
      <p:ext uri="{BB962C8B-B14F-4D97-AF65-F5344CB8AC3E}">
        <p14:creationId xmlns:p14="http://schemas.microsoft.com/office/powerpoint/2010/main" val="919532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6">
            <a:extLst>
              <a:ext uri="{FF2B5EF4-FFF2-40B4-BE49-F238E27FC236}">
                <a16:creationId xmlns:a16="http://schemas.microsoft.com/office/drawing/2014/main" id="{A9C0A485-E5F2-4670-8813-102302700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3. User story</a:t>
            </a:r>
            <a:endParaRPr/>
          </a:p>
        </p:txBody>
      </p:sp>
      <p:sp>
        <p:nvSpPr>
          <p:cNvPr id="294" name="Google Shape;294;p26">
            <a:extLst>
              <a:ext uri="{FF2B5EF4-FFF2-40B4-BE49-F238E27FC236}">
                <a16:creationId xmlns:a16="http://schemas.microsoft.com/office/drawing/2014/main" id="{321B7215-8981-4116-BE89-5C21C7A79B4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12</a:t>
            </a:r>
            <a:endParaRPr/>
          </a:p>
        </p:txBody>
      </p:sp>
      <p:sp>
        <p:nvSpPr>
          <p:cNvPr id="295" name="Google Shape;295;p26">
            <a:extLst>
              <a:ext uri="{FF2B5EF4-FFF2-40B4-BE49-F238E27FC236}">
                <a16:creationId xmlns:a16="http://schemas.microsoft.com/office/drawing/2014/main" id="{FBBC4CDC-BCDF-4488-B56D-6EB915E909DC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Người chăm sóc: nhập và xác nhận đơn</a:t>
            </a:r>
            <a:endParaRPr/>
          </a:p>
        </p:txBody>
      </p:sp>
      <p:sp>
        <p:nvSpPr>
          <p:cNvPr id="296" name="Google Shape;296;p26">
            <a:extLst>
              <a:ext uri="{FF2B5EF4-FFF2-40B4-BE49-F238E27FC236}">
                <a16:creationId xmlns:a16="http://schemas.microsoft.com/office/drawing/2014/main" id="{4BA195E8-00E4-4211-B8E1-C6BA5DCD5A68}"/>
              </a:ext>
            </a:extLst>
          </p:cNvPr>
          <p:cNvSpPr>
            <a:spLocks noGrp="1"/>
          </p:cNvSpPr>
          <p:nvPr/>
        </p:nvSpPr>
        <p:spPr>
          <a:xfrm>
            <a:off x="548640" y="148132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97" name="Google Shape;297;p26">
            <a:extLst>
              <a:ext uri="{FF2B5EF4-FFF2-40B4-BE49-F238E27FC236}">
                <a16:creationId xmlns:a16="http://schemas.microsoft.com/office/drawing/2014/main" id="{60BE5A1E-685A-4572-B484-49DD8E9309A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364" y="1606052"/>
            <a:ext cx="317479" cy="317479"/>
          </a:xfrm>
          <a:prstGeom prst="rect">
            <a:avLst/>
          </a:prstGeom>
          <a:ln>
            <a:noFill/>
          </a:ln>
        </p:spPr>
      </p:pic>
      <p:sp>
        <p:nvSpPr>
          <p:cNvPr id="298" name="Google Shape;298;p26">
            <a:extLst>
              <a:ext uri="{FF2B5EF4-FFF2-40B4-BE49-F238E27FC236}">
                <a16:creationId xmlns:a16="http://schemas.microsoft.com/office/drawing/2014/main" id="{77F79257-6123-4EC8-B407-E94C4F0FB562}"/>
              </a:ext>
            </a:extLst>
          </p:cNvPr>
          <p:cNvSpPr>
            <a:spLocks noGrp="1"/>
          </p:cNvSpPr>
          <p:nvPr/>
        </p:nvSpPr>
        <p:spPr>
          <a:xfrm>
            <a:off x="1234440" y="1481328"/>
            <a:ext cx="100584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sz="22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Là </a:t>
            </a:r>
            <a:r>
              <a:rPr sz="22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người con (người chăm sóc)</a:t>
            </a:r>
            <a:endParaRPr/>
          </a:p>
        </p:txBody>
      </p:sp>
      <p:sp>
        <p:nvSpPr>
          <p:cNvPr id="299" name="Google Shape;299;p26">
            <a:extLst>
              <a:ext uri="{FF2B5EF4-FFF2-40B4-BE49-F238E27FC236}">
                <a16:creationId xmlns:a16="http://schemas.microsoft.com/office/drawing/2014/main" id="{7009C287-4EAB-4325-8678-6379F93E33D0}"/>
              </a:ext>
            </a:extLst>
          </p:cNvPr>
          <p:cNvSpPr>
            <a:spLocks noGrp="1"/>
          </p:cNvSpPr>
          <p:nvPr/>
        </p:nvSpPr>
        <p:spPr>
          <a:xfrm>
            <a:off x="548640" y="2286000"/>
            <a:ext cx="11064240" cy="96012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0" name="Google Shape;300;p26">
            <a:extLst>
              <a:ext uri="{FF2B5EF4-FFF2-40B4-BE49-F238E27FC236}">
                <a16:creationId xmlns:a16="http://schemas.microsoft.com/office/drawing/2014/main" id="{E7998A96-2690-4333-92BE-7FDFA238A976}"/>
              </a:ext>
            </a:extLst>
          </p:cNvPr>
          <p:cNvSpPr>
            <a:spLocks noGrp="1"/>
          </p:cNvSpPr>
          <p:nvPr/>
        </p:nvSpPr>
        <p:spPr>
          <a:xfrm>
            <a:off x="731520" y="2537460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27425" tIns="27425" rIns="27425" bIns="27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US-01</a:t>
            </a:r>
            <a:endParaRPr/>
          </a:p>
        </p:txBody>
      </p:sp>
      <p:sp>
        <p:nvSpPr>
          <p:cNvPr id="301" name="Google Shape;301;p26">
            <a:extLst>
              <a:ext uri="{FF2B5EF4-FFF2-40B4-BE49-F238E27FC236}">
                <a16:creationId xmlns:a16="http://schemas.microsoft.com/office/drawing/2014/main" id="{9DC7921E-7DD5-4821-A9CC-00B8C2D11CAE}"/>
              </a:ext>
            </a:extLst>
          </p:cNvPr>
          <p:cNvSpPr>
            <a:spLocks noGrp="1"/>
          </p:cNvSpPr>
          <p:nvPr/>
        </p:nvSpPr>
        <p:spPr>
          <a:xfrm>
            <a:off x="2148840" y="2359152"/>
            <a:ext cx="6949440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21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Tôi muốn </a:t>
            </a:r>
            <a:r>
              <a:rPr sz="21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nhập đơn có gợi ý tên</a:t>
            </a:r>
            <a:endParaRPr/>
          </a:p>
          <a:p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1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Để giảm lỗi khi nhập tên thuốc</a:t>
            </a:r>
            <a:endParaRPr/>
          </a:p>
        </p:txBody>
      </p:sp>
      <p:sp>
        <p:nvSpPr>
          <p:cNvPr id="302" name="Google Shape;302;p26">
            <a:extLst>
              <a:ext uri="{FF2B5EF4-FFF2-40B4-BE49-F238E27FC236}">
                <a16:creationId xmlns:a16="http://schemas.microsoft.com/office/drawing/2014/main" id="{277A1C15-2C2B-4596-BDBE-E69BEB306D21}"/>
              </a:ext>
            </a:extLst>
          </p:cNvPr>
          <p:cNvSpPr>
            <a:spLocks noGrp="1"/>
          </p:cNvSpPr>
          <p:nvPr/>
        </p:nvSpPr>
        <p:spPr>
          <a:xfrm>
            <a:off x="9144000" y="2377440"/>
            <a:ext cx="1325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FR-04, 05</a:t>
            </a:r>
            <a:b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</a:br>
            <a: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P1, P3</a:t>
            </a:r>
            <a:endParaRPr/>
          </a:p>
        </p:txBody>
      </p:sp>
      <p:sp>
        <p:nvSpPr>
          <p:cNvPr id="303" name="Google Shape;303;p26">
            <a:extLst>
              <a:ext uri="{FF2B5EF4-FFF2-40B4-BE49-F238E27FC236}">
                <a16:creationId xmlns:a16="http://schemas.microsoft.com/office/drawing/2014/main" id="{A78C9D96-B484-4965-BC4B-A6B6A5F5D611}"/>
              </a:ext>
            </a:extLst>
          </p:cNvPr>
          <p:cNvSpPr>
            <a:spLocks noGrp="1"/>
          </p:cNvSpPr>
          <p:nvPr/>
        </p:nvSpPr>
        <p:spPr>
          <a:xfrm>
            <a:off x="10469880" y="2564892"/>
            <a:ext cx="1005840" cy="402336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18275" tIns="18275" rIns="18275" bIns="18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Must</a:t>
            </a:r>
            <a:endParaRPr/>
          </a:p>
        </p:txBody>
      </p:sp>
      <p:sp>
        <p:nvSpPr>
          <p:cNvPr id="304" name="Google Shape;304;p26">
            <a:extLst>
              <a:ext uri="{FF2B5EF4-FFF2-40B4-BE49-F238E27FC236}">
                <a16:creationId xmlns:a16="http://schemas.microsoft.com/office/drawing/2014/main" id="{E2744B92-A743-48CA-BC65-AFB245E2659D}"/>
              </a:ext>
            </a:extLst>
          </p:cNvPr>
          <p:cNvSpPr>
            <a:spLocks noGrp="1"/>
          </p:cNvSpPr>
          <p:nvPr/>
        </p:nvSpPr>
        <p:spPr>
          <a:xfrm>
            <a:off x="548640" y="3383280"/>
            <a:ext cx="11064240" cy="96012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5" name="Google Shape;305;p26">
            <a:extLst>
              <a:ext uri="{FF2B5EF4-FFF2-40B4-BE49-F238E27FC236}">
                <a16:creationId xmlns:a16="http://schemas.microsoft.com/office/drawing/2014/main" id="{0C8A575E-F004-444A-918B-1315D7213DAA}"/>
              </a:ext>
            </a:extLst>
          </p:cNvPr>
          <p:cNvSpPr>
            <a:spLocks noGrp="1"/>
          </p:cNvSpPr>
          <p:nvPr/>
        </p:nvSpPr>
        <p:spPr>
          <a:xfrm>
            <a:off x="731520" y="3634740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27425" tIns="27425" rIns="27425" bIns="27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US-02</a:t>
            </a:r>
            <a:endParaRPr/>
          </a:p>
        </p:txBody>
      </p:sp>
      <p:sp>
        <p:nvSpPr>
          <p:cNvPr id="306" name="Google Shape;306;p26">
            <a:extLst>
              <a:ext uri="{FF2B5EF4-FFF2-40B4-BE49-F238E27FC236}">
                <a16:creationId xmlns:a16="http://schemas.microsoft.com/office/drawing/2014/main" id="{39EC22D5-4395-47F8-A4F1-687D8A7A8AD2}"/>
              </a:ext>
            </a:extLst>
          </p:cNvPr>
          <p:cNvSpPr>
            <a:spLocks noGrp="1"/>
          </p:cNvSpPr>
          <p:nvPr/>
        </p:nvSpPr>
        <p:spPr>
          <a:xfrm>
            <a:off x="2148840" y="3456432"/>
            <a:ext cx="6949440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21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Tôi muốn </a:t>
            </a:r>
            <a:r>
              <a:rPr sz="21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duyệt đơn trước khi áp dụng</a:t>
            </a:r>
            <a:endParaRPr/>
          </a:p>
          <a:p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1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Để </a:t>
            </a:r>
            <a:r>
              <a:rPr sz="19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lịch nhắc luôn đúng đơn</a:t>
            </a:r>
            <a:endParaRPr/>
          </a:p>
        </p:txBody>
      </p:sp>
      <p:sp>
        <p:nvSpPr>
          <p:cNvPr id="307" name="Google Shape;307;p26">
            <a:extLst>
              <a:ext uri="{FF2B5EF4-FFF2-40B4-BE49-F238E27FC236}">
                <a16:creationId xmlns:a16="http://schemas.microsoft.com/office/drawing/2014/main" id="{55746564-E92F-4208-B406-8C0F0D0D1AB6}"/>
              </a:ext>
            </a:extLst>
          </p:cNvPr>
          <p:cNvSpPr>
            <a:spLocks noGrp="1"/>
          </p:cNvSpPr>
          <p:nvPr/>
        </p:nvSpPr>
        <p:spPr>
          <a:xfrm>
            <a:off x="9144000" y="3474720"/>
            <a:ext cx="1325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FR-06, 07, 09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P1, P2</a:t>
            </a:r>
          </a:p>
        </p:txBody>
      </p:sp>
      <p:sp>
        <p:nvSpPr>
          <p:cNvPr id="308" name="Google Shape;308;p26">
            <a:extLst>
              <a:ext uri="{FF2B5EF4-FFF2-40B4-BE49-F238E27FC236}">
                <a16:creationId xmlns:a16="http://schemas.microsoft.com/office/drawing/2014/main" id="{632E9735-5082-4B11-B28D-7A184F07C661}"/>
              </a:ext>
            </a:extLst>
          </p:cNvPr>
          <p:cNvSpPr>
            <a:spLocks noGrp="1"/>
          </p:cNvSpPr>
          <p:nvPr/>
        </p:nvSpPr>
        <p:spPr>
          <a:xfrm>
            <a:off x="10469880" y="3662172"/>
            <a:ext cx="1005840" cy="402336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18275" tIns="18275" rIns="18275" bIns="18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Must</a:t>
            </a:r>
            <a:endParaRPr/>
          </a:p>
        </p:txBody>
      </p:sp>
      <p:sp>
        <p:nvSpPr>
          <p:cNvPr id="309" name="Google Shape;309;p26">
            <a:extLst>
              <a:ext uri="{FF2B5EF4-FFF2-40B4-BE49-F238E27FC236}">
                <a16:creationId xmlns:a16="http://schemas.microsoft.com/office/drawing/2014/main" id="{2A027288-5C08-4068-B54B-DA6202EBE510}"/>
              </a:ext>
            </a:extLst>
          </p:cNvPr>
          <p:cNvSpPr>
            <a:spLocks noGrp="1"/>
          </p:cNvSpPr>
          <p:nvPr/>
        </p:nvSpPr>
        <p:spPr>
          <a:xfrm>
            <a:off x="548640" y="4480560"/>
            <a:ext cx="11064240" cy="96012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0" name="Google Shape;310;p26">
            <a:extLst>
              <a:ext uri="{FF2B5EF4-FFF2-40B4-BE49-F238E27FC236}">
                <a16:creationId xmlns:a16="http://schemas.microsoft.com/office/drawing/2014/main" id="{919B83F4-DE34-486D-8C12-588155813A46}"/>
              </a:ext>
            </a:extLst>
          </p:cNvPr>
          <p:cNvSpPr>
            <a:spLocks noGrp="1"/>
          </p:cNvSpPr>
          <p:nvPr/>
        </p:nvSpPr>
        <p:spPr>
          <a:xfrm>
            <a:off x="731520" y="4732020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27425" tIns="27425" rIns="27425" bIns="27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US-07</a:t>
            </a:r>
            <a:endParaRPr/>
          </a:p>
        </p:txBody>
      </p:sp>
      <p:sp>
        <p:nvSpPr>
          <p:cNvPr id="311" name="Google Shape;311;p26">
            <a:extLst>
              <a:ext uri="{FF2B5EF4-FFF2-40B4-BE49-F238E27FC236}">
                <a16:creationId xmlns:a16="http://schemas.microsoft.com/office/drawing/2014/main" id="{DA74E398-A30E-4292-BE1B-6208C26ED5E5}"/>
              </a:ext>
            </a:extLst>
          </p:cNvPr>
          <p:cNvSpPr>
            <a:spLocks noGrp="1"/>
          </p:cNvSpPr>
          <p:nvPr/>
        </p:nvSpPr>
        <p:spPr>
          <a:xfrm>
            <a:off x="2148840" y="4553712"/>
            <a:ext cx="6949500" cy="8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21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Tôi muốn </a:t>
            </a:r>
            <a:r>
              <a:rPr sz="21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cảnh báo trùng hoạt chất</a:t>
            </a:r>
            <a:endParaRPr/>
          </a:p>
          <a:p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1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Để kiểm tra lại đơn với bác sĩ</a:t>
            </a:r>
            <a:endParaRPr/>
          </a:p>
        </p:txBody>
      </p:sp>
      <p:sp>
        <p:nvSpPr>
          <p:cNvPr id="312" name="Google Shape;312;p26">
            <a:extLst>
              <a:ext uri="{FF2B5EF4-FFF2-40B4-BE49-F238E27FC236}">
                <a16:creationId xmlns:a16="http://schemas.microsoft.com/office/drawing/2014/main" id="{8735A17E-FD6A-446A-B462-4236B9FBDA93}"/>
              </a:ext>
            </a:extLst>
          </p:cNvPr>
          <p:cNvSpPr>
            <a:spLocks noGrp="1"/>
          </p:cNvSpPr>
          <p:nvPr/>
        </p:nvSpPr>
        <p:spPr>
          <a:xfrm>
            <a:off x="9144000" y="4572000"/>
            <a:ext cx="1325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FR-08</a:t>
            </a:r>
            <a:b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</a:br>
            <a: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P3</a:t>
            </a:r>
            <a:endParaRPr/>
          </a:p>
        </p:txBody>
      </p:sp>
      <p:sp>
        <p:nvSpPr>
          <p:cNvPr id="313" name="Google Shape;313;p26">
            <a:extLst>
              <a:ext uri="{FF2B5EF4-FFF2-40B4-BE49-F238E27FC236}">
                <a16:creationId xmlns:a16="http://schemas.microsoft.com/office/drawing/2014/main" id="{80D75E43-ADB4-494F-B4A5-1721E8CBDA44}"/>
              </a:ext>
            </a:extLst>
          </p:cNvPr>
          <p:cNvSpPr>
            <a:spLocks noGrp="1"/>
          </p:cNvSpPr>
          <p:nvPr/>
        </p:nvSpPr>
        <p:spPr>
          <a:xfrm>
            <a:off x="10469880" y="4759452"/>
            <a:ext cx="1005840" cy="402336"/>
          </a:xfrm>
          <a:prstGeom prst="roundRect">
            <a:avLst>
              <a:gd name="adj" fmla="val 25000"/>
            </a:avLst>
          </a:prstGeom>
          <a:solidFill>
            <a:srgbClr val="5F6B7A"/>
          </a:solidFill>
          <a:ln>
            <a:noFill/>
          </a:ln>
        </p:spPr>
        <p:txBody>
          <a:bodyPr spcFirstLastPara="1" wrap="square" lIns="18275" tIns="18275" rIns="18275" bIns="18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Could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8093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7">
            <a:extLst>
              <a:ext uri="{FF2B5EF4-FFF2-40B4-BE49-F238E27FC236}">
                <a16:creationId xmlns:a16="http://schemas.microsoft.com/office/drawing/2014/main" id="{2AE4C85C-F4C0-4DFC-9133-131A50E23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3. User story</a:t>
            </a:r>
            <a:endParaRPr/>
          </a:p>
        </p:txBody>
      </p:sp>
      <p:sp>
        <p:nvSpPr>
          <p:cNvPr id="320" name="Google Shape;320;p27">
            <a:extLst>
              <a:ext uri="{FF2B5EF4-FFF2-40B4-BE49-F238E27FC236}">
                <a16:creationId xmlns:a16="http://schemas.microsoft.com/office/drawing/2014/main" id="{1935B242-E408-40F4-AB6D-E224E17AA3D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13</a:t>
            </a:r>
            <a:endParaRPr/>
          </a:p>
        </p:txBody>
      </p:sp>
      <p:sp>
        <p:nvSpPr>
          <p:cNvPr id="321" name="Google Shape;321;p27">
            <a:extLst>
              <a:ext uri="{FF2B5EF4-FFF2-40B4-BE49-F238E27FC236}">
                <a16:creationId xmlns:a16="http://schemas.microsoft.com/office/drawing/2014/main" id="{072C86C2-7CD9-48C5-8D1E-FFC192508EBA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Người chăm sóc: theo dõi từ xa</a:t>
            </a:r>
            <a:endParaRPr/>
          </a:p>
        </p:txBody>
      </p:sp>
      <p:sp>
        <p:nvSpPr>
          <p:cNvPr id="322" name="Google Shape;322;p27">
            <a:extLst>
              <a:ext uri="{FF2B5EF4-FFF2-40B4-BE49-F238E27FC236}">
                <a16:creationId xmlns:a16="http://schemas.microsoft.com/office/drawing/2014/main" id="{A55BD951-014F-4C3A-BDF7-AF3C4620D20D}"/>
              </a:ext>
            </a:extLst>
          </p:cNvPr>
          <p:cNvSpPr>
            <a:spLocks noGrp="1"/>
          </p:cNvSpPr>
          <p:nvPr/>
        </p:nvSpPr>
        <p:spPr>
          <a:xfrm>
            <a:off x="548640" y="148132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23" name="Google Shape;323;p27">
            <a:extLst>
              <a:ext uri="{FF2B5EF4-FFF2-40B4-BE49-F238E27FC236}">
                <a16:creationId xmlns:a16="http://schemas.microsoft.com/office/drawing/2014/main" id="{E2C954BE-5F0E-445D-B39E-C4B29551CBB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364" y="1606052"/>
            <a:ext cx="317479" cy="317479"/>
          </a:xfrm>
          <a:prstGeom prst="rect">
            <a:avLst/>
          </a:prstGeom>
          <a:ln>
            <a:noFill/>
          </a:ln>
        </p:spPr>
      </p:pic>
      <p:sp>
        <p:nvSpPr>
          <p:cNvPr id="324" name="Google Shape;324;p27">
            <a:extLst>
              <a:ext uri="{FF2B5EF4-FFF2-40B4-BE49-F238E27FC236}">
                <a16:creationId xmlns:a16="http://schemas.microsoft.com/office/drawing/2014/main" id="{F3D9E5EB-68BA-4695-87B8-B005570F6A54}"/>
              </a:ext>
            </a:extLst>
          </p:cNvPr>
          <p:cNvSpPr>
            <a:spLocks noGrp="1"/>
          </p:cNvSpPr>
          <p:nvPr/>
        </p:nvSpPr>
        <p:spPr>
          <a:xfrm>
            <a:off x="1234440" y="1481328"/>
            <a:ext cx="100584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sz="22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Là </a:t>
            </a:r>
            <a:r>
              <a:rPr sz="22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người con (người chăm sóc)</a:t>
            </a:r>
            <a:endParaRPr/>
          </a:p>
        </p:txBody>
      </p:sp>
      <p:sp>
        <p:nvSpPr>
          <p:cNvPr id="325" name="Google Shape;325;p27">
            <a:extLst>
              <a:ext uri="{FF2B5EF4-FFF2-40B4-BE49-F238E27FC236}">
                <a16:creationId xmlns:a16="http://schemas.microsoft.com/office/drawing/2014/main" id="{31970047-B8F4-4945-A5BA-3D9F8768B7B3}"/>
              </a:ext>
            </a:extLst>
          </p:cNvPr>
          <p:cNvSpPr>
            <a:spLocks noGrp="1"/>
          </p:cNvSpPr>
          <p:nvPr/>
        </p:nvSpPr>
        <p:spPr>
          <a:xfrm>
            <a:off x="548650" y="2143349"/>
            <a:ext cx="11064300" cy="965700"/>
          </a:xfrm>
          <a:prstGeom prst="roundRect">
            <a:avLst>
              <a:gd name="adj" fmla="val 2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6" name="Google Shape;326;p27">
            <a:extLst>
              <a:ext uri="{FF2B5EF4-FFF2-40B4-BE49-F238E27FC236}">
                <a16:creationId xmlns:a16="http://schemas.microsoft.com/office/drawing/2014/main" id="{8E5D61AE-A8B0-43B0-9BEE-A5BA4A23A112}"/>
              </a:ext>
            </a:extLst>
          </p:cNvPr>
          <p:cNvSpPr>
            <a:spLocks noGrp="1"/>
          </p:cNvSpPr>
          <p:nvPr/>
        </p:nvSpPr>
        <p:spPr>
          <a:xfrm>
            <a:off x="731520" y="2446020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27425" tIns="27425" rIns="27425" bIns="27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US-03</a:t>
            </a:r>
            <a:endParaRPr/>
          </a:p>
        </p:txBody>
      </p:sp>
      <p:sp>
        <p:nvSpPr>
          <p:cNvPr id="327" name="Google Shape;327;p27">
            <a:extLst>
              <a:ext uri="{FF2B5EF4-FFF2-40B4-BE49-F238E27FC236}">
                <a16:creationId xmlns:a16="http://schemas.microsoft.com/office/drawing/2014/main" id="{334E405F-407C-4A44-834F-56C45E8E0952}"/>
              </a:ext>
            </a:extLst>
          </p:cNvPr>
          <p:cNvSpPr>
            <a:spLocks noGrp="1"/>
          </p:cNvSpPr>
          <p:nvPr/>
        </p:nvSpPr>
        <p:spPr>
          <a:xfrm>
            <a:off x="2148840" y="2313432"/>
            <a:ext cx="6949440" cy="722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21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Tôi muốn nhận cảnh báo cữ bỏ lỡ</a:t>
            </a:r>
            <a:endParaRPr/>
          </a:p>
          <a:p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21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Để gọi nhắc người thân kịp thời</a:t>
            </a:r>
          </a:p>
        </p:txBody>
      </p:sp>
      <p:sp>
        <p:nvSpPr>
          <p:cNvPr id="328" name="Google Shape;328;p27">
            <a:extLst>
              <a:ext uri="{FF2B5EF4-FFF2-40B4-BE49-F238E27FC236}">
                <a16:creationId xmlns:a16="http://schemas.microsoft.com/office/drawing/2014/main" id="{9C88DA7F-C6C3-4849-A903-58C593715A16}"/>
              </a:ext>
            </a:extLst>
          </p:cNvPr>
          <p:cNvSpPr>
            <a:spLocks noGrp="1"/>
          </p:cNvSpPr>
          <p:nvPr/>
        </p:nvSpPr>
        <p:spPr>
          <a:xfrm>
            <a:off x="9144000" y="2331720"/>
            <a:ext cx="1325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FR-12</a:t>
            </a:r>
            <a:b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</a:br>
            <a: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P4</a:t>
            </a:r>
            <a:endParaRPr/>
          </a:p>
        </p:txBody>
      </p:sp>
      <p:sp>
        <p:nvSpPr>
          <p:cNvPr id="329" name="Google Shape;329;p27">
            <a:extLst>
              <a:ext uri="{FF2B5EF4-FFF2-40B4-BE49-F238E27FC236}">
                <a16:creationId xmlns:a16="http://schemas.microsoft.com/office/drawing/2014/main" id="{DA4CA569-05FA-440A-898B-4A60FF794022}"/>
              </a:ext>
            </a:extLst>
          </p:cNvPr>
          <p:cNvSpPr>
            <a:spLocks noGrp="1"/>
          </p:cNvSpPr>
          <p:nvPr/>
        </p:nvSpPr>
        <p:spPr>
          <a:xfrm>
            <a:off x="10469880" y="2473452"/>
            <a:ext cx="1005840" cy="402336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18275" tIns="18275" rIns="18275" bIns="18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Must</a:t>
            </a:r>
            <a:endParaRPr/>
          </a:p>
        </p:txBody>
      </p:sp>
      <p:sp>
        <p:nvSpPr>
          <p:cNvPr id="330" name="Google Shape;330;p27">
            <a:extLst>
              <a:ext uri="{FF2B5EF4-FFF2-40B4-BE49-F238E27FC236}">
                <a16:creationId xmlns:a16="http://schemas.microsoft.com/office/drawing/2014/main" id="{4C000E7E-7D99-4428-A88E-126BF612FFAF}"/>
              </a:ext>
            </a:extLst>
          </p:cNvPr>
          <p:cNvSpPr>
            <a:spLocks noGrp="1"/>
          </p:cNvSpPr>
          <p:nvPr/>
        </p:nvSpPr>
        <p:spPr>
          <a:xfrm>
            <a:off x="548640" y="3218688"/>
            <a:ext cx="11064240" cy="868680"/>
          </a:xfrm>
          <a:prstGeom prst="roundRect">
            <a:avLst>
              <a:gd name="adj" fmla="val 2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1" name="Google Shape;331;p27">
            <a:extLst>
              <a:ext uri="{FF2B5EF4-FFF2-40B4-BE49-F238E27FC236}">
                <a16:creationId xmlns:a16="http://schemas.microsoft.com/office/drawing/2014/main" id="{42B632F0-4D6A-4E2B-BCF9-0BC6885FC2E2}"/>
              </a:ext>
            </a:extLst>
          </p:cNvPr>
          <p:cNvSpPr>
            <a:spLocks noGrp="1"/>
          </p:cNvSpPr>
          <p:nvPr/>
        </p:nvSpPr>
        <p:spPr>
          <a:xfrm>
            <a:off x="731520" y="3424428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27425" tIns="27425" rIns="27425" bIns="27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US-04</a:t>
            </a:r>
            <a:endParaRPr/>
          </a:p>
        </p:txBody>
      </p:sp>
      <p:sp>
        <p:nvSpPr>
          <p:cNvPr id="332" name="Google Shape;332;p27">
            <a:extLst>
              <a:ext uri="{FF2B5EF4-FFF2-40B4-BE49-F238E27FC236}">
                <a16:creationId xmlns:a16="http://schemas.microsoft.com/office/drawing/2014/main" id="{E5C2725A-CDA3-43FA-8240-A7A52EE22AC1}"/>
              </a:ext>
            </a:extLst>
          </p:cNvPr>
          <p:cNvSpPr>
            <a:spLocks noGrp="1"/>
          </p:cNvSpPr>
          <p:nvPr/>
        </p:nvSpPr>
        <p:spPr>
          <a:xfrm>
            <a:off x="2148840" y="3291840"/>
            <a:ext cx="6949440" cy="722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8"/>
              <a:buFont typeface="Arial"/>
              <a:buNone/>
            </a:pPr>
            <a:r>
              <a:rPr sz="1898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Tôi muốn xem s</a:t>
            </a:r>
            <a:r>
              <a:rPr sz="1898">
                <a:solidFill>
                  <a:srgbClr val="595959"/>
                </a:solidFill>
              </a:rPr>
              <a:t>ự</a:t>
            </a:r>
            <a:r>
              <a:rPr sz="1898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 tuân thủ trong 7, 30, 90 ngày</a:t>
            </a:r>
            <a:endParaRPr/>
          </a:p>
          <a:p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8"/>
              <a:buFont typeface="Arial"/>
              <a:buNone/>
            </a:pPr>
            <a:r>
              <a:rPr sz="1898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Để giảm việc gọi hỏi hằng ngày</a:t>
            </a:r>
            <a:endParaRPr/>
          </a:p>
        </p:txBody>
      </p:sp>
      <p:sp>
        <p:nvSpPr>
          <p:cNvPr id="333" name="Google Shape;333;p27">
            <a:extLst>
              <a:ext uri="{FF2B5EF4-FFF2-40B4-BE49-F238E27FC236}">
                <a16:creationId xmlns:a16="http://schemas.microsoft.com/office/drawing/2014/main" id="{F8A565C6-627A-427F-BBB2-2BBF53DBF23B}"/>
              </a:ext>
            </a:extLst>
          </p:cNvPr>
          <p:cNvSpPr>
            <a:spLocks noGrp="1"/>
          </p:cNvSpPr>
          <p:nvPr/>
        </p:nvSpPr>
        <p:spPr>
          <a:xfrm>
            <a:off x="9144000" y="3310128"/>
            <a:ext cx="1325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FR-19</a:t>
            </a:r>
            <a:b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</a:br>
            <a: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P4</a:t>
            </a:r>
            <a:endParaRPr/>
          </a:p>
        </p:txBody>
      </p:sp>
      <p:sp>
        <p:nvSpPr>
          <p:cNvPr id="334" name="Google Shape;334;p27">
            <a:extLst>
              <a:ext uri="{FF2B5EF4-FFF2-40B4-BE49-F238E27FC236}">
                <a16:creationId xmlns:a16="http://schemas.microsoft.com/office/drawing/2014/main" id="{22468FC5-6070-4AD5-944B-2381C0A372CB}"/>
              </a:ext>
            </a:extLst>
          </p:cNvPr>
          <p:cNvSpPr>
            <a:spLocks noGrp="1"/>
          </p:cNvSpPr>
          <p:nvPr/>
        </p:nvSpPr>
        <p:spPr>
          <a:xfrm>
            <a:off x="10469880" y="3451860"/>
            <a:ext cx="1005840" cy="402336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18275" tIns="18275" rIns="18275" bIns="18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Must</a:t>
            </a:r>
            <a:endParaRPr/>
          </a:p>
        </p:txBody>
      </p:sp>
      <p:sp>
        <p:nvSpPr>
          <p:cNvPr id="335" name="Google Shape;335;p27">
            <a:extLst>
              <a:ext uri="{FF2B5EF4-FFF2-40B4-BE49-F238E27FC236}">
                <a16:creationId xmlns:a16="http://schemas.microsoft.com/office/drawing/2014/main" id="{C5B5A4B1-91B9-415A-8A8C-8C599C7A2FB2}"/>
              </a:ext>
            </a:extLst>
          </p:cNvPr>
          <p:cNvSpPr>
            <a:spLocks noGrp="1"/>
          </p:cNvSpPr>
          <p:nvPr/>
        </p:nvSpPr>
        <p:spPr>
          <a:xfrm>
            <a:off x="548640" y="4197096"/>
            <a:ext cx="11064240" cy="868680"/>
          </a:xfrm>
          <a:prstGeom prst="roundRect">
            <a:avLst>
              <a:gd name="adj" fmla="val 2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6" name="Google Shape;336;p27">
            <a:extLst>
              <a:ext uri="{FF2B5EF4-FFF2-40B4-BE49-F238E27FC236}">
                <a16:creationId xmlns:a16="http://schemas.microsoft.com/office/drawing/2014/main" id="{D8D24134-13E5-433A-A556-7B7B9A748BA9}"/>
              </a:ext>
            </a:extLst>
          </p:cNvPr>
          <p:cNvSpPr>
            <a:spLocks noGrp="1"/>
          </p:cNvSpPr>
          <p:nvPr/>
        </p:nvSpPr>
        <p:spPr>
          <a:xfrm>
            <a:off x="731520" y="4402836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27425" tIns="27425" rIns="27425" bIns="27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US-05</a:t>
            </a:r>
            <a:endParaRPr/>
          </a:p>
        </p:txBody>
      </p:sp>
      <p:sp>
        <p:nvSpPr>
          <p:cNvPr id="337" name="Google Shape;337;p27">
            <a:extLst>
              <a:ext uri="{FF2B5EF4-FFF2-40B4-BE49-F238E27FC236}">
                <a16:creationId xmlns:a16="http://schemas.microsoft.com/office/drawing/2014/main" id="{8EC7D2FB-BB6B-4D70-9D3F-553272924256}"/>
              </a:ext>
            </a:extLst>
          </p:cNvPr>
          <p:cNvSpPr>
            <a:spLocks noGrp="1"/>
          </p:cNvSpPr>
          <p:nvPr/>
        </p:nvSpPr>
        <p:spPr>
          <a:xfrm>
            <a:off x="2148840" y="4270248"/>
            <a:ext cx="6949440" cy="722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21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Tôi muốn </a:t>
            </a:r>
            <a:r>
              <a:rPr sz="21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xuất báo cáo PDF 30 ngày</a:t>
            </a:r>
            <a:endParaRPr/>
          </a:p>
          <a:p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1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Để bác sĩ có lịch sử ghi nhận</a:t>
            </a:r>
            <a:endParaRPr/>
          </a:p>
        </p:txBody>
      </p:sp>
      <p:sp>
        <p:nvSpPr>
          <p:cNvPr id="338" name="Google Shape;338;p27">
            <a:extLst>
              <a:ext uri="{FF2B5EF4-FFF2-40B4-BE49-F238E27FC236}">
                <a16:creationId xmlns:a16="http://schemas.microsoft.com/office/drawing/2014/main" id="{905694F2-C2A2-4289-A475-72BACB96E2CB}"/>
              </a:ext>
            </a:extLst>
          </p:cNvPr>
          <p:cNvSpPr>
            <a:spLocks noGrp="1"/>
          </p:cNvSpPr>
          <p:nvPr/>
        </p:nvSpPr>
        <p:spPr>
          <a:xfrm>
            <a:off x="9144000" y="4288536"/>
            <a:ext cx="1325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FR-20</a:t>
            </a:r>
            <a:b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</a:br>
            <a: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P6</a:t>
            </a:r>
            <a:endParaRPr/>
          </a:p>
        </p:txBody>
      </p:sp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99DF0BCD-6136-4834-B408-ECFCF28A1B1A}"/>
              </a:ext>
            </a:extLst>
          </p:cNvPr>
          <p:cNvSpPr>
            <a:spLocks noGrp="1"/>
          </p:cNvSpPr>
          <p:nvPr/>
        </p:nvSpPr>
        <p:spPr>
          <a:xfrm>
            <a:off x="10469880" y="4430268"/>
            <a:ext cx="1005840" cy="402336"/>
          </a:xfrm>
          <a:prstGeom prst="roundRect">
            <a:avLst>
              <a:gd name="adj" fmla="val 25000"/>
            </a:avLst>
          </a:prstGeom>
          <a:solidFill>
            <a:srgbClr val="B26A00"/>
          </a:solidFill>
          <a:ln>
            <a:noFill/>
          </a:ln>
        </p:spPr>
        <p:txBody>
          <a:bodyPr spcFirstLastPara="1" wrap="square" lIns="18275" tIns="18275" rIns="18275" bIns="18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Should</a:t>
            </a:r>
            <a:endParaRPr/>
          </a:p>
        </p:txBody>
      </p:sp>
      <p:sp>
        <p:nvSpPr>
          <p:cNvPr id="340" name="Google Shape;340;p27">
            <a:extLst>
              <a:ext uri="{FF2B5EF4-FFF2-40B4-BE49-F238E27FC236}">
                <a16:creationId xmlns:a16="http://schemas.microsoft.com/office/drawing/2014/main" id="{FAEE1DBA-5B8D-4E38-89A6-CA7488E0D8E3}"/>
              </a:ext>
            </a:extLst>
          </p:cNvPr>
          <p:cNvSpPr>
            <a:spLocks noGrp="1"/>
          </p:cNvSpPr>
          <p:nvPr/>
        </p:nvSpPr>
        <p:spPr>
          <a:xfrm>
            <a:off x="548640" y="5175504"/>
            <a:ext cx="11064240" cy="868680"/>
          </a:xfrm>
          <a:prstGeom prst="roundRect">
            <a:avLst>
              <a:gd name="adj" fmla="val 2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1" name="Google Shape;341;p27">
            <a:extLst>
              <a:ext uri="{FF2B5EF4-FFF2-40B4-BE49-F238E27FC236}">
                <a16:creationId xmlns:a16="http://schemas.microsoft.com/office/drawing/2014/main" id="{8FA1149C-CA6A-4ABA-B4A4-16A54976E76E}"/>
              </a:ext>
            </a:extLst>
          </p:cNvPr>
          <p:cNvSpPr>
            <a:spLocks noGrp="1"/>
          </p:cNvSpPr>
          <p:nvPr/>
        </p:nvSpPr>
        <p:spPr>
          <a:xfrm>
            <a:off x="731520" y="5381244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27425" tIns="27425" rIns="27425" bIns="27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US-06</a:t>
            </a:r>
            <a:endParaRPr/>
          </a:p>
        </p:txBody>
      </p:sp>
      <p:sp>
        <p:nvSpPr>
          <p:cNvPr id="342" name="Google Shape;342;p27">
            <a:extLst>
              <a:ext uri="{FF2B5EF4-FFF2-40B4-BE49-F238E27FC236}">
                <a16:creationId xmlns:a16="http://schemas.microsoft.com/office/drawing/2014/main" id="{9AB3F5A8-F6F3-416B-9752-207BE42E64B7}"/>
              </a:ext>
            </a:extLst>
          </p:cNvPr>
          <p:cNvSpPr>
            <a:spLocks noGrp="1"/>
          </p:cNvSpPr>
          <p:nvPr/>
        </p:nvSpPr>
        <p:spPr>
          <a:xfrm>
            <a:off x="2148840" y="5248656"/>
            <a:ext cx="6949440" cy="722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21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Tôi muốn </a:t>
            </a:r>
            <a:r>
              <a:rPr sz="21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ủy quyền </a:t>
            </a:r>
            <a:r>
              <a:rPr sz="2100" b="1">
                <a:solidFill>
                  <a:srgbClr val="1F1F1F"/>
                </a:solidFill>
              </a:rPr>
              <a:t>người thân</a:t>
            </a:r>
            <a:r>
              <a:rPr sz="21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xác nhận hộ</a:t>
            </a:r>
            <a:endParaRPr/>
          </a:p>
          <a:p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1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Để </a:t>
            </a:r>
            <a:r>
              <a:rPr sz="19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có người hỗ trợ tại chỗ</a:t>
            </a:r>
            <a:endParaRPr/>
          </a:p>
        </p:txBody>
      </p:sp>
      <p:sp>
        <p:nvSpPr>
          <p:cNvPr id="343" name="Google Shape;343;p27">
            <a:extLst>
              <a:ext uri="{FF2B5EF4-FFF2-40B4-BE49-F238E27FC236}">
                <a16:creationId xmlns:a16="http://schemas.microsoft.com/office/drawing/2014/main" id="{C49682D9-2461-4373-A5AC-B0136D95252E}"/>
              </a:ext>
            </a:extLst>
          </p:cNvPr>
          <p:cNvSpPr>
            <a:spLocks noGrp="1"/>
          </p:cNvSpPr>
          <p:nvPr/>
        </p:nvSpPr>
        <p:spPr>
          <a:xfrm>
            <a:off x="9144000" y="5266944"/>
            <a:ext cx="1325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FR-03</a:t>
            </a:r>
            <a:b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</a:br>
            <a: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P5</a:t>
            </a:r>
            <a:endParaRPr/>
          </a:p>
        </p:txBody>
      </p:sp>
      <p:sp>
        <p:nvSpPr>
          <p:cNvPr id="344" name="Google Shape;344;p27">
            <a:extLst>
              <a:ext uri="{FF2B5EF4-FFF2-40B4-BE49-F238E27FC236}">
                <a16:creationId xmlns:a16="http://schemas.microsoft.com/office/drawing/2014/main" id="{E2FA913A-9E34-4D0B-AF1F-B8957A16C6C2}"/>
              </a:ext>
            </a:extLst>
          </p:cNvPr>
          <p:cNvSpPr>
            <a:spLocks noGrp="1"/>
          </p:cNvSpPr>
          <p:nvPr/>
        </p:nvSpPr>
        <p:spPr>
          <a:xfrm>
            <a:off x="10469880" y="5408676"/>
            <a:ext cx="1005840" cy="402336"/>
          </a:xfrm>
          <a:prstGeom prst="roundRect">
            <a:avLst>
              <a:gd name="adj" fmla="val 25000"/>
            </a:avLst>
          </a:prstGeom>
          <a:solidFill>
            <a:srgbClr val="B26A00"/>
          </a:solidFill>
          <a:ln>
            <a:noFill/>
          </a:ln>
        </p:spPr>
        <p:txBody>
          <a:bodyPr spcFirstLastPara="1" wrap="square" lIns="18275" tIns="18275" rIns="18275" bIns="18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Should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2979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8">
            <a:extLst>
              <a:ext uri="{FF2B5EF4-FFF2-40B4-BE49-F238E27FC236}">
                <a16:creationId xmlns:a16="http://schemas.microsoft.com/office/drawing/2014/main" id="{7D10F4E7-B4B7-4583-A7F3-14D5D0317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3. User story</a:t>
            </a:r>
            <a:endParaRPr/>
          </a:p>
        </p:txBody>
      </p:sp>
      <p:sp>
        <p:nvSpPr>
          <p:cNvPr id="351" name="Google Shape;351;p28">
            <a:extLst>
              <a:ext uri="{FF2B5EF4-FFF2-40B4-BE49-F238E27FC236}">
                <a16:creationId xmlns:a16="http://schemas.microsoft.com/office/drawing/2014/main" id="{9E7607D3-494A-4869-A3F4-561F33F5291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14</a:t>
            </a:r>
            <a:endParaRPr/>
          </a:p>
        </p:txBody>
      </p:sp>
      <p:sp>
        <p:nvSpPr>
          <p:cNvPr id="352" name="Google Shape;352;p28">
            <a:extLst>
              <a:ext uri="{FF2B5EF4-FFF2-40B4-BE49-F238E27FC236}">
                <a16:creationId xmlns:a16="http://schemas.microsoft.com/office/drawing/2014/main" id="{6D3589C7-9219-49F2-830A-251873F573E6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Bệnh nhân: chỉ cần một nút bấm</a:t>
            </a:r>
            <a:endParaRPr/>
          </a:p>
        </p:txBody>
      </p:sp>
      <p:sp>
        <p:nvSpPr>
          <p:cNvPr id="353" name="Google Shape;353;p28">
            <a:extLst>
              <a:ext uri="{FF2B5EF4-FFF2-40B4-BE49-F238E27FC236}">
                <a16:creationId xmlns:a16="http://schemas.microsoft.com/office/drawing/2014/main" id="{0D3C2689-E14B-4C82-9A40-4CF8BBCD6571}"/>
              </a:ext>
            </a:extLst>
          </p:cNvPr>
          <p:cNvSpPr>
            <a:spLocks noGrp="1"/>
          </p:cNvSpPr>
          <p:nvPr/>
        </p:nvSpPr>
        <p:spPr>
          <a:xfrm>
            <a:off x="548640" y="148132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54" name="Google Shape;354;p28">
            <a:extLst>
              <a:ext uri="{FF2B5EF4-FFF2-40B4-BE49-F238E27FC236}">
                <a16:creationId xmlns:a16="http://schemas.microsoft.com/office/drawing/2014/main" id="{94C97AEF-CB13-414C-BDF8-C076050A373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364" y="1606052"/>
            <a:ext cx="317479" cy="317479"/>
          </a:xfrm>
          <a:prstGeom prst="rect">
            <a:avLst/>
          </a:prstGeom>
          <a:ln>
            <a:noFill/>
          </a:ln>
        </p:spPr>
      </p:pic>
      <p:sp>
        <p:nvSpPr>
          <p:cNvPr id="355" name="Google Shape;355;p28">
            <a:extLst>
              <a:ext uri="{FF2B5EF4-FFF2-40B4-BE49-F238E27FC236}">
                <a16:creationId xmlns:a16="http://schemas.microsoft.com/office/drawing/2014/main" id="{430EBACE-00F5-4A57-8189-41D154FE9D87}"/>
              </a:ext>
            </a:extLst>
          </p:cNvPr>
          <p:cNvSpPr>
            <a:spLocks noGrp="1"/>
          </p:cNvSpPr>
          <p:nvPr/>
        </p:nvSpPr>
        <p:spPr>
          <a:xfrm>
            <a:off x="1234440" y="1481328"/>
            <a:ext cx="100584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sz="22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Là </a:t>
            </a:r>
            <a:r>
              <a:rPr sz="22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bệnh nhân cao tuổi</a:t>
            </a:r>
            <a:endParaRPr/>
          </a:p>
        </p:txBody>
      </p:sp>
      <p:sp>
        <p:nvSpPr>
          <p:cNvPr id="356" name="Google Shape;356;p28">
            <a:extLst>
              <a:ext uri="{FF2B5EF4-FFF2-40B4-BE49-F238E27FC236}">
                <a16:creationId xmlns:a16="http://schemas.microsoft.com/office/drawing/2014/main" id="{5BB5AE48-06E7-4C20-893E-EC8F10A14792}"/>
              </a:ext>
            </a:extLst>
          </p:cNvPr>
          <p:cNvSpPr>
            <a:spLocks noGrp="1"/>
          </p:cNvSpPr>
          <p:nvPr/>
        </p:nvSpPr>
        <p:spPr>
          <a:xfrm>
            <a:off x="548640" y="2286000"/>
            <a:ext cx="7589520" cy="96012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7" name="Google Shape;357;p28">
            <a:extLst>
              <a:ext uri="{FF2B5EF4-FFF2-40B4-BE49-F238E27FC236}">
                <a16:creationId xmlns:a16="http://schemas.microsoft.com/office/drawing/2014/main" id="{C84E9AE2-0053-43F4-8E4C-6351893B8131}"/>
              </a:ext>
            </a:extLst>
          </p:cNvPr>
          <p:cNvSpPr>
            <a:spLocks noGrp="1"/>
          </p:cNvSpPr>
          <p:nvPr/>
        </p:nvSpPr>
        <p:spPr>
          <a:xfrm>
            <a:off x="731520" y="2542032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27425" tIns="27425" rIns="27425" bIns="27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US-08</a:t>
            </a:r>
            <a:endParaRPr/>
          </a:p>
        </p:txBody>
      </p:sp>
      <p:sp>
        <p:nvSpPr>
          <p:cNvPr id="358" name="Google Shape;358;p28">
            <a:extLst>
              <a:ext uri="{FF2B5EF4-FFF2-40B4-BE49-F238E27FC236}">
                <a16:creationId xmlns:a16="http://schemas.microsoft.com/office/drawing/2014/main" id="{1530461C-5A33-490C-A6E0-7038E4F32667}"/>
              </a:ext>
            </a:extLst>
          </p:cNvPr>
          <p:cNvSpPr>
            <a:spLocks noGrp="1"/>
          </p:cNvSpPr>
          <p:nvPr/>
        </p:nvSpPr>
        <p:spPr>
          <a:xfrm>
            <a:off x="2148840" y="2359152"/>
            <a:ext cx="4663440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Tôi muốn nhận nhắc nhở, chữ lớn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Để </a:t>
            </a:r>
            <a:r>
              <a:rPr sz="18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không lỡ giờ uống</a:t>
            </a:r>
            <a:endParaRPr/>
          </a:p>
        </p:txBody>
      </p:sp>
      <p:sp>
        <p:nvSpPr>
          <p:cNvPr id="359" name="Google Shape;359;p28">
            <a:extLst>
              <a:ext uri="{FF2B5EF4-FFF2-40B4-BE49-F238E27FC236}">
                <a16:creationId xmlns:a16="http://schemas.microsoft.com/office/drawing/2014/main" id="{8993CAA5-E286-45A1-BCFB-08D81EA8B208}"/>
              </a:ext>
            </a:extLst>
          </p:cNvPr>
          <p:cNvSpPr>
            <a:spLocks noGrp="1"/>
          </p:cNvSpPr>
          <p:nvPr/>
        </p:nvSpPr>
        <p:spPr>
          <a:xfrm>
            <a:off x="6858000" y="2377440"/>
            <a:ext cx="12344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FR-10</a:t>
            </a:r>
            <a:br>
              <a: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</a:br>
            <a:r>
              <a: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P2</a:t>
            </a:r>
            <a:endParaRPr/>
          </a:p>
        </p:txBody>
      </p:sp>
      <p:sp>
        <p:nvSpPr>
          <p:cNvPr id="360" name="Google Shape;360;p28">
            <a:extLst>
              <a:ext uri="{FF2B5EF4-FFF2-40B4-BE49-F238E27FC236}">
                <a16:creationId xmlns:a16="http://schemas.microsoft.com/office/drawing/2014/main" id="{6EA439A1-CA46-4FF3-848E-B3BBA3A6DE2F}"/>
              </a:ext>
            </a:extLst>
          </p:cNvPr>
          <p:cNvSpPr>
            <a:spLocks noGrp="1"/>
          </p:cNvSpPr>
          <p:nvPr/>
        </p:nvSpPr>
        <p:spPr>
          <a:xfrm>
            <a:off x="548640" y="3383280"/>
            <a:ext cx="7589520" cy="96012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1" name="Google Shape;361;p28">
            <a:extLst>
              <a:ext uri="{FF2B5EF4-FFF2-40B4-BE49-F238E27FC236}">
                <a16:creationId xmlns:a16="http://schemas.microsoft.com/office/drawing/2014/main" id="{48200222-6F71-47E8-9C32-0F5159AF3BF1}"/>
              </a:ext>
            </a:extLst>
          </p:cNvPr>
          <p:cNvSpPr>
            <a:spLocks noGrp="1"/>
          </p:cNvSpPr>
          <p:nvPr/>
        </p:nvSpPr>
        <p:spPr>
          <a:xfrm>
            <a:off x="731520" y="3639312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27425" tIns="27425" rIns="27425" bIns="27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US-09</a:t>
            </a:r>
            <a:endParaRPr/>
          </a:p>
        </p:txBody>
      </p:sp>
      <p:sp>
        <p:nvSpPr>
          <p:cNvPr id="362" name="Google Shape;362;p28">
            <a:extLst>
              <a:ext uri="{FF2B5EF4-FFF2-40B4-BE49-F238E27FC236}">
                <a16:creationId xmlns:a16="http://schemas.microsoft.com/office/drawing/2014/main" id="{B017E278-B8A2-4394-8BA2-C179F4B42E97}"/>
              </a:ext>
            </a:extLst>
          </p:cNvPr>
          <p:cNvSpPr>
            <a:spLocks noGrp="1"/>
          </p:cNvSpPr>
          <p:nvPr/>
        </p:nvSpPr>
        <p:spPr>
          <a:xfrm>
            <a:off x="2148840" y="3456432"/>
            <a:ext cx="4663440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Tôi muốn </a:t>
            </a:r>
            <a:r>
              <a:rPr sz="2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bấm một nút "Đã uống"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Để </a:t>
            </a:r>
            <a:r>
              <a:rPr sz="18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xác nhận không cần đăng nhập</a:t>
            </a:r>
            <a:endParaRPr/>
          </a:p>
        </p:txBody>
      </p:sp>
      <p:sp>
        <p:nvSpPr>
          <p:cNvPr id="363" name="Google Shape;363;p28">
            <a:extLst>
              <a:ext uri="{FF2B5EF4-FFF2-40B4-BE49-F238E27FC236}">
                <a16:creationId xmlns:a16="http://schemas.microsoft.com/office/drawing/2014/main" id="{D9862177-F1A8-4C00-9C64-FE7E2019CD99}"/>
              </a:ext>
            </a:extLst>
          </p:cNvPr>
          <p:cNvSpPr>
            <a:spLocks noGrp="1"/>
          </p:cNvSpPr>
          <p:nvPr/>
        </p:nvSpPr>
        <p:spPr>
          <a:xfrm>
            <a:off x="6858000" y="3474720"/>
            <a:ext cx="12344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FR-11, 14, 15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P2, P6, P7</a:t>
            </a:r>
          </a:p>
        </p:txBody>
      </p:sp>
      <p:sp>
        <p:nvSpPr>
          <p:cNvPr id="364" name="Google Shape;364;p28">
            <a:extLst>
              <a:ext uri="{FF2B5EF4-FFF2-40B4-BE49-F238E27FC236}">
                <a16:creationId xmlns:a16="http://schemas.microsoft.com/office/drawing/2014/main" id="{FDCC1C83-FACE-4892-8F35-777B24FF10C0}"/>
              </a:ext>
            </a:extLst>
          </p:cNvPr>
          <p:cNvSpPr>
            <a:spLocks noGrp="1"/>
          </p:cNvSpPr>
          <p:nvPr/>
        </p:nvSpPr>
        <p:spPr>
          <a:xfrm>
            <a:off x="548640" y="4480560"/>
            <a:ext cx="7589520" cy="96012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5" name="Google Shape;365;p28">
            <a:extLst>
              <a:ext uri="{FF2B5EF4-FFF2-40B4-BE49-F238E27FC236}">
                <a16:creationId xmlns:a16="http://schemas.microsoft.com/office/drawing/2014/main" id="{8F9A517E-C5F9-44BF-9BC8-AF0ED0B95B30}"/>
              </a:ext>
            </a:extLst>
          </p:cNvPr>
          <p:cNvSpPr>
            <a:spLocks noGrp="1"/>
          </p:cNvSpPr>
          <p:nvPr/>
        </p:nvSpPr>
        <p:spPr>
          <a:xfrm>
            <a:off x="731520" y="4736592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27425" tIns="27425" rIns="27425" bIns="27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US-10</a:t>
            </a:r>
            <a:endParaRPr/>
          </a:p>
        </p:txBody>
      </p:sp>
      <p:sp>
        <p:nvSpPr>
          <p:cNvPr id="366" name="Google Shape;366;p28">
            <a:extLst>
              <a:ext uri="{FF2B5EF4-FFF2-40B4-BE49-F238E27FC236}">
                <a16:creationId xmlns:a16="http://schemas.microsoft.com/office/drawing/2014/main" id="{71A2224B-67AA-4ACE-BFF8-A0C5C6E9BA73}"/>
              </a:ext>
            </a:extLst>
          </p:cNvPr>
          <p:cNvSpPr>
            <a:spLocks noGrp="1"/>
          </p:cNvSpPr>
          <p:nvPr/>
        </p:nvSpPr>
        <p:spPr>
          <a:xfrm>
            <a:off x="2148840" y="4553712"/>
            <a:ext cx="4663440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Tôi muốn </a:t>
            </a:r>
            <a:r>
              <a:rPr sz="2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thấy giờ mình đã uống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Để </a:t>
            </a:r>
            <a:r>
              <a:rPr sz="18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không uống trùng liều</a:t>
            </a:r>
            <a:endParaRPr/>
          </a:p>
        </p:txBody>
      </p:sp>
      <p:sp>
        <p:nvSpPr>
          <p:cNvPr id="367" name="Google Shape;367;p28">
            <a:extLst>
              <a:ext uri="{FF2B5EF4-FFF2-40B4-BE49-F238E27FC236}">
                <a16:creationId xmlns:a16="http://schemas.microsoft.com/office/drawing/2014/main" id="{8568C663-20FC-4996-BFED-FDD3BDBFC132}"/>
              </a:ext>
            </a:extLst>
          </p:cNvPr>
          <p:cNvSpPr>
            <a:spLocks noGrp="1"/>
          </p:cNvSpPr>
          <p:nvPr/>
        </p:nvSpPr>
        <p:spPr>
          <a:xfrm>
            <a:off x="6858000" y="4572000"/>
            <a:ext cx="12344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FR-11</a:t>
            </a:r>
            <a:br>
              <a: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</a:br>
            <a:r>
              <a: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P2</a:t>
            </a:r>
            <a:endParaRPr/>
          </a:p>
        </p:txBody>
      </p:sp>
      <p:sp>
        <p:nvSpPr>
          <p:cNvPr id="368" name="Google Shape;368;p28">
            <a:extLst>
              <a:ext uri="{FF2B5EF4-FFF2-40B4-BE49-F238E27FC236}">
                <a16:creationId xmlns:a16="http://schemas.microsoft.com/office/drawing/2014/main" id="{E2F89727-D0EB-4C3B-B904-1E86AD7CE846}"/>
              </a:ext>
            </a:extLst>
          </p:cNvPr>
          <p:cNvSpPr>
            <a:spLocks noGrp="1"/>
          </p:cNvSpPr>
          <p:nvPr/>
        </p:nvSpPr>
        <p:spPr>
          <a:xfrm>
            <a:off x="8732520" y="1417320"/>
            <a:ext cx="2788920" cy="443484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9" name="Google Shape;369;p28">
            <a:extLst>
              <a:ext uri="{FF2B5EF4-FFF2-40B4-BE49-F238E27FC236}">
                <a16:creationId xmlns:a16="http://schemas.microsoft.com/office/drawing/2014/main" id="{6BDA63A7-3A34-439E-A7CB-45CC65B73E3E}"/>
              </a:ext>
            </a:extLst>
          </p:cNvPr>
          <p:cNvSpPr>
            <a:spLocks noGrp="1"/>
          </p:cNvSpPr>
          <p:nvPr/>
        </p:nvSpPr>
        <p:spPr>
          <a:xfrm>
            <a:off x="8887968" y="1645920"/>
            <a:ext cx="2478024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0" name="Google Shape;370;p28">
            <a:extLst>
              <a:ext uri="{FF2B5EF4-FFF2-40B4-BE49-F238E27FC236}">
                <a16:creationId xmlns:a16="http://schemas.microsoft.com/office/drawing/2014/main" id="{17671471-FD13-4990-A470-94FC7406D03B}"/>
              </a:ext>
            </a:extLst>
          </p:cNvPr>
          <p:cNvSpPr>
            <a:spLocks noGrp="1"/>
          </p:cNvSpPr>
          <p:nvPr/>
        </p:nvSpPr>
        <p:spPr>
          <a:xfrm>
            <a:off x="8887968" y="1737360"/>
            <a:ext cx="2478024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7:00  Cữ sáng</a:t>
            </a:r>
            <a:endParaRPr/>
          </a:p>
        </p:txBody>
      </p:sp>
      <p:sp>
        <p:nvSpPr>
          <p:cNvPr id="371" name="Google Shape;371;p28">
            <a:extLst>
              <a:ext uri="{FF2B5EF4-FFF2-40B4-BE49-F238E27FC236}">
                <a16:creationId xmlns:a16="http://schemas.microsoft.com/office/drawing/2014/main" id="{372C99EA-BDC5-4F91-92A9-2EE76FCAFBC2}"/>
              </a:ext>
            </a:extLst>
          </p:cNvPr>
          <p:cNvSpPr>
            <a:spLocks noGrp="1"/>
          </p:cNvSpPr>
          <p:nvPr/>
        </p:nvSpPr>
        <p:spPr>
          <a:xfrm>
            <a:off x="8887968" y="2148840"/>
            <a:ext cx="247802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Thuốc theo đơn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Liều và giờ theo đơn</a:t>
            </a:r>
            <a:endParaRPr/>
          </a:p>
        </p:txBody>
      </p:sp>
      <p:sp>
        <p:nvSpPr>
          <p:cNvPr id="372" name="Google Shape;372;p28">
            <a:extLst>
              <a:ext uri="{FF2B5EF4-FFF2-40B4-BE49-F238E27FC236}">
                <a16:creationId xmlns:a16="http://schemas.microsoft.com/office/drawing/2014/main" id="{C060D3B1-9484-46F4-8D92-CB9DAA3482B8}"/>
              </a:ext>
            </a:extLst>
          </p:cNvPr>
          <p:cNvSpPr>
            <a:spLocks noGrp="1"/>
          </p:cNvSpPr>
          <p:nvPr/>
        </p:nvSpPr>
        <p:spPr>
          <a:xfrm>
            <a:off x="9098280" y="3246120"/>
            <a:ext cx="2057400" cy="10515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txBody>
          <a:bodyPr spcFirstLastPara="1" wrap="square" lIns="137150" tIns="137150" rIns="137150" bIns="13715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ĐÃ UỐNG</a:t>
            </a:r>
            <a:endParaRPr/>
          </a:p>
        </p:txBody>
      </p:sp>
      <p:sp>
        <p:nvSpPr>
          <p:cNvPr id="373" name="Google Shape;373;p28">
            <a:extLst>
              <a:ext uri="{FF2B5EF4-FFF2-40B4-BE49-F238E27FC236}">
                <a16:creationId xmlns:a16="http://schemas.microsoft.com/office/drawing/2014/main" id="{F30212E4-6F02-4E25-8927-D8929F206598}"/>
              </a:ext>
            </a:extLst>
          </p:cNvPr>
          <p:cNvSpPr>
            <a:spLocks noGrp="1"/>
          </p:cNvSpPr>
          <p:nvPr/>
        </p:nvSpPr>
        <p:spPr>
          <a:xfrm>
            <a:off x="8887968" y="4526280"/>
            <a:ext cx="247802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Cữ tối qua: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đã uống lúc 19:05</a:t>
            </a:r>
            <a:endParaRPr/>
          </a:p>
        </p:txBody>
      </p:sp>
      <p:sp>
        <p:nvSpPr>
          <p:cNvPr id="374" name="Google Shape;374;p28">
            <a:extLst>
              <a:ext uri="{FF2B5EF4-FFF2-40B4-BE49-F238E27FC236}">
                <a16:creationId xmlns:a16="http://schemas.microsoft.com/office/drawing/2014/main" id="{25B517AE-5A48-470B-B27F-C0B1FE2CBAF4}"/>
              </a:ext>
            </a:extLst>
          </p:cNvPr>
          <p:cNvSpPr>
            <a:spLocks noGrp="1"/>
          </p:cNvSpPr>
          <p:nvPr/>
        </p:nvSpPr>
        <p:spPr>
          <a:xfrm>
            <a:off x="8732520" y="589788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1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Màn hình minh họa d</a:t>
            </a:r>
            <a:r>
              <a:rPr sz="1200" i="1">
                <a:solidFill>
                  <a:srgbClr val="595959"/>
                </a:solidFill>
              </a:rPr>
              <a:t>ự kiến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80545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>
            <a:extLst>
              <a:ext uri="{FF2B5EF4-FFF2-40B4-BE49-F238E27FC236}">
                <a16:creationId xmlns:a16="http://schemas.microsoft.com/office/drawing/2014/main" id="{72304E2B-32BB-4DBB-91B9-EFCDEA121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3. User story</a:t>
            </a:r>
            <a:endParaRPr/>
          </a:p>
        </p:txBody>
      </p:sp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0FF92017-E7CD-47D2-B12A-9A710B6A6C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15</a:t>
            </a:r>
            <a:endParaRPr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41FEF806-325A-49EB-962B-12B6BB23B02D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110680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lang="en-US" sz="3000" b="1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5</a:t>
            </a:r>
            <a:r>
              <a:rPr sz="3000" b="1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user story </a:t>
            </a:r>
            <a:r>
              <a:rPr sz="3000" b="1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bổ</a:t>
            </a:r>
            <a:r>
              <a:rPr sz="3000" b="1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sung</a:t>
            </a:r>
          </a:p>
        </p:txBody>
      </p:sp>
      <p:graphicFrame>
        <p:nvGraphicFramePr>
          <p:cNvPr id="126" name="Table 125">
            <a:extLst>
              <a:ext uri="{FF2B5EF4-FFF2-40B4-BE49-F238E27FC236}">
                <a16:creationId xmlns:a16="http://schemas.microsoft.com/office/drawing/2014/main" id="{80DE5B75-E075-4DC9-AE8D-59C1B524C20C}"/>
              </a:ext>
            </a:extLst>
          </p:cNvPr>
          <p:cNvGraphicFramePr/>
          <p:nvPr/>
        </p:nvGraphicFramePr>
        <p:xfrm>
          <a:off x="552450" y="1809750"/>
          <a:ext cx="11049000" cy="3857628"/>
        </p:xfrm>
        <a:graphic>
          <a:graphicData uri="http://schemas.openxmlformats.org/drawingml/2006/table">
            <a:tbl>
              <a:tblPr/>
              <a:tblGrid>
                <a:gridCol w="128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29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Story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Nhu cầu của người chăm sóc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Ưu tiên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FR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US-13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Tạo hồ sơ bằng tên gọi và năm sinh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Must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FR-01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US-14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Ghép thiết bị bằng mã một lần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Must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FR-02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US-15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Ghi chỉ số xét nghiệm sau đợt khám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Should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FR-16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US-16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Nhắc trước ngày tái khám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Should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FR-17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US-17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Xem nhật ký ai đã thao tác trên hồ sơ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Must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FR-18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238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9">
            <a:extLst>
              <a:ext uri="{FF2B5EF4-FFF2-40B4-BE49-F238E27FC236}">
                <a16:creationId xmlns:a16="http://schemas.microsoft.com/office/drawing/2014/main" id="{C5415BC3-AFE8-4A3C-983E-54F9926A8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600" cy="4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3. User story</a:t>
            </a:r>
            <a:endParaRPr/>
          </a:p>
        </p:txBody>
      </p:sp>
      <p:sp>
        <p:nvSpPr>
          <p:cNvPr id="381" name="Google Shape;381;p29">
            <a:extLst>
              <a:ext uri="{FF2B5EF4-FFF2-40B4-BE49-F238E27FC236}">
                <a16:creationId xmlns:a16="http://schemas.microsoft.com/office/drawing/2014/main" id="{8CF0C1B5-77DE-48ED-B733-D450B2CD49E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16</a:t>
            </a:r>
            <a:endParaRPr/>
          </a:p>
        </p:txBody>
      </p:sp>
      <p:sp>
        <p:nvSpPr>
          <p:cNvPr id="382" name="Google Shape;382;p29">
            <a:extLst>
              <a:ext uri="{FF2B5EF4-FFF2-40B4-BE49-F238E27FC236}">
                <a16:creationId xmlns:a16="http://schemas.microsoft.com/office/drawing/2014/main" id="{3E6489FD-4AFA-41C6-A622-AB3284378A5C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Tiêu chí chấp nhận của US-09</a:t>
            </a:r>
            <a:endParaRPr/>
          </a:p>
        </p:txBody>
      </p:sp>
      <p:sp>
        <p:nvSpPr>
          <p:cNvPr id="383" name="Google Shape;383;p29">
            <a:extLst>
              <a:ext uri="{FF2B5EF4-FFF2-40B4-BE49-F238E27FC236}">
                <a16:creationId xmlns:a16="http://schemas.microsoft.com/office/drawing/2014/main" id="{BA194EE7-CFBF-49E2-A87D-5CB60CC4E73C}"/>
              </a:ext>
            </a:extLst>
          </p:cNvPr>
          <p:cNvSpPr>
            <a:spLocks noGrp="1"/>
          </p:cNvSpPr>
          <p:nvPr/>
        </p:nvSpPr>
        <p:spPr>
          <a:xfrm>
            <a:off x="548640" y="1508760"/>
            <a:ext cx="11064300" cy="548700"/>
          </a:xfrm>
          <a:prstGeom prst="roundRect">
            <a:avLst>
              <a:gd name="adj" fmla="val 25000"/>
            </a:avLst>
          </a:prstGeom>
          <a:solidFill>
            <a:srgbClr val="FBEAEA"/>
          </a:solidFill>
          <a:ln>
            <a:noFill/>
          </a:ln>
        </p:spPr>
        <p:txBody>
          <a:bodyPr spcFirstLastPara="1" wrap="square" lIns="182875" tIns="182875" rIns="182875" bIns="18287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19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US-09 </a:t>
            </a:r>
            <a:r>
              <a:rPr sz="19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Tôi muốn bấm một nút "Đã uống"</a:t>
            </a:r>
            <a:endParaRPr/>
          </a:p>
        </p:txBody>
      </p:sp>
      <p:graphicFrame>
        <p:nvGraphicFramePr>
          <p:cNvPr id="384" name="Table 383">
            <a:extLst>
              <a:ext uri="{FF2B5EF4-FFF2-40B4-BE49-F238E27FC236}">
                <a16:creationId xmlns:a16="http://schemas.microsoft.com/office/drawing/2014/main" id="{DFA7AAA3-914B-45DA-9BE1-6209194CE9DD}"/>
              </a:ext>
            </a:extLst>
          </p:cNvPr>
          <p:cNvGraphicFramePr/>
          <p:nvPr/>
        </p:nvGraphicFramePr>
        <p:xfrm>
          <a:off x="552450" y="2286000"/>
          <a:ext cx="11049000" cy="32385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Tình huống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Cho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Khi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Thì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Bình thường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Cữ 7:00 đang chờ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Bấm "Đã uống"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Hiện "Đã uống lúc 7:04"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Bấm lại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Cữ đã xác nhận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Bấm thêm lần nữa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Hiển thị giờ đã xác nhận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Bấm muộn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Đã quá thời hạn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Bấm "Đã uống"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Ghi "Xác nhận muộn"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Mất mạng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Thiết bị đang offline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Bấm lúc 7:04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Lưu tạm, giữ giờ bấm khi gửi lại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088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0">
            <a:extLst>
              <a:ext uri="{FF2B5EF4-FFF2-40B4-BE49-F238E27FC236}">
                <a16:creationId xmlns:a16="http://schemas.microsoft.com/office/drawing/2014/main" id="{BAF7E8FB-A274-4370-A79D-24D69F95F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600" cy="4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3. User story</a:t>
            </a:r>
            <a:endParaRPr/>
          </a:p>
        </p:txBody>
      </p:sp>
      <p:sp>
        <p:nvSpPr>
          <p:cNvPr id="391" name="Google Shape;391;p30">
            <a:extLst>
              <a:ext uri="{FF2B5EF4-FFF2-40B4-BE49-F238E27FC236}">
                <a16:creationId xmlns:a16="http://schemas.microsoft.com/office/drawing/2014/main" id="{08F82D00-AB9E-4B3B-A00E-7E166E9AED3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17</a:t>
            </a:r>
            <a:endParaRPr/>
          </a:p>
        </p:txBody>
      </p:sp>
      <p:sp>
        <p:nvSpPr>
          <p:cNvPr id="392" name="Google Shape;392;p30">
            <a:extLst>
              <a:ext uri="{FF2B5EF4-FFF2-40B4-BE49-F238E27FC236}">
                <a16:creationId xmlns:a16="http://schemas.microsoft.com/office/drawing/2014/main" id="{AFF4E9D9-DEB0-4855-8964-4B14ACD5E617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Người nhà: hỗ trợ và xác nhận hộ</a:t>
            </a:r>
            <a:endParaRPr/>
          </a:p>
        </p:txBody>
      </p:sp>
      <p:sp>
        <p:nvSpPr>
          <p:cNvPr id="393" name="Google Shape;393;p30">
            <a:extLst>
              <a:ext uri="{FF2B5EF4-FFF2-40B4-BE49-F238E27FC236}">
                <a16:creationId xmlns:a16="http://schemas.microsoft.com/office/drawing/2014/main" id="{99057460-245A-43C2-858E-E9F643024F7C}"/>
              </a:ext>
            </a:extLst>
          </p:cNvPr>
          <p:cNvSpPr>
            <a:spLocks noGrp="1"/>
          </p:cNvSpPr>
          <p:nvPr/>
        </p:nvSpPr>
        <p:spPr>
          <a:xfrm>
            <a:off x="548640" y="1481328"/>
            <a:ext cx="567000" cy="567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94" name="Google Shape;394;p30">
            <a:extLst>
              <a:ext uri="{FF2B5EF4-FFF2-40B4-BE49-F238E27FC236}">
                <a16:creationId xmlns:a16="http://schemas.microsoft.com/office/drawing/2014/main" id="{BBC83E80-D6D6-4B8A-AB17-90A98674F9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364" y="1606052"/>
            <a:ext cx="317479" cy="317479"/>
          </a:xfrm>
          <a:prstGeom prst="rect">
            <a:avLst/>
          </a:prstGeom>
          <a:ln>
            <a:noFill/>
          </a:ln>
        </p:spPr>
      </p:pic>
      <p:sp>
        <p:nvSpPr>
          <p:cNvPr id="395" name="Google Shape;395;p30">
            <a:extLst>
              <a:ext uri="{FF2B5EF4-FFF2-40B4-BE49-F238E27FC236}">
                <a16:creationId xmlns:a16="http://schemas.microsoft.com/office/drawing/2014/main" id="{689981E9-5B8F-4FD8-A7B3-537514BAD165}"/>
              </a:ext>
            </a:extLst>
          </p:cNvPr>
          <p:cNvSpPr>
            <a:spLocks noGrp="1"/>
          </p:cNvSpPr>
          <p:nvPr/>
        </p:nvSpPr>
        <p:spPr>
          <a:xfrm>
            <a:off x="1234440" y="1481328"/>
            <a:ext cx="100584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sz="22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Là </a:t>
            </a:r>
            <a:r>
              <a:rPr sz="22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người nhà sống cùng</a:t>
            </a:r>
            <a:endParaRPr/>
          </a:p>
        </p:txBody>
      </p:sp>
      <p:sp>
        <p:nvSpPr>
          <p:cNvPr id="396" name="Google Shape;396;p30">
            <a:extLst>
              <a:ext uri="{FF2B5EF4-FFF2-40B4-BE49-F238E27FC236}">
                <a16:creationId xmlns:a16="http://schemas.microsoft.com/office/drawing/2014/main" id="{C1766D49-AA8C-4096-A625-926E3225E56F}"/>
              </a:ext>
            </a:extLst>
          </p:cNvPr>
          <p:cNvSpPr>
            <a:spLocks noGrp="1"/>
          </p:cNvSpPr>
          <p:nvPr/>
        </p:nvSpPr>
        <p:spPr>
          <a:xfrm>
            <a:off x="548640" y="2286000"/>
            <a:ext cx="11064300" cy="9600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7" name="Google Shape;397;p30">
            <a:extLst>
              <a:ext uri="{FF2B5EF4-FFF2-40B4-BE49-F238E27FC236}">
                <a16:creationId xmlns:a16="http://schemas.microsoft.com/office/drawing/2014/main" id="{F5319078-03F8-411A-AEC2-A136C4A9BD0F}"/>
              </a:ext>
            </a:extLst>
          </p:cNvPr>
          <p:cNvSpPr>
            <a:spLocks noGrp="1"/>
          </p:cNvSpPr>
          <p:nvPr/>
        </p:nvSpPr>
        <p:spPr>
          <a:xfrm>
            <a:off x="731520" y="2537460"/>
            <a:ext cx="1234500" cy="4572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27425" tIns="27425" rIns="27425" bIns="27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US-11</a:t>
            </a:r>
            <a:endParaRPr/>
          </a:p>
        </p:txBody>
      </p:sp>
      <p:sp>
        <p:nvSpPr>
          <p:cNvPr id="398" name="Google Shape;398;p30">
            <a:extLst>
              <a:ext uri="{FF2B5EF4-FFF2-40B4-BE49-F238E27FC236}">
                <a16:creationId xmlns:a16="http://schemas.microsoft.com/office/drawing/2014/main" id="{E0030F3E-2C2C-4CA7-9647-886384EF2865}"/>
              </a:ext>
            </a:extLst>
          </p:cNvPr>
          <p:cNvSpPr>
            <a:spLocks noGrp="1"/>
          </p:cNvSpPr>
          <p:nvPr/>
        </p:nvSpPr>
        <p:spPr>
          <a:xfrm>
            <a:off x="2148840" y="2359152"/>
            <a:ext cx="6949500" cy="8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>
            <a:defPPr>
              <a:defRPr sz="1725"/>
            </a:defPPr>
          </a:lstStyle>
          <a:p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1725"/>
            </a:pPr>
            <a:r>
              <a:rPr sz="1725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Tôi muốn xác nhận hộ khi người thân quên bấm</a:t>
            </a:r>
            <a:endParaRPr/>
          </a:p>
          <a:p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1725"/>
            </a:pPr>
            <a:r>
              <a:rPr sz="1725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Để ghi nhận khi người thân đã uống nhưng chưa xác nhận</a:t>
            </a:r>
          </a:p>
        </p:txBody>
      </p:sp>
      <p:sp>
        <p:nvSpPr>
          <p:cNvPr id="399" name="Google Shape;399;p30">
            <a:extLst>
              <a:ext uri="{FF2B5EF4-FFF2-40B4-BE49-F238E27FC236}">
                <a16:creationId xmlns:a16="http://schemas.microsoft.com/office/drawing/2014/main" id="{B3E13EA6-646D-46D0-9B88-AB9B2D7E3B57}"/>
              </a:ext>
            </a:extLst>
          </p:cNvPr>
          <p:cNvSpPr>
            <a:spLocks noGrp="1"/>
          </p:cNvSpPr>
          <p:nvPr/>
        </p:nvSpPr>
        <p:spPr>
          <a:xfrm>
            <a:off x="9144000" y="2377440"/>
            <a:ext cx="1326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FR-13, 15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P6</a:t>
            </a:r>
          </a:p>
        </p:txBody>
      </p:sp>
      <p:sp>
        <p:nvSpPr>
          <p:cNvPr id="400" name="Google Shape;400;p30">
            <a:extLst>
              <a:ext uri="{FF2B5EF4-FFF2-40B4-BE49-F238E27FC236}">
                <a16:creationId xmlns:a16="http://schemas.microsoft.com/office/drawing/2014/main" id="{4DA802E3-7468-4B9A-B93E-0B57AE47E3FA}"/>
              </a:ext>
            </a:extLst>
          </p:cNvPr>
          <p:cNvSpPr>
            <a:spLocks noGrp="1"/>
          </p:cNvSpPr>
          <p:nvPr/>
        </p:nvSpPr>
        <p:spPr>
          <a:xfrm>
            <a:off x="10469880" y="2564892"/>
            <a:ext cx="1005900" cy="402300"/>
          </a:xfrm>
          <a:prstGeom prst="roundRect">
            <a:avLst>
              <a:gd name="adj" fmla="val 25000"/>
            </a:avLst>
          </a:prstGeom>
          <a:solidFill>
            <a:srgbClr val="B26A00"/>
          </a:solidFill>
          <a:ln>
            <a:noFill/>
          </a:ln>
        </p:spPr>
        <p:txBody>
          <a:bodyPr spcFirstLastPara="1" wrap="square" lIns="18275" tIns="18275" rIns="18275" bIns="18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Should</a:t>
            </a:r>
            <a:endParaRPr/>
          </a:p>
        </p:txBody>
      </p:sp>
      <p:sp>
        <p:nvSpPr>
          <p:cNvPr id="401" name="Google Shape;401;p30">
            <a:extLst>
              <a:ext uri="{FF2B5EF4-FFF2-40B4-BE49-F238E27FC236}">
                <a16:creationId xmlns:a16="http://schemas.microsoft.com/office/drawing/2014/main" id="{0238CD42-02A7-4564-B310-CCF2A0C22D1F}"/>
              </a:ext>
            </a:extLst>
          </p:cNvPr>
          <p:cNvSpPr>
            <a:spLocks noGrp="1"/>
          </p:cNvSpPr>
          <p:nvPr/>
        </p:nvSpPr>
        <p:spPr>
          <a:xfrm>
            <a:off x="548640" y="3383280"/>
            <a:ext cx="11064300" cy="9600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2" name="Google Shape;402;p30">
            <a:extLst>
              <a:ext uri="{FF2B5EF4-FFF2-40B4-BE49-F238E27FC236}">
                <a16:creationId xmlns:a16="http://schemas.microsoft.com/office/drawing/2014/main" id="{8BAFB62C-BE0F-431B-B521-CD7BDE56C1B4}"/>
              </a:ext>
            </a:extLst>
          </p:cNvPr>
          <p:cNvSpPr>
            <a:spLocks noGrp="1"/>
          </p:cNvSpPr>
          <p:nvPr/>
        </p:nvSpPr>
        <p:spPr>
          <a:xfrm>
            <a:off x="731520" y="3634740"/>
            <a:ext cx="1234500" cy="4572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27425" tIns="27425" rIns="27425" bIns="27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US-12</a:t>
            </a:r>
            <a:endParaRPr/>
          </a:p>
        </p:txBody>
      </p:sp>
      <p:sp>
        <p:nvSpPr>
          <p:cNvPr id="403" name="Google Shape;403;p30">
            <a:extLst>
              <a:ext uri="{FF2B5EF4-FFF2-40B4-BE49-F238E27FC236}">
                <a16:creationId xmlns:a16="http://schemas.microsoft.com/office/drawing/2014/main" id="{C45032A3-00F3-44C0-9D13-AD22C6877C80}"/>
              </a:ext>
            </a:extLst>
          </p:cNvPr>
          <p:cNvSpPr>
            <a:spLocks noGrp="1"/>
          </p:cNvSpPr>
          <p:nvPr/>
        </p:nvSpPr>
        <p:spPr>
          <a:xfrm>
            <a:off x="2148840" y="3456432"/>
            <a:ext cx="6949500" cy="8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21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Tôi muốn </a:t>
            </a:r>
            <a:r>
              <a:rPr sz="21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nhận cảnh báo cữ bỏ lỡ</a:t>
            </a:r>
            <a:endParaRPr/>
          </a:p>
          <a:p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1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Để </a:t>
            </a:r>
            <a:r>
              <a:rPr sz="19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nhắc </a:t>
            </a:r>
            <a:r>
              <a:rPr sz="1900">
                <a:solidFill>
                  <a:srgbClr val="1F1F1F"/>
                </a:solidFill>
              </a:rPr>
              <a:t>người thân</a:t>
            </a:r>
            <a:r>
              <a:rPr sz="19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ngay tại nhà</a:t>
            </a:r>
            <a:endParaRPr/>
          </a:p>
        </p:txBody>
      </p:sp>
      <p:sp>
        <p:nvSpPr>
          <p:cNvPr id="404" name="Google Shape;404;p30">
            <a:extLst>
              <a:ext uri="{FF2B5EF4-FFF2-40B4-BE49-F238E27FC236}">
                <a16:creationId xmlns:a16="http://schemas.microsoft.com/office/drawing/2014/main" id="{2A7D7385-C9EF-48FD-B0BD-C7CD810D6E38}"/>
              </a:ext>
            </a:extLst>
          </p:cNvPr>
          <p:cNvSpPr>
            <a:spLocks noGrp="1"/>
          </p:cNvSpPr>
          <p:nvPr/>
        </p:nvSpPr>
        <p:spPr>
          <a:xfrm>
            <a:off x="9144000" y="3474720"/>
            <a:ext cx="1326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FR-12</a:t>
            </a:r>
            <a:b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</a:br>
            <a: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P4</a:t>
            </a:r>
            <a:endParaRPr/>
          </a:p>
        </p:txBody>
      </p:sp>
      <p:sp>
        <p:nvSpPr>
          <p:cNvPr id="405" name="Google Shape;405;p30">
            <a:extLst>
              <a:ext uri="{FF2B5EF4-FFF2-40B4-BE49-F238E27FC236}">
                <a16:creationId xmlns:a16="http://schemas.microsoft.com/office/drawing/2014/main" id="{5DB6FD8F-4117-4829-8233-83A808F903DB}"/>
              </a:ext>
            </a:extLst>
          </p:cNvPr>
          <p:cNvSpPr>
            <a:spLocks noGrp="1"/>
          </p:cNvSpPr>
          <p:nvPr/>
        </p:nvSpPr>
        <p:spPr>
          <a:xfrm>
            <a:off x="10469880" y="3662172"/>
            <a:ext cx="1005900" cy="4023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18275" tIns="18275" rIns="18275" bIns="18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Must</a:t>
            </a:r>
            <a:endParaRPr/>
          </a:p>
        </p:txBody>
      </p:sp>
      <p:sp>
        <p:nvSpPr>
          <p:cNvPr id="406" name="Google Shape;406;p30">
            <a:extLst>
              <a:ext uri="{FF2B5EF4-FFF2-40B4-BE49-F238E27FC236}">
                <a16:creationId xmlns:a16="http://schemas.microsoft.com/office/drawing/2014/main" id="{722DF18D-8E1D-4E8E-842C-250ED0D5B634}"/>
              </a:ext>
            </a:extLst>
          </p:cNvPr>
          <p:cNvSpPr>
            <a:spLocks noGrp="1"/>
          </p:cNvSpPr>
          <p:nvPr/>
        </p:nvSpPr>
        <p:spPr>
          <a:xfrm>
            <a:off x="548640" y="4754880"/>
            <a:ext cx="567000" cy="567000"/>
          </a:xfrm>
          <a:prstGeom prst="ellipse">
            <a:avLst/>
          </a:prstGeom>
          <a:solidFill>
            <a:srgbClr val="E6A11F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07" name="Google Shape;407;p30">
            <a:extLst>
              <a:ext uri="{FF2B5EF4-FFF2-40B4-BE49-F238E27FC236}">
                <a16:creationId xmlns:a16="http://schemas.microsoft.com/office/drawing/2014/main" id="{8166FCD5-51F0-4C6B-B3A7-D1BD9F2CF6F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3364" y="4879604"/>
            <a:ext cx="317479" cy="317479"/>
          </a:xfrm>
          <a:prstGeom prst="rect">
            <a:avLst/>
          </a:prstGeom>
          <a:ln>
            <a:noFill/>
          </a:ln>
        </p:spPr>
      </p:pic>
      <p:sp>
        <p:nvSpPr>
          <p:cNvPr id="408" name="Google Shape;408;p30">
            <a:extLst>
              <a:ext uri="{FF2B5EF4-FFF2-40B4-BE49-F238E27FC236}">
                <a16:creationId xmlns:a16="http://schemas.microsoft.com/office/drawing/2014/main" id="{1DD46AD6-7322-4F2D-81A8-D281A0A7ADA3}"/>
              </a:ext>
            </a:extLst>
          </p:cNvPr>
          <p:cNvSpPr>
            <a:spLocks noGrp="1"/>
          </p:cNvSpPr>
          <p:nvPr/>
        </p:nvSpPr>
        <p:spPr>
          <a:xfrm>
            <a:off x="1234440" y="4754880"/>
            <a:ext cx="100584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Mọi xác nhận hộ đều ghi rõ người bấm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72740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1">
            <a:extLst>
              <a:ext uri="{FF2B5EF4-FFF2-40B4-BE49-F238E27FC236}">
                <a16:creationId xmlns:a16="http://schemas.microsoft.com/office/drawing/2014/main" id="{0639FFEC-2DF3-4C01-AA11-101A3FE46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3. User story</a:t>
            </a:r>
            <a:endParaRPr/>
          </a:p>
        </p:txBody>
      </p:sp>
      <p:sp>
        <p:nvSpPr>
          <p:cNvPr id="415" name="Google Shape;415;p31">
            <a:extLst>
              <a:ext uri="{FF2B5EF4-FFF2-40B4-BE49-F238E27FC236}">
                <a16:creationId xmlns:a16="http://schemas.microsoft.com/office/drawing/2014/main" id="{D8BA6B26-A1D9-4115-91A5-490D627DFE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18</a:t>
            </a:r>
            <a:endParaRPr/>
          </a:p>
        </p:txBody>
      </p:sp>
      <p:sp>
        <p:nvSpPr>
          <p:cNvPr id="416" name="Google Shape;416;p31">
            <a:extLst>
              <a:ext uri="{FF2B5EF4-FFF2-40B4-BE49-F238E27FC236}">
                <a16:creationId xmlns:a16="http://schemas.microsoft.com/office/drawing/2014/main" id="{95415E9C-B3B5-4FB5-859E-0794BB3AA352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Ưu tiên của 17 user story</a:t>
            </a:r>
            <a:endParaRPr/>
          </a:p>
        </p:txBody>
      </p:sp>
      <p:sp>
        <p:nvSpPr>
          <p:cNvPr id="417" name="Google Shape;417;p31">
            <a:extLst>
              <a:ext uri="{FF2B5EF4-FFF2-40B4-BE49-F238E27FC236}">
                <a16:creationId xmlns:a16="http://schemas.microsoft.com/office/drawing/2014/main" id="{DEA7EA2E-99A3-43D7-B2C5-1896439FEA2B}"/>
              </a:ext>
            </a:extLst>
          </p:cNvPr>
          <p:cNvSpPr>
            <a:spLocks noGrp="1"/>
          </p:cNvSpPr>
          <p:nvPr/>
        </p:nvSpPr>
        <p:spPr>
          <a:xfrm>
            <a:off x="548640" y="1600200"/>
            <a:ext cx="3474720" cy="420624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8" name="Google Shape;418;p31">
            <a:extLst>
              <a:ext uri="{FF2B5EF4-FFF2-40B4-BE49-F238E27FC236}">
                <a16:creationId xmlns:a16="http://schemas.microsoft.com/office/drawing/2014/main" id="{AB898EA4-5E9C-49CF-B341-33B41434FE62}"/>
              </a:ext>
            </a:extLst>
          </p:cNvPr>
          <p:cNvSpPr>
            <a:spLocks noGrp="1"/>
          </p:cNvSpPr>
          <p:nvPr/>
        </p:nvSpPr>
        <p:spPr>
          <a:xfrm>
            <a:off x="548640" y="173736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4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Must</a:t>
            </a:r>
            <a:endParaRPr/>
          </a:p>
        </p:txBody>
      </p:sp>
      <p:sp>
        <p:nvSpPr>
          <p:cNvPr id="419" name="Google Shape;419;p31">
            <a:extLst>
              <a:ext uri="{FF2B5EF4-FFF2-40B4-BE49-F238E27FC236}">
                <a16:creationId xmlns:a16="http://schemas.microsoft.com/office/drawing/2014/main" id="{2A1F0003-A82F-406B-8136-5BDF4EEC06A3}"/>
              </a:ext>
            </a:extLst>
          </p:cNvPr>
          <p:cNvSpPr>
            <a:spLocks noGrp="1"/>
          </p:cNvSpPr>
          <p:nvPr/>
        </p:nvSpPr>
        <p:spPr>
          <a:xfrm>
            <a:off x="548640" y="2240280"/>
            <a:ext cx="34747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sz="64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11</a:t>
            </a:r>
            <a:endParaRPr/>
          </a:p>
        </p:txBody>
      </p:sp>
      <p:sp>
        <p:nvSpPr>
          <p:cNvPr id="420" name="Google Shape;420;p31">
            <a:extLst>
              <a:ext uri="{FF2B5EF4-FFF2-40B4-BE49-F238E27FC236}">
                <a16:creationId xmlns:a16="http://schemas.microsoft.com/office/drawing/2014/main" id="{3D771590-EF39-4365-A577-FE5D4E3B87B1}"/>
              </a:ext>
            </a:extLst>
          </p:cNvPr>
          <p:cNvSpPr>
            <a:spLocks noGrp="1"/>
          </p:cNvSpPr>
          <p:nvPr/>
        </p:nvSpPr>
        <p:spPr>
          <a:xfrm>
            <a:off x="731520" y="3429000"/>
            <a:ext cx="310896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19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US-01, 02, 03, 04</a:t>
            </a:r>
            <a:endParaRPr/>
          </a:p>
          <a:p>
            <a:pPr marL="0" marR="0" lv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19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US-08, 09, 10, 12</a:t>
            </a:r>
          </a:p>
          <a:p>
            <a:pPr marL="0" marR="0" lv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19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US-13, 14, 17</a:t>
            </a:r>
          </a:p>
        </p:txBody>
      </p:sp>
      <p:sp>
        <p:nvSpPr>
          <p:cNvPr id="421" name="Google Shape;421;p31">
            <a:extLst>
              <a:ext uri="{FF2B5EF4-FFF2-40B4-BE49-F238E27FC236}">
                <a16:creationId xmlns:a16="http://schemas.microsoft.com/office/drawing/2014/main" id="{240CFFC3-CFDF-4DD8-9BDC-FC2AF75763AE}"/>
              </a:ext>
            </a:extLst>
          </p:cNvPr>
          <p:cNvSpPr>
            <a:spLocks noGrp="1"/>
          </p:cNvSpPr>
          <p:nvPr/>
        </p:nvSpPr>
        <p:spPr>
          <a:xfrm>
            <a:off x="4297679" y="1600200"/>
            <a:ext cx="3474720" cy="4206240"/>
          </a:xfrm>
          <a:prstGeom prst="roundRect">
            <a:avLst>
              <a:gd name="adj" fmla="val 12000"/>
            </a:avLst>
          </a:prstGeom>
          <a:solidFill>
            <a:srgbClr val="FFF1D6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2" name="Google Shape;422;p31">
            <a:extLst>
              <a:ext uri="{FF2B5EF4-FFF2-40B4-BE49-F238E27FC236}">
                <a16:creationId xmlns:a16="http://schemas.microsoft.com/office/drawing/2014/main" id="{FD2AFE77-8029-4AF8-89EA-38BA1D91A90F}"/>
              </a:ext>
            </a:extLst>
          </p:cNvPr>
          <p:cNvSpPr>
            <a:spLocks noGrp="1"/>
          </p:cNvSpPr>
          <p:nvPr/>
        </p:nvSpPr>
        <p:spPr>
          <a:xfrm>
            <a:off x="4297679" y="173736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400" b="1" i="0" u="none" strike="noStrike" cap="none">
                <a:solidFill>
                  <a:srgbClr val="B26A00"/>
                </a:solidFill>
                <a:latin typeface="Arial"/>
                <a:ea typeface="Arial"/>
                <a:cs typeface="Arial"/>
              </a:rPr>
              <a:t>Should</a:t>
            </a:r>
            <a:endParaRPr/>
          </a:p>
        </p:txBody>
      </p:sp>
      <p:sp>
        <p:nvSpPr>
          <p:cNvPr id="423" name="Google Shape;423;p31">
            <a:extLst>
              <a:ext uri="{FF2B5EF4-FFF2-40B4-BE49-F238E27FC236}">
                <a16:creationId xmlns:a16="http://schemas.microsoft.com/office/drawing/2014/main" id="{BF109B2D-3A69-4711-8C15-A1679CF40663}"/>
              </a:ext>
            </a:extLst>
          </p:cNvPr>
          <p:cNvSpPr>
            <a:spLocks noGrp="1"/>
          </p:cNvSpPr>
          <p:nvPr/>
        </p:nvSpPr>
        <p:spPr>
          <a:xfrm>
            <a:off x="4297679" y="2240280"/>
            <a:ext cx="34747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sz="6400" b="1" i="0" u="none" strike="noStrike" cap="none">
                <a:solidFill>
                  <a:srgbClr val="B26A00"/>
                </a:solidFill>
                <a:latin typeface="Arial"/>
                <a:ea typeface="Arial"/>
                <a:cs typeface="Arial"/>
              </a:rPr>
              <a:t>5</a:t>
            </a:r>
            <a:endParaRPr/>
          </a:p>
        </p:txBody>
      </p:sp>
      <p:sp>
        <p:nvSpPr>
          <p:cNvPr id="424" name="Google Shape;424;p31">
            <a:extLst>
              <a:ext uri="{FF2B5EF4-FFF2-40B4-BE49-F238E27FC236}">
                <a16:creationId xmlns:a16="http://schemas.microsoft.com/office/drawing/2014/main" id="{F5049C5B-F4FD-41D9-91CD-8ABA39CBDCFA}"/>
              </a:ext>
            </a:extLst>
          </p:cNvPr>
          <p:cNvSpPr>
            <a:spLocks noGrp="1"/>
          </p:cNvSpPr>
          <p:nvPr/>
        </p:nvSpPr>
        <p:spPr>
          <a:xfrm>
            <a:off x="4480559" y="3429000"/>
            <a:ext cx="310896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19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US-05, 06, 11</a:t>
            </a:r>
            <a:endParaRPr/>
          </a:p>
          <a:p>
            <a:pPr marL="0" marR="0" lv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19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US-15, 16</a:t>
            </a:r>
          </a:p>
        </p:txBody>
      </p:sp>
      <p:sp>
        <p:nvSpPr>
          <p:cNvPr id="425" name="Google Shape;425;p31">
            <a:extLst>
              <a:ext uri="{FF2B5EF4-FFF2-40B4-BE49-F238E27FC236}">
                <a16:creationId xmlns:a16="http://schemas.microsoft.com/office/drawing/2014/main" id="{AC0BCC4B-23A3-4B82-84B6-91F31C1B121D}"/>
              </a:ext>
            </a:extLst>
          </p:cNvPr>
          <p:cNvSpPr>
            <a:spLocks noGrp="1"/>
          </p:cNvSpPr>
          <p:nvPr/>
        </p:nvSpPr>
        <p:spPr>
          <a:xfrm>
            <a:off x="8046719" y="1600200"/>
            <a:ext cx="3474720" cy="4206240"/>
          </a:xfrm>
          <a:prstGeom prst="roundRect">
            <a:avLst>
              <a:gd name="adj" fmla="val 12000"/>
            </a:avLst>
          </a:prstGeom>
          <a:solidFill>
            <a:srgbClr val="ECEFF3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Google Shape;426;p31">
            <a:extLst>
              <a:ext uri="{FF2B5EF4-FFF2-40B4-BE49-F238E27FC236}">
                <a16:creationId xmlns:a16="http://schemas.microsoft.com/office/drawing/2014/main" id="{D93F48D7-AD0B-4D00-BFAC-421F282E45B8}"/>
              </a:ext>
            </a:extLst>
          </p:cNvPr>
          <p:cNvSpPr>
            <a:spLocks noGrp="1"/>
          </p:cNvSpPr>
          <p:nvPr/>
        </p:nvSpPr>
        <p:spPr>
          <a:xfrm>
            <a:off x="8046719" y="173736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400" b="1" i="0" u="none" strike="noStrike" cap="none">
                <a:solidFill>
                  <a:srgbClr val="5F6B7A"/>
                </a:solidFill>
                <a:latin typeface="Arial"/>
                <a:ea typeface="Arial"/>
                <a:cs typeface="Arial"/>
              </a:rPr>
              <a:t>Could</a:t>
            </a:r>
            <a:endParaRPr/>
          </a:p>
        </p:txBody>
      </p:sp>
      <p:sp>
        <p:nvSpPr>
          <p:cNvPr id="427" name="Google Shape;427;p31">
            <a:extLst>
              <a:ext uri="{FF2B5EF4-FFF2-40B4-BE49-F238E27FC236}">
                <a16:creationId xmlns:a16="http://schemas.microsoft.com/office/drawing/2014/main" id="{CC90703F-4167-4AB2-A430-5E0019F992BE}"/>
              </a:ext>
            </a:extLst>
          </p:cNvPr>
          <p:cNvSpPr>
            <a:spLocks noGrp="1"/>
          </p:cNvSpPr>
          <p:nvPr/>
        </p:nvSpPr>
        <p:spPr>
          <a:xfrm>
            <a:off x="8046719" y="2240280"/>
            <a:ext cx="34747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sz="6400" b="1" i="0" u="none" strike="noStrike" cap="none">
                <a:solidFill>
                  <a:srgbClr val="5F6B7A"/>
                </a:solidFill>
                <a:latin typeface="Arial"/>
                <a:ea typeface="Arial"/>
                <a:cs typeface="Arial"/>
              </a:rPr>
              <a:t>1</a:t>
            </a:r>
            <a:endParaRPr/>
          </a:p>
        </p:txBody>
      </p:sp>
      <p:sp>
        <p:nvSpPr>
          <p:cNvPr id="428" name="Google Shape;428;p31">
            <a:extLst>
              <a:ext uri="{FF2B5EF4-FFF2-40B4-BE49-F238E27FC236}">
                <a16:creationId xmlns:a16="http://schemas.microsoft.com/office/drawing/2014/main" id="{234AA449-6C4C-4BE9-9089-C92E912CE6F0}"/>
              </a:ext>
            </a:extLst>
          </p:cNvPr>
          <p:cNvSpPr>
            <a:spLocks noGrp="1"/>
          </p:cNvSpPr>
          <p:nvPr/>
        </p:nvSpPr>
        <p:spPr>
          <a:xfrm>
            <a:off x="8229599" y="3429000"/>
            <a:ext cx="31089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19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US-07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11079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2">
            <a:extLst>
              <a:ext uri="{FF2B5EF4-FFF2-40B4-BE49-F238E27FC236}">
                <a16:creationId xmlns:a16="http://schemas.microsoft.com/office/drawing/2014/main" id="{631E8D6D-208D-4CC6-A117-C1C65B7B5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4. Phân tích &amp; đặc tả SRS</a:t>
            </a:r>
            <a:endParaRPr/>
          </a:p>
        </p:txBody>
      </p:sp>
      <p:sp>
        <p:nvSpPr>
          <p:cNvPr id="435" name="Google Shape;435;p32">
            <a:extLst>
              <a:ext uri="{FF2B5EF4-FFF2-40B4-BE49-F238E27FC236}">
                <a16:creationId xmlns:a16="http://schemas.microsoft.com/office/drawing/2014/main" id="{07012ED0-5213-4BFB-A9A5-9F07B77BD88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19</a:t>
            </a:r>
            <a:endParaRPr/>
          </a:p>
        </p:txBody>
      </p:sp>
      <p:sp>
        <p:nvSpPr>
          <p:cNvPr id="436" name="Google Shape;436;p32">
            <a:extLst>
              <a:ext uri="{FF2B5EF4-FFF2-40B4-BE49-F238E27FC236}">
                <a16:creationId xmlns:a16="http://schemas.microsoft.com/office/drawing/2014/main" id="{E38845AB-7830-4DBF-9D36-1F093D98F9DB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490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Dữ liệu và ràng buộc nghiệp vụ</a:t>
            </a:r>
            <a:endParaRPr/>
          </a:p>
        </p:txBody>
      </p:sp>
      <p:graphicFrame>
        <p:nvGraphicFramePr>
          <p:cNvPr id="437" name="Google Shape;437;p32">
            <a:extLst>
              <a:ext uri="{FF2B5EF4-FFF2-40B4-BE49-F238E27FC236}">
                <a16:creationId xmlns:a16="http://schemas.microsoft.com/office/drawing/2014/main" id="{DEC30433-2B2C-4D78-867E-B8E25A02D222}"/>
              </a:ext>
            </a:extLst>
          </p:cNvPr>
          <p:cNvGraphicFramePr/>
          <p:nvPr/>
        </p:nvGraphicFramePr>
        <p:xfrm>
          <a:off x="571500" y="1902888"/>
          <a:ext cx="11049000" cy="2933700"/>
        </p:xfrm>
        <a:graphic>
          <a:graphicData uri="http://schemas.openxmlformats.org/drawingml/2006/table">
            <a:tbl>
              <a:tblPr>
                <a:tableStyleId>{69164D6B-77A5-455B-8581-FB340438A784}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34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sz="1898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Nhóm dữ liệu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sz="1898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Ràng buộc cần giữ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sz="1898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Hồ sơ, người nhà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sz="1898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Một người chăm sóc chính.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sz="1898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Đơn thuốc và dòng thuốc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sz="1898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Tối đa một đơn Hiệu lực. Giữ tên thuốc gốc trên đơn.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sz="1898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Cữ thuốc và xác nhận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8"/>
                        <a:buFont typeface="Arial"/>
                        <a:buNone/>
                      </a:pPr>
                      <a:r>
                        <a:rPr sz="1898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Chỉ sinh từ đơn đã xác nhận. Ghi người và thời điểm x</a:t>
                      </a:r>
                      <a:r>
                        <a:rPr sz="1898">
                          <a:solidFill>
                            <a:srgbClr val="1F1F1F"/>
                          </a:solidFill>
                        </a:rPr>
                        <a:t>ác nhận</a:t>
                      </a:r>
                      <a:r>
                        <a:rPr sz="1898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338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3">
            <a:extLst>
              <a:ext uri="{FF2B5EF4-FFF2-40B4-BE49-F238E27FC236}">
                <a16:creationId xmlns:a16="http://schemas.microsoft.com/office/drawing/2014/main" id="{6438C71A-B98A-4574-BE1A-3C3E7CA49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4. Phân tích &amp; đặc tả SRS</a:t>
            </a:r>
            <a:endParaRPr/>
          </a:p>
        </p:txBody>
      </p:sp>
      <p:sp>
        <p:nvSpPr>
          <p:cNvPr id="444" name="Google Shape;444;p33">
            <a:extLst>
              <a:ext uri="{FF2B5EF4-FFF2-40B4-BE49-F238E27FC236}">
                <a16:creationId xmlns:a16="http://schemas.microsoft.com/office/drawing/2014/main" id="{C07158AE-9D53-4CEE-9FD1-B1412FB0A42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20</a:t>
            </a:r>
            <a:endParaRPr/>
          </a:p>
        </p:txBody>
      </p:sp>
      <p:sp>
        <p:nvSpPr>
          <p:cNvPr id="445" name="Google Shape;445;p33">
            <a:extLst>
              <a:ext uri="{FF2B5EF4-FFF2-40B4-BE49-F238E27FC236}">
                <a16:creationId xmlns:a16="http://schemas.microsoft.com/office/drawing/2014/main" id="{8B027D13-9E23-408D-9F56-991D979BCFC1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Quy trình phân tích yêu cầu</a:t>
            </a:r>
            <a:endParaRPr/>
          </a:p>
        </p:txBody>
      </p:sp>
      <p:sp>
        <p:nvSpPr>
          <p:cNvPr id="446" name="Google Shape;446;p33">
            <a:extLst>
              <a:ext uri="{FF2B5EF4-FFF2-40B4-BE49-F238E27FC236}">
                <a16:creationId xmlns:a16="http://schemas.microsoft.com/office/drawing/2014/main" id="{2A3EA9BC-9724-4610-9314-FAD8A34047F3}"/>
              </a:ext>
            </a:extLst>
          </p:cNvPr>
          <p:cNvSpPr>
            <a:spLocks noGrp="1"/>
          </p:cNvSpPr>
          <p:nvPr/>
        </p:nvSpPr>
        <p:spPr>
          <a:xfrm>
            <a:off x="457200" y="2011680"/>
            <a:ext cx="2606040" cy="1143000"/>
          </a:xfrm>
          <a:prstGeom prst="chevron">
            <a:avLst>
              <a:gd name="adj" fmla="val 50000"/>
            </a:avLst>
          </a:prstGeom>
          <a:solidFill>
            <a:srgbClr val="8E0E1F"/>
          </a:solidFill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Vấn đề</a:t>
            </a:r>
            <a:endParaRPr/>
          </a:p>
        </p:txBody>
      </p:sp>
      <p:sp>
        <p:nvSpPr>
          <p:cNvPr id="447" name="Google Shape;447;p33">
            <a:extLst>
              <a:ext uri="{FF2B5EF4-FFF2-40B4-BE49-F238E27FC236}">
                <a16:creationId xmlns:a16="http://schemas.microsoft.com/office/drawing/2014/main" id="{73A88D07-E27D-4C06-8233-621E9A3F46F7}"/>
              </a:ext>
            </a:extLst>
          </p:cNvPr>
          <p:cNvSpPr>
            <a:spLocks noGrp="1"/>
          </p:cNvSpPr>
          <p:nvPr/>
        </p:nvSpPr>
        <p:spPr>
          <a:xfrm>
            <a:off x="2697480" y="2011680"/>
            <a:ext cx="2606040" cy="1143000"/>
          </a:xfrm>
          <a:prstGeom prst="chevron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Người dùng</a:t>
            </a:r>
            <a:endParaRPr/>
          </a:p>
        </p:txBody>
      </p:sp>
      <p:sp>
        <p:nvSpPr>
          <p:cNvPr id="448" name="Google Shape;448;p33">
            <a:extLst>
              <a:ext uri="{FF2B5EF4-FFF2-40B4-BE49-F238E27FC236}">
                <a16:creationId xmlns:a16="http://schemas.microsoft.com/office/drawing/2014/main" id="{4B0DBC29-05C6-4B79-A834-A756B680DDAE}"/>
              </a:ext>
            </a:extLst>
          </p:cNvPr>
          <p:cNvSpPr>
            <a:spLocks noGrp="1"/>
          </p:cNvSpPr>
          <p:nvPr/>
        </p:nvSpPr>
        <p:spPr>
          <a:xfrm>
            <a:off x="4937760" y="2011680"/>
            <a:ext cx="2606040" cy="1143000"/>
          </a:xfrm>
          <a:prstGeom prst="chevron">
            <a:avLst>
              <a:gd name="adj" fmla="val 50000"/>
            </a:avLst>
          </a:prstGeom>
          <a:solidFill>
            <a:srgbClr val="D64545"/>
          </a:solidFill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Chức năng</a:t>
            </a:r>
            <a:endParaRPr/>
          </a:p>
        </p:txBody>
      </p:sp>
      <p:sp>
        <p:nvSpPr>
          <p:cNvPr id="449" name="Google Shape;449;p33">
            <a:extLst>
              <a:ext uri="{FF2B5EF4-FFF2-40B4-BE49-F238E27FC236}">
                <a16:creationId xmlns:a16="http://schemas.microsoft.com/office/drawing/2014/main" id="{80A64E1D-A639-46E9-BA84-62B250FF6BB9}"/>
              </a:ext>
            </a:extLst>
          </p:cNvPr>
          <p:cNvSpPr>
            <a:spLocks noGrp="1"/>
          </p:cNvSpPr>
          <p:nvPr/>
        </p:nvSpPr>
        <p:spPr>
          <a:xfrm>
            <a:off x="7178040" y="2011680"/>
            <a:ext cx="2606040" cy="1143000"/>
          </a:xfrm>
          <a:prstGeom prst="chevron">
            <a:avLst>
              <a:gd name="adj" fmla="val 50000"/>
            </a:avLst>
          </a:prstGeom>
          <a:solidFill>
            <a:srgbClr val="E06666"/>
          </a:solidFill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Dữ liệu</a:t>
            </a:r>
            <a:endParaRPr/>
          </a:p>
        </p:txBody>
      </p:sp>
      <p:sp>
        <p:nvSpPr>
          <p:cNvPr id="450" name="Google Shape;450;p33">
            <a:extLst>
              <a:ext uri="{FF2B5EF4-FFF2-40B4-BE49-F238E27FC236}">
                <a16:creationId xmlns:a16="http://schemas.microsoft.com/office/drawing/2014/main" id="{2F9D81DE-ABB7-44F9-9F63-5B8C75D43C4E}"/>
              </a:ext>
            </a:extLst>
          </p:cNvPr>
          <p:cNvSpPr>
            <a:spLocks noGrp="1"/>
          </p:cNvSpPr>
          <p:nvPr/>
        </p:nvSpPr>
        <p:spPr>
          <a:xfrm>
            <a:off x="9418320" y="2011680"/>
            <a:ext cx="2606040" cy="1143000"/>
          </a:xfrm>
          <a:prstGeom prst="chevron">
            <a:avLst>
              <a:gd name="adj" fmla="val 50000"/>
            </a:avLst>
          </a:prstGeom>
          <a:solidFill>
            <a:srgbClr val="EA9999"/>
          </a:solidFill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Hành vi</a:t>
            </a:r>
            <a:endParaRPr/>
          </a:p>
        </p:txBody>
      </p:sp>
      <p:sp>
        <p:nvSpPr>
          <p:cNvPr id="451" name="Google Shape;451;p33">
            <a:extLst>
              <a:ext uri="{FF2B5EF4-FFF2-40B4-BE49-F238E27FC236}">
                <a16:creationId xmlns:a16="http://schemas.microsoft.com/office/drawing/2014/main" id="{A1F75F45-812C-4443-963C-6AF1157B99C8}"/>
              </a:ext>
            </a:extLst>
          </p:cNvPr>
          <p:cNvSpPr>
            <a:spLocks noGrp="1"/>
          </p:cNvSpPr>
          <p:nvPr/>
        </p:nvSpPr>
        <p:spPr>
          <a:xfrm>
            <a:off x="548640" y="4572000"/>
            <a:ext cx="11064240" cy="822960"/>
          </a:xfrm>
          <a:prstGeom prst="roundRect">
            <a:avLst>
              <a:gd name="adj" fmla="val 2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137150" rIns="137150" bIns="13715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Nguyên tắc: </a:t>
            </a:r>
            <a:r>
              <a:rPr sz="2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đi từ thiết yếu đến cài đặt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96332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>
            <a:extLst>
              <a:ext uri="{FF2B5EF4-FFF2-40B4-BE49-F238E27FC236}">
                <a16:creationId xmlns:a16="http://schemas.microsoft.com/office/drawing/2014/main" id="{72304E2B-32BB-4DBB-91B9-EFCDEA121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4. Phân tích &amp; đặc tả SRS</a:t>
            </a:r>
            <a:endParaRPr/>
          </a:p>
        </p:txBody>
      </p:sp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0FF92017-E7CD-47D2-B12A-9A710B6A6C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21</a:t>
            </a:r>
            <a:endParaRPr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9E7FE770-EF9E-4FC3-AC1C-2127FA6EFD52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110680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Phân loại yêu cầu và mục tiêu nghiệp vụ</a:t>
            </a:r>
          </a:p>
        </p:txBody>
      </p:sp>
      <p:graphicFrame>
        <p:nvGraphicFramePr>
          <p:cNvPr id="126" name="Table 125">
            <a:extLst>
              <a:ext uri="{FF2B5EF4-FFF2-40B4-BE49-F238E27FC236}">
                <a16:creationId xmlns:a16="http://schemas.microsoft.com/office/drawing/2014/main" id="{865E55B3-6D2F-45C2-AB54-22AA4C13A801}"/>
              </a:ext>
            </a:extLst>
          </p:cNvPr>
          <p:cNvGraphicFramePr/>
          <p:nvPr/>
        </p:nvGraphicFramePr>
        <p:xfrm>
          <a:off x="552450" y="1762125"/>
          <a:ext cx="11049000" cy="285750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Tầng yêu cầu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Số lượng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Nội dung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BIZ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Mục tiêu nghiệp vụ và cách đánh giá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US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Nhu cầu của ba vai trò trực tiếp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Hành vi hệ thống cần thực hiện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NFR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Chỉ tiêu chất lượng và cách kiểm chứng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7" name="Rectangle 126">
            <a:extLst>
              <a:ext uri="{FF2B5EF4-FFF2-40B4-BE49-F238E27FC236}">
                <a16:creationId xmlns:a16="http://schemas.microsoft.com/office/drawing/2014/main" id="{59E0E068-0147-4B78-B39D-E6E1464502BF}"/>
              </a:ext>
            </a:extLst>
          </p:cNvPr>
          <p:cNvSpPr>
            <a:spLocks noGrp="1"/>
          </p:cNvSpPr>
          <p:nvPr/>
        </p:nvSpPr>
        <p:spPr>
          <a:xfrm>
            <a:off x="552450" y="490537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9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9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Customer: </a:t>
            </a:r>
            <a:r>
              <a:rPr sz="1950" b="1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người</a:t>
            </a:r>
            <a:r>
              <a:rPr sz="1950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con </a:t>
            </a:r>
            <a:r>
              <a:rPr sz="1950" b="1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quyết</a:t>
            </a:r>
            <a:r>
              <a:rPr sz="1950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1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định</a:t>
            </a:r>
            <a:r>
              <a:rPr sz="1950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1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sử</a:t>
            </a:r>
            <a:r>
              <a:rPr sz="1950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1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dụng</a:t>
            </a:r>
            <a:r>
              <a:rPr sz="1950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1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và</a:t>
            </a:r>
            <a:r>
              <a:rPr sz="1950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1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thiết</a:t>
            </a:r>
            <a:r>
              <a:rPr sz="1950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1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lập</a:t>
            </a:r>
            <a:r>
              <a:rPr sz="1950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1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hồ</a:t>
            </a:r>
            <a:r>
              <a:rPr sz="1950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1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sơ</a:t>
            </a:r>
            <a:endParaRPr sz="1950" b="1" dirty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ED1A545B-E160-4AAE-84C8-EE81E7A2652A}"/>
              </a:ext>
            </a:extLst>
          </p:cNvPr>
          <p:cNvSpPr>
            <a:spLocks noGrp="1"/>
          </p:cNvSpPr>
          <p:nvPr/>
        </p:nvSpPr>
        <p:spPr>
          <a:xfrm>
            <a:off x="552450" y="53340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875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75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End-user: </a:t>
            </a:r>
            <a:r>
              <a:rPr sz="1875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người</a:t>
            </a:r>
            <a:r>
              <a:rPr sz="1875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chăm</a:t>
            </a:r>
            <a:r>
              <a:rPr sz="1875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sóc</a:t>
            </a:r>
            <a:r>
              <a:rPr sz="1875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, </a:t>
            </a:r>
            <a:r>
              <a:rPr sz="1875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bệnh</a:t>
            </a:r>
            <a:r>
              <a:rPr sz="1875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nhân</a:t>
            </a:r>
            <a:r>
              <a:rPr sz="1875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và</a:t>
            </a:r>
            <a:r>
              <a:rPr sz="1875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người</a:t>
            </a:r>
            <a:r>
              <a:rPr sz="1875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nhà</a:t>
            </a:r>
            <a:r>
              <a:rPr sz="1875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được</a:t>
            </a:r>
            <a:r>
              <a:rPr sz="1875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ủy</a:t>
            </a:r>
            <a:r>
              <a:rPr sz="1875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quyền</a:t>
            </a:r>
            <a:endParaRPr sz="1875" b="0" dirty="0">
              <a:solidFill>
                <a:srgbClr val="1F1F1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1238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4">
            <a:extLst>
              <a:ext uri="{FF2B5EF4-FFF2-40B4-BE49-F238E27FC236}">
                <a16:creationId xmlns:a16="http://schemas.microsoft.com/office/drawing/2014/main" id="{BBF4DE90-4B9B-4D2D-885F-DCB196CFF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4. Phân tích &amp; đặc tả SRS</a:t>
            </a:r>
            <a:endParaRPr/>
          </a:p>
        </p:txBody>
      </p:sp>
      <p:sp>
        <p:nvSpPr>
          <p:cNvPr id="458" name="Google Shape;458;p34">
            <a:extLst>
              <a:ext uri="{FF2B5EF4-FFF2-40B4-BE49-F238E27FC236}">
                <a16:creationId xmlns:a16="http://schemas.microsoft.com/office/drawing/2014/main" id="{B471F81A-A5DA-4D4D-9E47-804D5B61E26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22</a:t>
            </a:r>
            <a:endParaRPr/>
          </a:p>
        </p:txBody>
      </p:sp>
      <p:sp>
        <p:nvSpPr>
          <p:cNvPr id="459" name="Google Shape;459;p34">
            <a:extLst>
              <a:ext uri="{FF2B5EF4-FFF2-40B4-BE49-F238E27FC236}">
                <a16:creationId xmlns:a16="http://schemas.microsoft.com/office/drawing/2014/main" id="{96BB194A-1015-4A81-93B4-EC85629974D2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sz="285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Phân cấp chức năng: 5 nhóm, 16 chức năng con</a:t>
            </a:r>
            <a:endParaRPr/>
          </a:p>
        </p:txBody>
      </p:sp>
      <p:pic>
        <p:nvPicPr>
          <p:cNvPr id="460" name="Google Shape;460;p34">
            <a:extLst>
              <a:ext uri="{FF2B5EF4-FFF2-40B4-BE49-F238E27FC236}">
                <a16:creationId xmlns:a16="http://schemas.microsoft.com/office/drawing/2014/main" id="{56CB0F91-8266-4A66-9086-5677CFC5711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830682"/>
            <a:ext cx="11247120" cy="383671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20861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5">
            <a:extLst>
              <a:ext uri="{FF2B5EF4-FFF2-40B4-BE49-F238E27FC236}">
                <a16:creationId xmlns:a16="http://schemas.microsoft.com/office/drawing/2014/main" id="{837A102C-7AD1-4E47-A2F5-400C5805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 dirty="0">
                <a:latin typeface="Arial"/>
                <a:ea typeface="Arial"/>
                <a:cs typeface="Arial"/>
              </a:rPr>
              <a:t>4. </a:t>
            </a:r>
            <a:r>
              <a:rPr sz="2000" b="1" dirty="0" err="1">
                <a:latin typeface="Arial"/>
                <a:ea typeface="Arial"/>
                <a:cs typeface="Arial"/>
              </a:rPr>
              <a:t>Phân</a:t>
            </a:r>
            <a:r>
              <a:rPr sz="2000" b="1" dirty="0">
                <a:latin typeface="Arial"/>
                <a:ea typeface="Arial"/>
                <a:cs typeface="Arial"/>
              </a:rPr>
              <a:t> </a:t>
            </a:r>
            <a:r>
              <a:rPr sz="2000" b="1" dirty="0" err="1">
                <a:latin typeface="Arial"/>
                <a:ea typeface="Arial"/>
                <a:cs typeface="Arial"/>
              </a:rPr>
              <a:t>tích</a:t>
            </a:r>
            <a:r>
              <a:rPr sz="2000" b="1" dirty="0">
                <a:latin typeface="Arial"/>
                <a:ea typeface="Arial"/>
                <a:cs typeface="Arial"/>
              </a:rPr>
              <a:t> &amp; </a:t>
            </a:r>
            <a:r>
              <a:rPr sz="2000" b="1" dirty="0" err="1">
                <a:latin typeface="Arial"/>
                <a:ea typeface="Arial"/>
                <a:cs typeface="Arial"/>
              </a:rPr>
              <a:t>đặc</a:t>
            </a:r>
            <a:r>
              <a:rPr sz="2000" b="1" dirty="0">
                <a:latin typeface="Arial"/>
                <a:ea typeface="Arial"/>
                <a:cs typeface="Arial"/>
              </a:rPr>
              <a:t> </a:t>
            </a:r>
            <a:r>
              <a:rPr sz="2000" b="1" dirty="0" err="1">
                <a:latin typeface="Arial"/>
                <a:ea typeface="Arial"/>
                <a:cs typeface="Arial"/>
              </a:rPr>
              <a:t>tả</a:t>
            </a:r>
            <a:r>
              <a:rPr sz="2000" b="1" dirty="0">
                <a:latin typeface="Arial"/>
                <a:ea typeface="Arial"/>
                <a:cs typeface="Arial"/>
              </a:rPr>
              <a:t> SRS</a:t>
            </a:r>
            <a:endParaRPr dirty="0"/>
          </a:p>
        </p:txBody>
      </p:sp>
      <p:sp>
        <p:nvSpPr>
          <p:cNvPr id="467" name="Google Shape;467;p35">
            <a:extLst>
              <a:ext uri="{FF2B5EF4-FFF2-40B4-BE49-F238E27FC236}">
                <a16:creationId xmlns:a16="http://schemas.microsoft.com/office/drawing/2014/main" id="{CC282FA6-EDCC-494E-BCA7-F361641AC54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23</a:t>
            </a:r>
            <a:endParaRPr/>
          </a:p>
        </p:txBody>
      </p:sp>
      <p:sp>
        <p:nvSpPr>
          <p:cNvPr id="468" name="Google Shape;468;p35">
            <a:extLst>
              <a:ext uri="{FF2B5EF4-FFF2-40B4-BE49-F238E27FC236}">
                <a16:creationId xmlns:a16="http://schemas.microsoft.com/office/drawing/2014/main" id="{6E7C2133-8E34-4C25-9EE9-FE71CF8E5AD2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strike="noStrike" cap="none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Luồng</a:t>
            </a:r>
            <a:r>
              <a:rPr sz="3000" b="1" i="0" u="none" strike="noStrike" cap="none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i="0" u="none" strike="noStrike" cap="none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dữ</a:t>
            </a:r>
            <a:r>
              <a:rPr sz="3000" b="1" i="0" u="none" strike="noStrike" cap="none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i="0" u="none" strike="noStrike" cap="none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liệu</a:t>
            </a:r>
            <a:r>
              <a:rPr sz="3000" b="1" i="0" u="none" strike="noStrike" cap="none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i="0" u="none" strike="noStrike" cap="none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mức</a:t>
            </a:r>
            <a:r>
              <a:rPr sz="3000" b="1" i="0" u="none" strike="noStrike" cap="none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000" b="1" i="0" u="none" strike="noStrike" cap="none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0</a:t>
            </a:r>
            <a:endParaRPr dirty="0"/>
          </a:p>
        </p:txBody>
      </p:sp>
      <p:pic>
        <p:nvPicPr>
          <p:cNvPr id="2" name="image6.png">
            <a:extLst>
              <a:ext uri="{FF2B5EF4-FFF2-40B4-BE49-F238E27FC236}">
                <a16:creationId xmlns:a16="http://schemas.microsoft.com/office/drawing/2014/main" id="{E7007840-C66E-DC99-8CAD-D41331C2FC71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745297" y="1790700"/>
            <a:ext cx="8701406" cy="387111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756627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93B21-F805-E9D2-7522-71805AFDD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5">
            <a:extLst>
              <a:ext uri="{FF2B5EF4-FFF2-40B4-BE49-F238E27FC236}">
                <a16:creationId xmlns:a16="http://schemas.microsoft.com/office/drawing/2014/main" id="{9A8F4C27-B6FA-7F1D-4A82-8C1ED8B74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 dirty="0">
                <a:latin typeface="Arial"/>
                <a:ea typeface="Arial"/>
                <a:cs typeface="Arial"/>
              </a:rPr>
              <a:t>4. </a:t>
            </a:r>
            <a:r>
              <a:rPr sz="2000" b="1" dirty="0" err="1">
                <a:latin typeface="Arial"/>
                <a:ea typeface="Arial"/>
                <a:cs typeface="Arial"/>
              </a:rPr>
              <a:t>Phân</a:t>
            </a:r>
            <a:r>
              <a:rPr sz="2000" b="1" dirty="0">
                <a:latin typeface="Arial"/>
                <a:ea typeface="Arial"/>
                <a:cs typeface="Arial"/>
              </a:rPr>
              <a:t> </a:t>
            </a:r>
            <a:r>
              <a:rPr sz="2000" b="1" dirty="0" err="1">
                <a:latin typeface="Arial"/>
                <a:ea typeface="Arial"/>
                <a:cs typeface="Arial"/>
              </a:rPr>
              <a:t>tích</a:t>
            </a:r>
            <a:r>
              <a:rPr sz="2000" b="1" dirty="0">
                <a:latin typeface="Arial"/>
                <a:ea typeface="Arial"/>
                <a:cs typeface="Arial"/>
              </a:rPr>
              <a:t> &amp; </a:t>
            </a:r>
            <a:r>
              <a:rPr sz="2000" b="1" dirty="0" err="1">
                <a:latin typeface="Arial"/>
                <a:ea typeface="Arial"/>
                <a:cs typeface="Arial"/>
              </a:rPr>
              <a:t>đặc</a:t>
            </a:r>
            <a:r>
              <a:rPr sz="2000" b="1" dirty="0">
                <a:latin typeface="Arial"/>
                <a:ea typeface="Arial"/>
                <a:cs typeface="Arial"/>
              </a:rPr>
              <a:t> </a:t>
            </a:r>
            <a:r>
              <a:rPr sz="2000" b="1" dirty="0" err="1">
                <a:latin typeface="Arial"/>
                <a:ea typeface="Arial"/>
                <a:cs typeface="Arial"/>
              </a:rPr>
              <a:t>tả</a:t>
            </a:r>
            <a:r>
              <a:rPr sz="2000" b="1" dirty="0">
                <a:latin typeface="Arial"/>
                <a:ea typeface="Arial"/>
                <a:cs typeface="Arial"/>
              </a:rPr>
              <a:t> SRS</a:t>
            </a:r>
            <a:endParaRPr dirty="0"/>
          </a:p>
        </p:txBody>
      </p:sp>
      <p:sp>
        <p:nvSpPr>
          <p:cNvPr id="467" name="Google Shape;467;p35">
            <a:extLst>
              <a:ext uri="{FF2B5EF4-FFF2-40B4-BE49-F238E27FC236}">
                <a16:creationId xmlns:a16="http://schemas.microsoft.com/office/drawing/2014/main" id="{46DDD2E4-E476-B684-08B3-C7B4553015B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24</a:t>
            </a:r>
            <a:endParaRPr/>
          </a:p>
        </p:txBody>
      </p:sp>
      <p:sp>
        <p:nvSpPr>
          <p:cNvPr id="468" name="Google Shape;468;p35">
            <a:extLst>
              <a:ext uri="{FF2B5EF4-FFF2-40B4-BE49-F238E27FC236}">
                <a16:creationId xmlns:a16="http://schemas.microsoft.com/office/drawing/2014/main" id="{05BC37A7-1E51-2A16-1D0F-35BB30A80931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Luồng dữ liệu mức 1</a:t>
            </a:r>
            <a:endParaRPr/>
          </a:p>
        </p:txBody>
      </p:sp>
      <p:pic>
        <p:nvPicPr>
          <p:cNvPr id="469" name="Google Shape;469;p35">
            <a:extLst>
              <a:ext uri="{FF2B5EF4-FFF2-40B4-BE49-F238E27FC236}">
                <a16:creationId xmlns:a16="http://schemas.microsoft.com/office/drawing/2014/main" id="{92E2D9A7-30F8-4D5F-3955-49A8113C163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49590" y="1554480"/>
            <a:ext cx="8262338" cy="3977639"/>
          </a:xfrm>
          <a:prstGeom prst="rect">
            <a:avLst/>
          </a:prstGeom>
          <a:ln>
            <a:noFill/>
          </a:ln>
        </p:spPr>
      </p:pic>
      <p:sp>
        <p:nvSpPr>
          <p:cNvPr id="470" name="Google Shape;470;p35">
            <a:extLst>
              <a:ext uri="{FF2B5EF4-FFF2-40B4-BE49-F238E27FC236}">
                <a16:creationId xmlns:a16="http://schemas.microsoft.com/office/drawing/2014/main" id="{1B929E01-D0C2-17C7-D918-F85E1A3077A4}"/>
              </a:ext>
            </a:extLst>
          </p:cNvPr>
          <p:cNvSpPr>
            <a:spLocks noGrp="1"/>
          </p:cNvSpPr>
          <p:nvPr/>
        </p:nvSpPr>
        <p:spPr>
          <a:xfrm>
            <a:off x="3108960" y="5532120"/>
            <a:ext cx="5943600" cy="457200"/>
          </a:xfrm>
          <a:prstGeom prst="roundRect">
            <a:avLst>
              <a:gd name="adj" fmla="val 25000"/>
            </a:avLst>
          </a:prstGeom>
          <a:solidFill>
            <a:srgbClr val="FBEAEA"/>
          </a:solidFill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strike="noStrike" cap="none">
                <a:solidFill>
                  <a:srgbClr val="8E0E1F"/>
                </a:solidFill>
                <a:latin typeface="Arial"/>
                <a:ea typeface="Arial"/>
                <a:cs typeface="Arial"/>
              </a:rPr>
              <a:t>Đơn đã xác nhận mới đi vào luồng theo dõi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977903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>
            <a:extLst>
              <a:ext uri="{FF2B5EF4-FFF2-40B4-BE49-F238E27FC236}">
                <a16:creationId xmlns:a16="http://schemas.microsoft.com/office/drawing/2014/main" id="{72304E2B-32BB-4DBB-91B9-EFCDEA121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4. Phân tích &amp; đặc tả SRS</a:t>
            </a:r>
            <a:endParaRPr/>
          </a:p>
        </p:txBody>
      </p:sp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0FF92017-E7CD-47D2-B12A-9A710B6A6C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25</a:t>
            </a:r>
            <a:endParaRPr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E8481AF6-F1C8-4A04-B2AB-55C23F23F369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110680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Hoạt động nhập đơn và sinh cữ thuốc</a:t>
            </a:r>
          </a:p>
        </p:txBody>
      </p:sp>
      <p:pic>
        <p:nvPicPr>
          <p:cNvPr id="126" name="Picture 125">
            <a:extLst>
              <a:ext uri="{FF2B5EF4-FFF2-40B4-BE49-F238E27FC236}">
                <a16:creationId xmlns:a16="http://schemas.microsoft.com/office/drawing/2014/main" id="{576D89A4-A1F3-4489-B105-B9B1C2F1D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06798" y="1676400"/>
            <a:ext cx="2966751" cy="4476750"/>
          </a:xfrm>
          <a:prstGeom prst="rect">
            <a:avLst/>
          </a:prstGeom>
        </p:spPr>
      </p:pic>
      <p:sp>
        <p:nvSpPr>
          <p:cNvPr id="127" name="Rectangle 126">
            <a:extLst>
              <a:ext uri="{FF2B5EF4-FFF2-40B4-BE49-F238E27FC236}">
                <a16:creationId xmlns:a16="http://schemas.microsoft.com/office/drawing/2014/main" id="{4DB2DE02-268E-41D4-8742-ED88B32D9E71}"/>
              </a:ext>
            </a:extLst>
          </p:cNvPr>
          <p:cNvSpPr>
            <a:spLocks noGrp="1"/>
          </p:cNvSpPr>
          <p:nvPr/>
        </p:nvSpPr>
        <p:spPr>
          <a:xfrm>
            <a:off x="4905375" y="1885950"/>
            <a:ext cx="6477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22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2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Người chăm sóc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E5DE73D0-E525-4733-8A5E-91637BCE9D9A}"/>
              </a:ext>
            </a:extLst>
          </p:cNvPr>
          <p:cNvSpPr>
            <a:spLocks noGrp="1"/>
          </p:cNvSpPr>
          <p:nvPr/>
        </p:nvSpPr>
        <p:spPr>
          <a:xfrm>
            <a:off x="4905375" y="2428875"/>
            <a:ext cx="6429375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210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0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Tra </a:t>
            </a:r>
            <a:r>
              <a:rPr sz="210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cứu</a:t>
            </a:r>
            <a:r>
              <a:rPr sz="210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đơn</a:t>
            </a:r>
            <a:r>
              <a:rPr sz="210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, </a:t>
            </a:r>
            <a:r>
              <a:rPr sz="210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nhập</a:t>
            </a:r>
            <a:r>
              <a:rPr sz="210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các</a:t>
            </a:r>
            <a:r>
              <a:rPr sz="210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dòng</a:t>
            </a:r>
            <a:r>
              <a:rPr sz="210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thuốc</a:t>
            </a:r>
            <a:endParaRPr sz="2100" b="0" dirty="0">
              <a:solidFill>
                <a:srgbClr val="1F1F1F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210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Xem </a:t>
            </a:r>
            <a:r>
              <a:rPr sz="210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lại</a:t>
            </a:r>
            <a:r>
              <a:rPr sz="210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, </a:t>
            </a:r>
            <a:r>
              <a:rPr sz="210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sửa</a:t>
            </a:r>
            <a:r>
              <a:rPr sz="210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hoặc</a:t>
            </a:r>
            <a:r>
              <a:rPr sz="210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hủy</a:t>
            </a:r>
            <a:r>
              <a:rPr sz="210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đơn</a:t>
            </a:r>
            <a:r>
              <a:rPr sz="210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nháp</a:t>
            </a:r>
            <a:endParaRPr sz="2100" b="0" dirty="0">
              <a:solidFill>
                <a:srgbClr val="1F1F1F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210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10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Xác</a:t>
            </a:r>
            <a:r>
              <a:rPr sz="210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nhận</a:t>
            </a:r>
            <a:r>
              <a:rPr sz="210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trước</a:t>
            </a:r>
            <a:r>
              <a:rPr sz="210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khi</a:t>
            </a:r>
            <a:r>
              <a:rPr sz="210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áp</a:t>
            </a:r>
            <a:r>
              <a:rPr sz="210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dụng</a:t>
            </a:r>
            <a:endParaRPr sz="2100" b="0" dirty="0">
              <a:solidFill>
                <a:srgbClr val="1F1F1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4F736797-CB54-4CC9-9F71-88943300F1C4}"/>
              </a:ext>
            </a:extLst>
          </p:cNvPr>
          <p:cNvSpPr>
            <a:spLocks noGrp="1"/>
          </p:cNvSpPr>
          <p:nvPr/>
        </p:nvSpPr>
        <p:spPr>
          <a:xfrm>
            <a:off x="4905375" y="4067175"/>
            <a:ext cx="6477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22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2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250" b="1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Hệ</a:t>
            </a:r>
            <a:r>
              <a:rPr sz="2250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1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thống</a:t>
            </a:r>
            <a:r>
              <a:rPr sz="2250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1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và</a:t>
            </a:r>
            <a:r>
              <a:rPr sz="2250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Worker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F9399D1-42F3-46C7-8061-3E7295FE519C}"/>
              </a:ext>
            </a:extLst>
          </p:cNvPr>
          <p:cNvSpPr>
            <a:spLocks noGrp="1"/>
          </p:cNvSpPr>
          <p:nvPr/>
        </p:nvSpPr>
        <p:spPr>
          <a:xfrm>
            <a:off x="4905375" y="4610100"/>
            <a:ext cx="6429375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210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0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Chuyển đơn mới sang Hiệu lực</a:t>
            </a:r>
          </a:p>
          <a:p>
            <a:pPr algn="l">
              <a:buNone/>
              <a:defRPr sz="210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Thay thế đơn cũ, hủy cữ tương lai</a:t>
            </a:r>
          </a:p>
          <a:p>
            <a:pPr algn="l">
              <a:buNone/>
              <a:defRPr sz="210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Sinh cữ tới tái khám và ghi nhật ký</a:t>
            </a:r>
          </a:p>
        </p:txBody>
      </p:sp>
    </p:spTree>
    <p:extLst>
      <p:ext uri="{BB962C8B-B14F-4D97-AF65-F5344CB8AC3E}">
        <p14:creationId xmlns:p14="http://schemas.microsoft.com/office/powerpoint/2010/main" val="11312387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>
            <a:extLst>
              <a:ext uri="{FF2B5EF4-FFF2-40B4-BE49-F238E27FC236}">
                <a16:creationId xmlns:a16="http://schemas.microsoft.com/office/drawing/2014/main" id="{72304E2B-32BB-4DBB-91B9-EFCDEA121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4. Phân tích &amp; đặc tả SRS</a:t>
            </a:r>
            <a:endParaRPr/>
          </a:p>
        </p:txBody>
      </p:sp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0FF92017-E7CD-47D2-B12A-9A710B6A6C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26</a:t>
            </a:r>
            <a:endParaRPr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C7A11E95-842E-4DA8-BEBD-546E4A586091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110680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Hoạt động nhắc, xác nhận và cảnh báo</a:t>
            </a:r>
          </a:p>
        </p:txBody>
      </p:sp>
      <p:pic>
        <p:nvPicPr>
          <p:cNvPr id="126" name="Picture 125">
            <a:extLst>
              <a:ext uri="{FF2B5EF4-FFF2-40B4-BE49-F238E27FC236}">
                <a16:creationId xmlns:a16="http://schemas.microsoft.com/office/drawing/2014/main" id="{9BC9B88A-FB25-4555-AD56-E206DF9B2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728530"/>
            <a:ext cx="7000875" cy="4124840"/>
          </a:xfrm>
          <a:prstGeom prst="rect">
            <a:avLst/>
          </a:prstGeom>
        </p:spPr>
      </p:pic>
      <p:sp>
        <p:nvSpPr>
          <p:cNvPr id="127" name="Rectangle 126">
            <a:extLst>
              <a:ext uri="{FF2B5EF4-FFF2-40B4-BE49-F238E27FC236}">
                <a16:creationId xmlns:a16="http://schemas.microsoft.com/office/drawing/2014/main" id="{A99CB59B-ABA0-4194-BC3C-51F781E9EA07}"/>
              </a:ext>
            </a:extLst>
          </p:cNvPr>
          <p:cNvSpPr>
            <a:spLocks noGrp="1"/>
          </p:cNvSpPr>
          <p:nvPr/>
        </p:nvSpPr>
        <p:spPr>
          <a:xfrm>
            <a:off x="7905750" y="1828800"/>
            <a:ext cx="34766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21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Các nhánh chính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14AEE55-380F-475E-B488-631961C35CDE}"/>
              </a:ext>
            </a:extLst>
          </p:cNvPr>
          <p:cNvSpPr>
            <a:spLocks noGrp="1"/>
          </p:cNvSpPr>
          <p:nvPr/>
        </p:nvSpPr>
        <p:spPr>
          <a:xfrm>
            <a:off x="7905750" y="2428875"/>
            <a:ext cx="3476625" cy="2190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95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95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Xác nhận trong hạn</a:t>
            </a:r>
          </a:p>
          <a:p>
            <a:pPr algn="l">
              <a:buNone/>
              <a:defRPr sz="195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Xác nhận hộ có quyền</a:t>
            </a:r>
          </a:p>
          <a:p>
            <a:pPr algn="l">
              <a:buNone/>
              <a:defRPr sz="195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Quá hạn thì cảnh báo</a:t>
            </a:r>
          </a:p>
          <a:p>
            <a:pPr algn="l">
              <a:buNone/>
              <a:defRPr sz="195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Không có người nhà thì</a:t>
            </a:r>
          </a:p>
          <a:p>
            <a:pPr algn="l">
              <a:buNone/>
              <a:defRPr sz="195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chỉ báo người chăm sóc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CB34C778-3EAB-48B4-93B7-73DA7A9D92B8}"/>
              </a:ext>
            </a:extLst>
          </p:cNvPr>
          <p:cNvSpPr>
            <a:spLocks noGrp="1"/>
          </p:cNvSpPr>
          <p:nvPr/>
        </p:nvSpPr>
        <p:spPr>
          <a:xfrm>
            <a:off x="7905750" y="5000625"/>
            <a:ext cx="3476625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875" b="1">
                <a:solidFill>
                  <a:srgbClr val="A864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75" b="1">
                <a:solidFill>
                  <a:srgbClr val="A864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86400"/>
                </a:solidFill>
                <a:latin typeface="Arial"/>
                <a:ea typeface="Arial"/>
                <a:cs typeface="Arial"/>
              </a:rPr>
              <a:t>Cần chốt ngưỡng bỏ lỡ</a:t>
            </a:r>
          </a:p>
          <a:p>
            <a:pPr algn="l">
              <a:buNone/>
              <a:defRPr sz="1875" b="1">
                <a:solidFill>
                  <a:srgbClr val="A864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86400"/>
                </a:solidFill>
                <a:latin typeface="Arial"/>
                <a:ea typeface="Arial"/>
                <a:cs typeface="Arial"/>
              </a:rPr>
              <a:t>và cách tính xác nhận muộn</a:t>
            </a:r>
          </a:p>
        </p:txBody>
      </p:sp>
    </p:spTree>
    <p:extLst>
      <p:ext uri="{BB962C8B-B14F-4D97-AF65-F5344CB8AC3E}">
        <p14:creationId xmlns:p14="http://schemas.microsoft.com/office/powerpoint/2010/main" val="11312387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6">
            <a:extLst>
              <a:ext uri="{FF2B5EF4-FFF2-40B4-BE49-F238E27FC236}">
                <a16:creationId xmlns:a16="http://schemas.microsoft.com/office/drawing/2014/main" id="{A23037A9-E44B-473E-B4E4-6D7C215A8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4. Phân tích &amp; đặc tả SRS</a:t>
            </a:r>
            <a:endParaRPr/>
          </a:p>
        </p:txBody>
      </p:sp>
      <p:sp>
        <p:nvSpPr>
          <p:cNvPr id="477" name="Google Shape;477;p36">
            <a:extLst>
              <a:ext uri="{FF2B5EF4-FFF2-40B4-BE49-F238E27FC236}">
                <a16:creationId xmlns:a16="http://schemas.microsoft.com/office/drawing/2014/main" id="{AD14D5E6-909F-4846-A1B7-91E6860A8CE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27</a:t>
            </a:r>
            <a:endParaRPr/>
          </a:p>
        </p:txBody>
      </p:sp>
      <p:sp>
        <p:nvSpPr>
          <p:cNvPr id="478" name="Google Shape;478;p36">
            <a:extLst>
              <a:ext uri="{FF2B5EF4-FFF2-40B4-BE49-F238E27FC236}">
                <a16:creationId xmlns:a16="http://schemas.microsoft.com/office/drawing/2014/main" id="{23E376B7-21EC-4D88-A739-B496F1473B41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Vòng đời cữ thuốc</a:t>
            </a:r>
            <a:endParaRPr/>
          </a:p>
        </p:txBody>
      </p:sp>
      <p:pic>
        <p:nvPicPr>
          <p:cNvPr id="479" name="Google Shape;479;p36">
            <a:extLst>
              <a:ext uri="{FF2B5EF4-FFF2-40B4-BE49-F238E27FC236}">
                <a16:creationId xmlns:a16="http://schemas.microsoft.com/office/drawing/2014/main" id="{B8C1D0C7-C94D-44E2-AC98-A50D81C403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972" y="1508760"/>
            <a:ext cx="4717495" cy="4480560"/>
          </a:xfrm>
          <a:prstGeom prst="rect">
            <a:avLst/>
          </a:prstGeom>
          <a:ln>
            <a:noFill/>
          </a:ln>
        </p:spPr>
      </p:pic>
      <p:sp>
        <p:nvSpPr>
          <p:cNvPr id="480" name="Google Shape;480;p36">
            <a:extLst>
              <a:ext uri="{FF2B5EF4-FFF2-40B4-BE49-F238E27FC236}">
                <a16:creationId xmlns:a16="http://schemas.microsoft.com/office/drawing/2014/main" id="{C621501B-F59F-45EC-B284-204207768372}"/>
              </a:ext>
            </a:extLst>
          </p:cNvPr>
          <p:cNvSpPr>
            <a:spLocks noGrp="1"/>
          </p:cNvSpPr>
          <p:nvPr/>
        </p:nvSpPr>
        <p:spPr>
          <a:xfrm>
            <a:off x="6858000" y="1737360"/>
            <a:ext cx="4754880" cy="283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320040" marR="0" lvl="0" indent="-27432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98"/>
              <a:buFont typeface="Arial"/>
              <a:buChar char="•"/>
            </a:pPr>
            <a:r>
              <a:rPr sz="1898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Phân biệt tự xác nhận và xác nhận hộ</a:t>
            </a:r>
            <a:endParaRPr/>
          </a:p>
          <a:p>
            <a:pPr marL="320040" marR="0" lvl="0" indent="-27432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C00000"/>
              </a:buClr>
              <a:buSzPts val="1898"/>
              <a:buFont typeface="Arial"/>
              <a:buChar char="•"/>
            </a:pPr>
            <a:r>
              <a:rPr sz="1898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Quá hạn: cảnh báo người chăm sóc</a:t>
            </a:r>
            <a:endParaRPr/>
          </a:p>
          <a:p>
            <a:pPr marL="320040" marR="0" lvl="0" indent="-27432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C00000"/>
              </a:buClr>
              <a:buSzPts val="1898"/>
              <a:buFont typeface="Arial"/>
              <a:buChar char="•"/>
            </a:pPr>
            <a:r>
              <a:rPr sz="1898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Đơn mới: hủy cữ tương lai của đơn cũ</a:t>
            </a:r>
            <a:endParaRPr/>
          </a:p>
          <a:p>
            <a:pPr marL="320040" marR="0" lvl="0" indent="-27432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C00000"/>
              </a:buClr>
              <a:buSzPts val="1898"/>
              <a:buFont typeface="Arial"/>
              <a:buChar char="•"/>
            </a:pPr>
            <a:r>
              <a:rPr sz="1898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Bấm nhầm: thêm bản ghi đính chính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094674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4">
            <a:extLst>
              <a:ext uri="{FF2B5EF4-FFF2-40B4-BE49-F238E27FC236}">
                <a16:creationId xmlns:a16="http://schemas.microsoft.com/office/drawing/2014/main" id="{BBF4DE90-4B9B-4D2D-885F-DCB196CFF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4. Phân tích &amp; đặc tả SRS</a:t>
            </a:r>
            <a:endParaRPr/>
          </a:p>
        </p:txBody>
      </p:sp>
      <p:sp>
        <p:nvSpPr>
          <p:cNvPr id="458" name="Google Shape;458;p34">
            <a:extLst>
              <a:ext uri="{FF2B5EF4-FFF2-40B4-BE49-F238E27FC236}">
                <a16:creationId xmlns:a16="http://schemas.microsoft.com/office/drawing/2014/main" id="{B471F81A-A5DA-4D4D-9E47-804D5B61E26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28</a:t>
            </a:r>
            <a:endParaRPr/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3F83E2A5-F893-41FD-ABE9-89D5991F656F}"/>
              </a:ext>
            </a:extLst>
          </p:cNvPr>
          <p:cNvSpPr>
            <a:spLocks noGrp="1"/>
          </p:cNvSpPr>
          <p:nvPr/>
        </p:nvSpPr>
        <p:spPr>
          <a:xfrm>
            <a:off x="552450" y="8572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Vòng đời đơn thuốc</a:t>
            </a:r>
          </a:p>
        </p:txBody>
      </p:sp>
      <p:pic>
        <p:nvPicPr>
          <p:cNvPr id="460" name="Picture 459">
            <a:extLst>
              <a:ext uri="{FF2B5EF4-FFF2-40B4-BE49-F238E27FC236}">
                <a16:creationId xmlns:a16="http://schemas.microsoft.com/office/drawing/2014/main" id="{8EACCA17-A270-49EF-BF21-E58532B44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72817" y="1504950"/>
            <a:ext cx="3931367" cy="4572000"/>
          </a:xfrm>
          <a:prstGeom prst="rect">
            <a:avLst/>
          </a:prstGeom>
        </p:spPr>
      </p:pic>
      <p:sp>
        <p:nvSpPr>
          <p:cNvPr id="461" name="Rectangle 460">
            <a:extLst>
              <a:ext uri="{FF2B5EF4-FFF2-40B4-BE49-F238E27FC236}">
                <a16:creationId xmlns:a16="http://schemas.microsoft.com/office/drawing/2014/main" id="{B110BF16-FEF0-459D-90D3-D4CF33C6D42C}"/>
              </a:ext>
            </a:extLst>
          </p:cNvPr>
          <p:cNvSpPr>
            <a:spLocks noGrp="1"/>
          </p:cNvSpPr>
          <p:nvPr/>
        </p:nvSpPr>
        <p:spPr>
          <a:xfrm>
            <a:off x="6477000" y="179070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22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Các trạng thái chính</a:t>
            </a: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F5FDD7FF-665F-4F80-A9AE-8BA850620426}"/>
              </a:ext>
            </a:extLst>
          </p:cNvPr>
          <p:cNvSpPr>
            <a:spLocks noGrp="1"/>
          </p:cNvSpPr>
          <p:nvPr/>
        </p:nvSpPr>
        <p:spPr>
          <a:xfrm>
            <a:off x="6477000" y="2400300"/>
            <a:ext cx="5000625" cy="2905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2025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Nháp: cho phép sửa dòng thuốc</a:t>
            </a:r>
          </a:p>
          <a:p>
            <a:pPr algn="l">
              <a:defRPr sz="2025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Hiệu lực: sinh lịch cữ sau xác nhận</a:t>
            </a:r>
          </a:p>
          <a:p>
            <a:pPr algn="l">
              <a:defRPr sz="2025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Bị thay thế: hủy các cữ tương lai</a:t>
            </a:r>
          </a:p>
          <a:p>
            <a:pPr algn="l">
              <a:defRPr sz="2025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Hết hạn: qua ngày hẹn tái khám</a:t>
            </a:r>
          </a:p>
          <a:p>
            <a:pPr algn="l">
              <a:defRPr sz="2025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Đã hủy: người chăm sóc hủy đơn</a:t>
            </a:r>
          </a:p>
        </p:txBody>
      </p:sp>
    </p:spTree>
    <p:extLst>
      <p:ext uri="{BB962C8B-B14F-4D97-AF65-F5344CB8AC3E}">
        <p14:creationId xmlns:p14="http://schemas.microsoft.com/office/powerpoint/2010/main" val="10096374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4">
            <a:extLst>
              <a:ext uri="{FF2B5EF4-FFF2-40B4-BE49-F238E27FC236}">
                <a16:creationId xmlns:a16="http://schemas.microsoft.com/office/drawing/2014/main" id="{BBF4DE90-4B9B-4D2D-885F-DCB196CFF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4. Phân tích &amp; đặc tả SRS</a:t>
            </a:r>
            <a:endParaRPr/>
          </a:p>
        </p:txBody>
      </p:sp>
      <p:sp>
        <p:nvSpPr>
          <p:cNvPr id="458" name="Google Shape;458;p34">
            <a:extLst>
              <a:ext uri="{FF2B5EF4-FFF2-40B4-BE49-F238E27FC236}">
                <a16:creationId xmlns:a16="http://schemas.microsoft.com/office/drawing/2014/main" id="{B471F81A-A5DA-4D4D-9E47-804D5B61E26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29</a:t>
            </a:r>
            <a:endParaRPr/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15AFD99F-CE66-4083-906A-890A62E65277}"/>
              </a:ext>
            </a:extLst>
          </p:cNvPr>
          <p:cNvSpPr>
            <a:spLocks noGrp="1"/>
          </p:cNvSpPr>
          <p:nvPr/>
        </p:nvSpPr>
        <p:spPr>
          <a:xfrm>
            <a:off x="552450" y="8572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Biểu đồ Use Case tổng quát</a:t>
            </a:r>
          </a:p>
        </p:txBody>
      </p:sp>
      <p:pic>
        <p:nvPicPr>
          <p:cNvPr id="460" name="Picture 459">
            <a:extLst>
              <a:ext uri="{FF2B5EF4-FFF2-40B4-BE49-F238E27FC236}">
                <a16:creationId xmlns:a16="http://schemas.microsoft.com/office/drawing/2014/main" id="{654EC85A-8E69-4D46-96D5-5BA4B5D51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21837" y="1476375"/>
            <a:ext cx="3538077" cy="4667250"/>
          </a:xfrm>
          <a:prstGeom prst="rect">
            <a:avLst/>
          </a:prstGeom>
        </p:spPr>
      </p:pic>
      <p:sp>
        <p:nvSpPr>
          <p:cNvPr id="461" name="Rectangle 460">
            <a:extLst>
              <a:ext uri="{FF2B5EF4-FFF2-40B4-BE49-F238E27FC236}">
                <a16:creationId xmlns:a16="http://schemas.microsoft.com/office/drawing/2014/main" id="{91539585-A11C-4F7C-8513-6BFD1A345FBB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5429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22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Các tác nhân trong hệ thống</a:t>
            </a: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1E832941-901C-4272-AEF6-A8DE0F9C439D}"/>
              </a:ext>
            </a:extLst>
          </p:cNvPr>
          <p:cNvSpPr>
            <a:spLocks noGrp="1"/>
          </p:cNvSpPr>
          <p:nvPr/>
        </p:nvSpPr>
        <p:spPr>
          <a:xfrm>
            <a:off x="6191250" y="2447925"/>
            <a:ext cx="5429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21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Người chăm sóc</a:t>
            </a: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90B63739-7CE1-4D56-8489-B929B35E43C6}"/>
              </a:ext>
            </a:extLst>
          </p:cNvPr>
          <p:cNvSpPr>
            <a:spLocks noGrp="1"/>
          </p:cNvSpPr>
          <p:nvPr/>
        </p:nvSpPr>
        <p:spPr>
          <a:xfrm>
            <a:off x="6191250" y="2857500"/>
            <a:ext cx="542925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2025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Quản lý hồ sơ, đơn thuốc,</a:t>
            </a:r>
          </a:p>
          <a:p>
            <a:pPr algn="l">
              <a:defRPr sz="2025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theo dõi và xuất báo cáo</a:t>
            </a: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F16EF094-4A2D-4EBD-B7C2-E36DAEB57E9C}"/>
              </a:ext>
            </a:extLst>
          </p:cNvPr>
          <p:cNvSpPr>
            <a:spLocks noGrp="1"/>
          </p:cNvSpPr>
          <p:nvPr/>
        </p:nvSpPr>
        <p:spPr>
          <a:xfrm>
            <a:off x="6191250" y="3905250"/>
            <a:ext cx="5429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21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Bệnh nhân và người nhà</a:t>
            </a:r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77BBA409-7D33-4ADC-811B-93FC275BE549}"/>
              </a:ext>
            </a:extLst>
          </p:cNvPr>
          <p:cNvSpPr>
            <a:spLocks noGrp="1"/>
          </p:cNvSpPr>
          <p:nvPr/>
        </p:nvSpPr>
        <p:spPr>
          <a:xfrm>
            <a:off x="6191250" y="4314825"/>
            <a:ext cx="5429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2025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Xác nhận đã uống và xác nhận hộ</a:t>
            </a:r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8E73774F-30A6-45DC-AFAD-8D3BE6839D60}"/>
              </a:ext>
            </a:extLst>
          </p:cNvPr>
          <p:cNvSpPr>
            <a:spLocks noGrp="1"/>
          </p:cNvSpPr>
          <p:nvPr/>
        </p:nvSpPr>
        <p:spPr>
          <a:xfrm>
            <a:off x="6191250" y="5029200"/>
            <a:ext cx="5429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21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Bộ lập lịch</a:t>
            </a:r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EB4E0B86-C49F-4A19-A736-E3467D6BC93A}"/>
              </a:ext>
            </a:extLst>
          </p:cNvPr>
          <p:cNvSpPr>
            <a:spLocks noGrp="1"/>
          </p:cNvSpPr>
          <p:nvPr/>
        </p:nvSpPr>
        <p:spPr>
          <a:xfrm>
            <a:off x="6191250" y="5438775"/>
            <a:ext cx="5429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2025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Phát nhắc, phát hiện bỏ lỡ, nhắc tái khám</a:t>
            </a:r>
          </a:p>
        </p:txBody>
      </p:sp>
    </p:spTree>
    <p:extLst>
      <p:ext uri="{BB962C8B-B14F-4D97-AF65-F5344CB8AC3E}">
        <p14:creationId xmlns:p14="http://schemas.microsoft.com/office/powerpoint/2010/main" val="10172720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4">
            <a:extLst>
              <a:ext uri="{FF2B5EF4-FFF2-40B4-BE49-F238E27FC236}">
                <a16:creationId xmlns:a16="http://schemas.microsoft.com/office/drawing/2014/main" id="{BBF4DE90-4B9B-4D2D-885F-DCB196CFF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4. Phân tích &amp; đặc tả SRS</a:t>
            </a:r>
            <a:endParaRPr/>
          </a:p>
        </p:txBody>
      </p:sp>
      <p:sp>
        <p:nvSpPr>
          <p:cNvPr id="458" name="Google Shape;458;p34">
            <a:extLst>
              <a:ext uri="{FF2B5EF4-FFF2-40B4-BE49-F238E27FC236}">
                <a16:creationId xmlns:a16="http://schemas.microsoft.com/office/drawing/2014/main" id="{B471F81A-A5DA-4D4D-9E47-804D5B61E26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30</a:t>
            </a:r>
            <a:endParaRPr/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52046FFC-4543-4493-AA31-D95057E6B6CC}"/>
              </a:ext>
            </a:extLst>
          </p:cNvPr>
          <p:cNvSpPr>
            <a:spLocks noGrp="1"/>
          </p:cNvSpPr>
          <p:nvPr/>
        </p:nvSpPr>
        <p:spPr>
          <a:xfrm>
            <a:off x="552450" y="8572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Danh sách use case: UC-01 đến UC-06</a:t>
            </a:r>
          </a:p>
        </p:txBody>
      </p:sp>
      <p:graphicFrame>
        <p:nvGraphicFramePr>
          <p:cNvPr id="460" name="Table 459">
            <a:extLst>
              <a:ext uri="{FF2B5EF4-FFF2-40B4-BE49-F238E27FC236}">
                <a16:creationId xmlns:a16="http://schemas.microsoft.com/office/drawing/2014/main" id="{5FEEB2F2-DF80-4BFE-87D8-2B424E52142D}"/>
              </a:ext>
            </a:extLst>
          </p:cNvPr>
          <p:cNvGraphicFramePr/>
          <p:nvPr/>
        </p:nvGraphicFramePr>
        <p:xfrm>
          <a:off x="552450" y="1714500"/>
          <a:ext cx="11049000" cy="4232364"/>
        </p:xfrm>
        <a:graphic>
          <a:graphicData uri="http://schemas.openxmlformats.org/drawingml/2006/table">
            <a:tbl>
              <a:tblPr/>
              <a:tblGrid>
                <a:gridCol w="109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Mã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Tên use case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Tác nhân chính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FR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UC-01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Đăng ký, đăng nhập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Người chăm sóc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FR-01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UC-02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Tạo hồ sơ bệnh nhân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Người chăm sóc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FR-01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UC-03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Ghép nối thiết bị bệnh nhân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Người chăm sóc, Bệnh nhân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FR-02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UC-04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Ủy quyền người nhà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Người chăm sóc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FR-03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UC-05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Nhập đơn thuốc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Người chăm sóc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FR-04, FR-05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UC-06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Xác nhận đơn thuốc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Người chăm sóc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FR-06, FR-07, FR-08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65890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4">
            <a:extLst>
              <a:ext uri="{FF2B5EF4-FFF2-40B4-BE49-F238E27FC236}">
                <a16:creationId xmlns:a16="http://schemas.microsoft.com/office/drawing/2014/main" id="{BBF4DE90-4B9B-4D2D-885F-DCB196CFF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4. Phân tích &amp; đặc tả SRS</a:t>
            </a:r>
            <a:endParaRPr/>
          </a:p>
        </p:txBody>
      </p:sp>
      <p:sp>
        <p:nvSpPr>
          <p:cNvPr id="458" name="Google Shape;458;p34">
            <a:extLst>
              <a:ext uri="{FF2B5EF4-FFF2-40B4-BE49-F238E27FC236}">
                <a16:creationId xmlns:a16="http://schemas.microsoft.com/office/drawing/2014/main" id="{B471F81A-A5DA-4D4D-9E47-804D5B61E26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31</a:t>
            </a:r>
            <a:endParaRPr/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F300FCEF-DE81-4B13-B624-C6C363869458}"/>
              </a:ext>
            </a:extLst>
          </p:cNvPr>
          <p:cNvSpPr>
            <a:spLocks noGrp="1"/>
          </p:cNvSpPr>
          <p:nvPr/>
        </p:nvSpPr>
        <p:spPr>
          <a:xfrm>
            <a:off x="552450" y="8572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Danh sách use case: UC-07 đến UC-13</a:t>
            </a:r>
          </a:p>
        </p:txBody>
      </p:sp>
      <p:graphicFrame>
        <p:nvGraphicFramePr>
          <p:cNvPr id="460" name="Table 459">
            <a:extLst>
              <a:ext uri="{FF2B5EF4-FFF2-40B4-BE49-F238E27FC236}">
                <a16:creationId xmlns:a16="http://schemas.microsoft.com/office/drawing/2014/main" id="{6FD3BC1C-27F1-4280-BAB2-553BC07B4B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2622425"/>
              </p:ext>
            </p:extLst>
          </p:nvPr>
        </p:nvGraphicFramePr>
        <p:xfrm>
          <a:off x="552450" y="1714500"/>
          <a:ext cx="11049000" cy="4307205"/>
        </p:xfrm>
        <a:graphic>
          <a:graphicData uri="http://schemas.openxmlformats.org/drawingml/2006/table">
            <a:tbl>
              <a:tblPr/>
              <a:tblGrid>
                <a:gridCol w="109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Mã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Tên use case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Tác nhân chính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FR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UC-07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Xác nhận đã uống thuốc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Bệnh nhân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FR-11, FR-13,</a:t>
                      </a:r>
                    </a:p>
                    <a:p>
                      <a:pPr algn="l"/>
                      <a:r>
                        <a:rPr lang="en-US"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FR-14, FR-15</a:t>
                      </a:r>
                      <a:endParaRPr sz="1800" b="0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UC-08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Xác nhận hộ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Người nhà sống cùng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FR-13, FR-15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UC-09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Theo dõi tổng quan tuân thủ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Người chăm sóc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FR-19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UC-10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Phát nhắc và phát hiện cữ bỏ lỡ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Bộ lập lịch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FR-09, FR-10, FR-12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UC-11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Ghi nhận chỉ số xét nghiệm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Người chăm sóc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FR-16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UC-12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Nhắc lịch tái khám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Bộ lập lịch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FR-17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UC-13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Xuất báo cáo PDF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Người chăm sóc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FR-20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73356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4">
            <a:extLst>
              <a:ext uri="{FF2B5EF4-FFF2-40B4-BE49-F238E27FC236}">
                <a16:creationId xmlns:a16="http://schemas.microsoft.com/office/drawing/2014/main" id="{BBF4DE90-4B9B-4D2D-885F-DCB196CFF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4. Phân tích &amp; đặc tả SRS</a:t>
            </a:r>
            <a:endParaRPr/>
          </a:p>
        </p:txBody>
      </p:sp>
      <p:sp>
        <p:nvSpPr>
          <p:cNvPr id="458" name="Google Shape;458;p34">
            <a:extLst>
              <a:ext uri="{FF2B5EF4-FFF2-40B4-BE49-F238E27FC236}">
                <a16:creationId xmlns:a16="http://schemas.microsoft.com/office/drawing/2014/main" id="{B471F81A-A5DA-4D4D-9E47-804D5B61E26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32</a:t>
            </a:r>
            <a:endParaRPr/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F300FCEF-DE81-4B13-B624-C6C363869458}"/>
              </a:ext>
            </a:extLst>
          </p:cNvPr>
          <p:cNvSpPr>
            <a:spLocks noGrp="1"/>
          </p:cNvSpPr>
          <p:nvPr/>
        </p:nvSpPr>
        <p:spPr>
          <a:xfrm>
            <a:off x="552450" y="8572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Yêu cầu chức năng: FR-01 đến FR-10</a:t>
            </a:r>
          </a:p>
        </p:txBody>
      </p:sp>
      <p:graphicFrame>
        <p:nvGraphicFramePr>
          <p:cNvPr id="460" name="Table 459">
            <a:extLst>
              <a:ext uri="{FF2B5EF4-FFF2-40B4-BE49-F238E27FC236}">
                <a16:creationId xmlns:a16="http://schemas.microsoft.com/office/drawing/2014/main" id="{6FD3BC1C-27F1-4280-BAB2-553BC07B4B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2622425"/>
              </p:ext>
            </p:extLst>
          </p:nvPr>
        </p:nvGraphicFramePr>
        <p:xfrm>
          <a:off x="552450" y="1600000"/>
          <a:ext cx="11049000" cy="4020000"/>
        </p:xfrm>
        <a:graphic>
          <a:graphicData uri="http://schemas.openxmlformats.org/drawingml/2006/table">
            <a:tbl>
              <a:tblPr/>
              <a:tblGrid>
                <a:gridCol w="1150000">
                  <a:extLst>
                    <a:ext uri="{9D8B030D-6E8A-4147-A177-3AD203B41FA5}">
                      <a16:colId xmlns:a16="http://schemas.microsoft.com/office/drawing/2014/main" val="30000"/>
                    </a:ext>
                  </a:extLst>
                </a:gridCol>
                <a:gridCol w="7450000">
                  <a:extLst>
                    <a:ext uri="{9D8B030D-6E8A-4147-A177-3AD203B41FA5}">
                      <a16:colId xmlns:a16="http://schemas.microsoft.com/office/drawing/2014/main" val="3000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30002"/>
                    </a:ext>
                  </a:extLst>
                </a:gridCol>
                <a:gridCol w="1249000">
                  <a:extLst>
                    <a:ext uri="{9D8B030D-6E8A-4147-A177-3AD203B41FA5}">
                      <a16:colId xmlns:a16="http://schemas.microsoft.com/office/drawing/2014/main" val="3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Mã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Yêu cầu chức năng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Ưu tiên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Vấn đề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FR-01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Tạo tài khoản; hồ sơ bệnh nhân chỉ gồm tên gọi và năm sinh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Must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P4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FR-02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Sinh mã ghép nối một lần; thiết bị dùng không cần đăng nhập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Must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P7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FR-03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Ủy quyền và thu hồi quyền xác nhận hộ của người nhà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Should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P5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FR-04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Nhập đơn: ngày kê, ngày bắt đầu, ngày tái khám, các dòng thuốc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Must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P1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FR-05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Gợi ý tên thuốc từ danh mục sau 2 ký tự; cho giữ tên tự do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Must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P3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FR-06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Chỉ sinh cữ từ đơn đã xác nhận; chỉ sửa đơn khi còn Nháp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Must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P1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FR-07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Xác nhận đơn mới: đơn cũ Bị thay thế, hủy cữ tương lai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Must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P2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FR-08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Cảnh báo hai thuốc trùng hoạt chất; không tự sửa đơn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Could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P3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FR-09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Tự sinh cữ hằng ngày từ đơn Hiệu lực tới ngày tái khám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Must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P1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FR-10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Gửi nhắc tới thiết bị bệnh nhân tại từng mốc giờ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Must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P2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90" name="Google Shape;529;p38">
            <a:extLst>
              <a:ext uri="{FF2B5EF4-FFF2-40B4-BE49-F238E27FC236}">
                <a16:creationId xmlns:a16="http://schemas.microsoft.com/office/drawing/2014/main" id="{96DAF9DB-8887-44BE-BE74-485BAA604F43}"/>
              </a:ext>
            </a:extLst>
          </p:cNvPr>
          <p:cNvSpPr>
            <a:spLocks noGrp="1"/>
          </p:cNvSpPr>
          <p:nvPr/>
        </p:nvSpPr>
        <p:spPr>
          <a:xfrm>
            <a:off x="552450" y="57700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</a:rPr>
              <a:t>20 FR: 14 Must, 5 Should, 1 Could. Cột Vấn đề truy ngược về P1–P7 ở Mục 1.3.</a:t>
            </a:r>
            <a:endParaRPr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3356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4">
            <a:extLst>
              <a:ext uri="{FF2B5EF4-FFF2-40B4-BE49-F238E27FC236}">
                <a16:creationId xmlns:a16="http://schemas.microsoft.com/office/drawing/2014/main" id="{BBF4DE90-4B9B-4D2D-885F-DCB196CFF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4. Phân tích &amp; đặc tả SRS</a:t>
            </a:r>
            <a:endParaRPr/>
          </a:p>
        </p:txBody>
      </p:sp>
      <p:sp>
        <p:nvSpPr>
          <p:cNvPr id="458" name="Google Shape;458;p34">
            <a:extLst>
              <a:ext uri="{FF2B5EF4-FFF2-40B4-BE49-F238E27FC236}">
                <a16:creationId xmlns:a16="http://schemas.microsoft.com/office/drawing/2014/main" id="{B471F81A-A5DA-4D4D-9E47-804D5B61E26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33</a:t>
            </a:r>
            <a:endParaRPr/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F300FCEF-DE81-4B13-B624-C6C363869458}"/>
              </a:ext>
            </a:extLst>
          </p:cNvPr>
          <p:cNvSpPr>
            <a:spLocks noGrp="1"/>
          </p:cNvSpPr>
          <p:nvPr/>
        </p:nvSpPr>
        <p:spPr>
          <a:xfrm>
            <a:off x="552450" y="8572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Yêu cầu chức năng: FR-11 đến FR-20</a:t>
            </a:r>
          </a:p>
        </p:txBody>
      </p:sp>
      <p:graphicFrame>
        <p:nvGraphicFramePr>
          <p:cNvPr id="460" name="Table 459">
            <a:extLst>
              <a:ext uri="{FF2B5EF4-FFF2-40B4-BE49-F238E27FC236}">
                <a16:creationId xmlns:a16="http://schemas.microsoft.com/office/drawing/2014/main" id="{6FD3BC1C-27F1-4280-BAB2-553BC07B4B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2622425"/>
              </p:ext>
            </p:extLst>
          </p:nvPr>
        </p:nvGraphicFramePr>
        <p:xfrm>
          <a:off x="552450" y="1600000"/>
          <a:ext cx="11049000" cy="4020000"/>
        </p:xfrm>
        <a:graphic>
          <a:graphicData uri="http://schemas.openxmlformats.org/drawingml/2006/table">
            <a:tbl>
              <a:tblPr/>
              <a:tblGrid>
                <a:gridCol w="1150000">
                  <a:extLst>
                    <a:ext uri="{9D8B030D-6E8A-4147-A177-3AD203B41FA5}">
                      <a16:colId xmlns:a16="http://schemas.microsoft.com/office/drawing/2014/main" val="30000"/>
                    </a:ext>
                  </a:extLst>
                </a:gridCol>
                <a:gridCol w="7450000">
                  <a:extLst>
                    <a:ext uri="{9D8B030D-6E8A-4147-A177-3AD203B41FA5}">
                      <a16:colId xmlns:a16="http://schemas.microsoft.com/office/drawing/2014/main" val="3000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30002"/>
                    </a:ext>
                  </a:extLst>
                </a:gridCol>
                <a:gridCol w="1249000">
                  <a:extLst>
                    <a:ext uri="{9D8B030D-6E8A-4147-A177-3AD203B41FA5}">
                      <a16:colId xmlns:a16="http://schemas.microsoft.com/office/drawing/2014/main" val="3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Mã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Yêu cầu chức năng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Ưu tiên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Vấn đề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FR-11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Xác nhận đã uống bằng một thao tác; hiển thị giờ đã uống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Must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P2, P7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FR-12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Quá ngưỡng: chuyển Bỏ lỡ, cảnh báo người chăm sóc và người nhà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Must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P4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FR-13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Ghi rõ xác nhận do bệnh nhân hay người được ủy quyền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Must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P6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FR-14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Xác nhận sau thời hạn được ghi là Xác nhận muộn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Should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P6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FR-15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Không sửa, xóa xác nhận; đính chính bằng bản ghi mới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Must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P6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FR-16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Nhập chỉ số xét nghiệm: loại, giá trị, đơn vị, ngày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Should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P6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FR-17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Nhắc lịch tái khám trước ngày hẹn, số ngày cấu hình được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Should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P1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FR-18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Ghi nhật ký có cấu trúc cho mọi thao tác ghi dữ liệu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Must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P6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FR-19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Hiển thị tổng quan tuân thủ theo kỳ 7, 30, 90 ngày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Must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P4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FR-20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Xuất báo cáo PDF 30 ngày: tỷ lệ, người xác nhận, chỉ số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Should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P6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90" name="Google Shape;529;p38">
            <a:extLst>
              <a:ext uri="{FF2B5EF4-FFF2-40B4-BE49-F238E27FC236}">
                <a16:creationId xmlns:a16="http://schemas.microsoft.com/office/drawing/2014/main" id="{96DAF9DB-8887-44BE-BE74-485BAA604F43}"/>
              </a:ext>
            </a:extLst>
          </p:cNvPr>
          <p:cNvSpPr>
            <a:spLocks noGrp="1"/>
          </p:cNvSpPr>
          <p:nvPr/>
        </p:nvSpPr>
        <p:spPr>
          <a:xfrm>
            <a:off x="552450" y="57700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</a:rPr>
              <a:t>Ngưỡng bỏ lỡ (FR-12) cấu hình được; 120 phút chỉ là giả định kiểm thử, cần ý kiến bác sĩ.</a:t>
            </a:r>
            <a:endParaRPr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3356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7">
            <a:extLst>
              <a:ext uri="{FF2B5EF4-FFF2-40B4-BE49-F238E27FC236}">
                <a16:creationId xmlns:a16="http://schemas.microsoft.com/office/drawing/2014/main" id="{66EF2263-6C55-4AE5-BBB6-59873FE1C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4. Phân tích &amp; đặc tả SRS</a:t>
            </a:r>
            <a:endParaRPr/>
          </a:p>
        </p:txBody>
      </p:sp>
      <p:sp>
        <p:nvSpPr>
          <p:cNvPr id="488" name="Google Shape;488;p37">
            <a:extLst>
              <a:ext uri="{FF2B5EF4-FFF2-40B4-BE49-F238E27FC236}">
                <a16:creationId xmlns:a16="http://schemas.microsoft.com/office/drawing/2014/main" id="{4DEE862E-73F0-4BEB-A06D-824883BB6A1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34</a:t>
            </a:r>
            <a:endParaRPr/>
          </a:p>
        </p:txBody>
      </p:sp>
      <p:sp>
        <p:nvSpPr>
          <p:cNvPr id="489" name="Google Shape;489;p37">
            <a:extLst>
              <a:ext uri="{FF2B5EF4-FFF2-40B4-BE49-F238E27FC236}">
                <a16:creationId xmlns:a16="http://schemas.microsoft.com/office/drawing/2014/main" id="{BF0BA77F-2438-47DF-ACAE-BDA5DA58AD74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SRS v1.0 và ví dụ truy vết</a:t>
            </a:r>
            <a:endParaRPr/>
          </a:p>
        </p:txBody>
      </p:sp>
      <p:sp>
        <p:nvSpPr>
          <p:cNvPr id="490" name="Google Shape;490;p37">
            <a:extLst>
              <a:ext uri="{FF2B5EF4-FFF2-40B4-BE49-F238E27FC236}">
                <a16:creationId xmlns:a16="http://schemas.microsoft.com/office/drawing/2014/main" id="{FA41CFDF-6A34-4417-A560-6395D62101EA}"/>
              </a:ext>
            </a:extLst>
          </p:cNvPr>
          <p:cNvSpPr>
            <a:spLocks noGrp="1"/>
          </p:cNvSpPr>
          <p:nvPr/>
        </p:nvSpPr>
        <p:spPr>
          <a:xfrm>
            <a:off x="548640" y="1600200"/>
            <a:ext cx="2606040" cy="173736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1" name="Google Shape;491;p37">
            <a:extLst>
              <a:ext uri="{FF2B5EF4-FFF2-40B4-BE49-F238E27FC236}">
                <a16:creationId xmlns:a16="http://schemas.microsoft.com/office/drawing/2014/main" id="{648EF9D0-5350-416B-A926-8B40F259DE8D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sz="50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13</a:t>
            </a:r>
            <a:endParaRPr/>
          </a:p>
        </p:txBody>
      </p:sp>
      <p:sp>
        <p:nvSpPr>
          <p:cNvPr id="492" name="Google Shape;492;p37">
            <a:extLst>
              <a:ext uri="{FF2B5EF4-FFF2-40B4-BE49-F238E27FC236}">
                <a16:creationId xmlns:a16="http://schemas.microsoft.com/office/drawing/2014/main" id="{7B37C276-5CFE-4CAC-9C11-929B80D2FE9E}"/>
              </a:ext>
            </a:extLst>
          </p:cNvPr>
          <p:cNvSpPr>
            <a:spLocks noGrp="1"/>
          </p:cNvSpPr>
          <p:nvPr/>
        </p:nvSpPr>
        <p:spPr>
          <a:xfrm>
            <a:off x="640080" y="260604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use case</a:t>
            </a:r>
            <a:endParaRPr/>
          </a:p>
        </p:txBody>
      </p:sp>
      <p:sp>
        <p:nvSpPr>
          <p:cNvPr id="493" name="Google Shape;493;p37">
            <a:extLst>
              <a:ext uri="{FF2B5EF4-FFF2-40B4-BE49-F238E27FC236}">
                <a16:creationId xmlns:a16="http://schemas.microsoft.com/office/drawing/2014/main" id="{A24EF85D-4C9B-4C50-ACFD-2D6098F11B2C}"/>
              </a:ext>
            </a:extLst>
          </p:cNvPr>
          <p:cNvSpPr>
            <a:spLocks noGrp="1"/>
          </p:cNvSpPr>
          <p:nvPr/>
        </p:nvSpPr>
        <p:spPr>
          <a:xfrm>
            <a:off x="3383280" y="1600200"/>
            <a:ext cx="2606040" cy="173736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4" name="Google Shape;494;p37">
            <a:extLst>
              <a:ext uri="{FF2B5EF4-FFF2-40B4-BE49-F238E27FC236}">
                <a16:creationId xmlns:a16="http://schemas.microsoft.com/office/drawing/2014/main" id="{6584A59D-B1A6-49A6-9315-4F74E901998D}"/>
              </a:ext>
            </a:extLst>
          </p:cNvPr>
          <p:cNvSpPr>
            <a:spLocks noGrp="1"/>
          </p:cNvSpPr>
          <p:nvPr/>
        </p:nvSpPr>
        <p:spPr>
          <a:xfrm>
            <a:off x="3383280" y="1691640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sz="50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20</a:t>
            </a:r>
            <a:endParaRPr/>
          </a:p>
        </p:txBody>
      </p:sp>
      <p:sp>
        <p:nvSpPr>
          <p:cNvPr id="495" name="Google Shape;495;p37">
            <a:extLst>
              <a:ext uri="{FF2B5EF4-FFF2-40B4-BE49-F238E27FC236}">
                <a16:creationId xmlns:a16="http://schemas.microsoft.com/office/drawing/2014/main" id="{F446496F-4FAB-4850-8804-49EF4A4CE97B}"/>
              </a:ext>
            </a:extLst>
          </p:cNvPr>
          <p:cNvSpPr>
            <a:spLocks noGrp="1"/>
          </p:cNvSpPr>
          <p:nvPr/>
        </p:nvSpPr>
        <p:spPr>
          <a:xfrm>
            <a:off x="3474720" y="260604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yêu cầu chức năng</a:t>
            </a:r>
            <a:endParaRPr/>
          </a:p>
        </p:txBody>
      </p:sp>
      <p:sp>
        <p:nvSpPr>
          <p:cNvPr id="496" name="Google Shape;496;p37">
            <a:extLst>
              <a:ext uri="{FF2B5EF4-FFF2-40B4-BE49-F238E27FC236}">
                <a16:creationId xmlns:a16="http://schemas.microsoft.com/office/drawing/2014/main" id="{F0A39E9F-6DC2-43E6-9DA5-5AD3FB11A8FD}"/>
              </a:ext>
            </a:extLst>
          </p:cNvPr>
          <p:cNvSpPr>
            <a:spLocks noGrp="1"/>
          </p:cNvSpPr>
          <p:nvPr/>
        </p:nvSpPr>
        <p:spPr>
          <a:xfrm>
            <a:off x="6217920" y="1600200"/>
            <a:ext cx="2606040" cy="173736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7" name="Google Shape;497;p37">
            <a:extLst>
              <a:ext uri="{FF2B5EF4-FFF2-40B4-BE49-F238E27FC236}">
                <a16:creationId xmlns:a16="http://schemas.microsoft.com/office/drawing/2014/main" id="{FC74EA3F-A6D6-4696-90C0-5F6F74CA40E6}"/>
              </a:ext>
            </a:extLst>
          </p:cNvPr>
          <p:cNvSpPr>
            <a:spLocks noGrp="1"/>
          </p:cNvSpPr>
          <p:nvPr/>
        </p:nvSpPr>
        <p:spPr>
          <a:xfrm>
            <a:off x="6217920" y="1691640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sz="50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11</a:t>
            </a:r>
            <a:endParaRPr/>
          </a:p>
        </p:txBody>
      </p:sp>
      <p:sp>
        <p:nvSpPr>
          <p:cNvPr id="498" name="Google Shape;498;p37">
            <a:extLst>
              <a:ext uri="{FF2B5EF4-FFF2-40B4-BE49-F238E27FC236}">
                <a16:creationId xmlns:a16="http://schemas.microsoft.com/office/drawing/2014/main" id="{9DDF7490-27DF-4279-B5E4-9220381740E7}"/>
              </a:ext>
            </a:extLst>
          </p:cNvPr>
          <p:cNvSpPr>
            <a:spLocks noGrp="1"/>
          </p:cNvSpPr>
          <p:nvPr/>
        </p:nvSpPr>
        <p:spPr>
          <a:xfrm>
            <a:off x="6309359" y="260604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yêu cầu phi chức năng</a:t>
            </a:r>
            <a:endParaRPr/>
          </a:p>
        </p:txBody>
      </p:sp>
      <p:sp>
        <p:nvSpPr>
          <p:cNvPr id="499" name="Google Shape;499;p37">
            <a:extLst>
              <a:ext uri="{FF2B5EF4-FFF2-40B4-BE49-F238E27FC236}">
                <a16:creationId xmlns:a16="http://schemas.microsoft.com/office/drawing/2014/main" id="{6ECA8A90-F3FD-422E-990D-83BAB93BFF49}"/>
              </a:ext>
            </a:extLst>
          </p:cNvPr>
          <p:cNvSpPr>
            <a:spLocks noGrp="1"/>
          </p:cNvSpPr>
          <p:nvPr/>
        </p:nvSpPr>
        <p:spPr>
          <a:xfrm>
            <a:off x="9052560" y="1600200"/>
            <a:ext cx="2606040" cy="173736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0" name="Google Shape;500;p37">
            <a:extLst>
              <a:ext uri="{FF2B5EF4-FFF2-40B4-BE49-F238E27FC236}">
                <a16:creationId xmlns:a16="http://schemas.microsoft.com/office/drawing/2014/main" id="{FA625104-0991-4BC9-A234-7E38487FE558}"/>
              </a:ext>
            </a:extLst>
          </p:cNvPr>
          <p:cNvSpPr>
            <a:spLocks noGrp="1"/>
          </p:cNvSpPr>
          <p:nvPr/>
        </p:nvSpPr>
        <p:spPr>
          <a:xfrm>
            <a:off x="9052560" y="1691640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sz="50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7</a:t>
            </a:r>
            <a:endParaRPr/>
          </a:p>
        </p:txBody>
      </p:sp>
      <p:sp>
        <p:nvSpPr>
          <p:cNvPr id="501" name="Google Shape;501;p37">
            <a:extLst>
              <a:ext uri="{FF2B5EF4-FFF2-40B4-BE49-F238E27FC236}">
                <a16:creationId xmlns:a16="http://schemas.microsoft.com/office/drawing/2014/main" id="{5343CFAB-D666-49D0-B2E3-562221A0F678}"/>
              </a:ext>
            </a:extLst>
          </p:cNvPr>
          <p:cNvSpPr>
            <a:spLocks noGrp="1"/>
          </p:cNvSpPr>
          <p:nvPr/>
        </p:nvSpPr>
        <p:spPr>
          <a:xfrm>
            <a:off x="9144000" y="260604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ràng buộc nghiệp vụ</a:t>
            </a:r>
            <a:endParaRPr/>
          </a:p>
        </p:txBody>
      </p:sp>
      <p:sp>
        <p:nvSpPr>
          <p:cNvPr id="502" name="Google Shape;502;p37">
            <a:extLst>
              <a:ext uri="{FF2B5EF4-FFF2-40B4-BE49-F238E27FC236}">
                <a16:creationId xmlns:a16="http://schemas.microsoft.com/office/drawing/2014/main" id="{80F13087-1496-42CB-8B5D-749420ED9E7D}"/>
              </a:ext>
            </a:extLst>
          </p:cNvPr>
          <p:cNvSpPr>
            <a:spLocks noGrp="1"/>
          </p:cNvSpPr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sz="22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Ma trận truy vết (RTM)</a:t>
            </a:r>
            <a:endParaRPr/>
          </a:p>
        </p:txBody>
      </p:sp>
      <p:sp>
        <p:nvSpPr>
          <p:cNvPr id="503" name="Google Shape;503;p37">
            <a:extLst>
              <a:ext uri="{FF2B5EF4-FFF2-40B4-BE49-F238E27FC236}">
                <a16:creationId xmlns:a16="http://schemas.microsoft.com/office/drawing/2014/main" id="{67C92565-17D7-4A42-972A-599F54DD4A67}"/>
              </a:ext>
            </a:extLst>
          </p:cNvPr>
          <p:cNvSpPr>
            <a:spLocks noGrp="1"/>
          </p:cNvSpPr>
          <p:nvPr/>
        </p:nvSpPr>
        <p:spPr>
          <a:xfrm>
            <a:off x="548640" y="4251960"/>
            <a:ext cx="1188720" cy="77724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36575" tIns="36575" rIns="36575" bIns="365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P1</a:t>
            </a:r>
            <a:endParaRPr/>
          </a:p>
        </p:txBody>
      </p:sp>
      <p:sp>
        <p:nvSpPr>
          <p:cNvPr id="504" name="Google Shape;504;p37">
            <a:extLst>
              <a:ext uri="{FF2B5EF4-FFF2-40B4-BE49-F238E27FC236}">
                <a16:creationId xmlns:a16="http://schemas.microsoft.com/office/drawing/2014/main" id="{1AD09A0F-1316-4250-8A4A-2147B3CEA845}"/>
              </a:ext>
            </a:extLst>
          </p:cNvPr>
          <p:cNvSpPr>
            <a:spLocks noGrp="1"/>
          </p:cNvSpPr>
          <p:nvPr/>
        </p:nvSpPr>
        <p:spPr>
          <a:xfrm>
            <a:off x="548640" y="507492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Vấn đề</a:t>
            </a:r>
            <a:endParaRPr/>
          </a:p>
        </p:txBody>
      </p:sp>
      <p:sp>
        <p:nvSpPr>
          <p:cNvPr id="505" name="Google Shape;505;p37">
            <a:extLst>
              <a:ext uri="{FF2B5EF4-FFF2-40B4-BE49-F238E27FC236}">
                <a16:creationId xmlns:a16="http://schemas.microsoft.com/office/drawing/2014/main" id="{50BAD507-7222-4378-92ED-13D2150E1105}"/>
              </a:ext>
            </a:extLst>
          </p:cNvPr>
          <p:cNvSpPr>
            <a:spLocks noGrp="1"/>
          </p:cNvSpPr>
          <p:nvPr/>
        </p:nvSpPr>
        <p:spPr>
          <a:xfrm>
            <a:off x="1764792" y="4507992"/>
            <a:ext cx="164592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6" name="Google Shape;506;p37">
            <a:extLst>
              <a:ext uri="{FF2B5EF4-FFF2-40B4-BE49-F238E27FC236}">
                <a16:creationId xmlns:a16="http://schemas.microsoft.com/office/drawing/2014/main" id="{EA79F449-AA45-49DD-8C86-439E643910C3}"/>
              </a:ext>
            </a:extLst>
          </p:cNvPr>
          <p:cNvSpPr>
            <a:spLocks noGrp="1"/>
          </p:cNvSpPr>
          <p:nvPr/>
        </p:nvSpPr>
        <p:spPr>
          <a:xfrm>
            <a:off x="1956815" y="4251960"/>
            <a:ext cx="1371600" cy="777240"/>
          </a:xfrm>
          <a:prstGeom prst="roundRect">
            <a:avLst>
              <a:gd name="adj" fmla="val 25000"/>
            </a:avLst>
          </a:prstGeom>
          <a:solidFill>
            <a:srgbClr val="FBEAEA"/>
          </a:solidFill>
          <a:ln>
            <a:noFill/>
          </a:ln>
        </p:spPr>
        <p:txBody>
          <a:bodyPr spcFirstLastPara="1" wrap="square" lIns="36575" tIns="36575" rIns="36575" bIns="365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strike="noStrike" cap="none">
                <a:solidFill>
                  <a:srgbClr val="8E0E1F"/>
                </a:solidFill>
                <a:latin typeface="Arial"/>
                <a:ea typeface="Arial"/>
                <a:cs typeface="Arial"/>
              </a:rPr>
              <a:t>US-01</a:t>
            </a:r>
            <a:endParaRPr/>
          </a:p>
        </p:txBody>
      </p:sp>
      <p:sp>
        <p:nvSpPr>
          <p:cNvPr id="507" name="Google Shape;507;p37">
            <a:extLst>
              <a:ext uri="{FF2B5EF4-FFF2-40B4-BE49-F238E27FC236}">
                <a16:creationId xmlns:a16="http://schemas.microsoft.com/office/drawing/2014/main" id="{F82B0E67-ED5F-40C7-A1A4-AAEABC2A8556}"/>
              </a:ext>
            </a:extLst>
          </p:cNvPr>
          <p:cNvSpPr>
            <a:spLocks noGrp="1"/>
          </p:cNvSpPr>
          <p:nvPr/>
        </p:nvSpPr>
        <p:spPr>
          <a:xfrm>
            <a:off x="1956815" y="50749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User story</a:t>
            </a:r>
            <a:endParaRPr/>
          </a:p>
        </p:txBody>
      </p:sp>
      <p:sp>
        <p:nvSpPr>
          <p:cNvPr id="508" name="Google Shape;508;p37">
            <a:extLst>
              <a:ext uri="{FF2B5EF4-FFF2-40B4-BE49-F238E27FC236}">
                <a16:creationId xmlns:a16="http://schemas.microsoft.com/office/drawing/2014/main" id="{CA2D99F3-81DE-40D0-92AC-30194E427F72}"/>
              </a:ext>
            </a:extLst>
          </p:cNvPr>
          <p:cNvSpPr>
            <a:spLocks noGrp="1"/>
          </p:cNvSpPr>
          <p:nvPr/>
        </p:nvSpPr>
        <p:spPr>
          <a:xfrm>
            <a:off x="3355847" y="4507992"/>
            <a:ext cx="164592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9" name="Google Shape;509;p37">
            <a:extLst>
              <a:ext uri="{FF2B5EF4-FFF2-40B4-BE49-F238E27FC236}">
                <a16:creationId xmlns:a16="http://schemas.microsoft.com/office/drawing/2014/main" id="{16B52C07-97E9-4A54-BED2-514DE4FF9E13}"/>
              </a:ext>
            </a:extLst>
          </p:cNvPr>
          <p:cNvSpPr>
            <a:spLocks noGrp="1"/>
          </p:cNvSpPr>
          <p:nvPr/>
        </p:nvSpPr>
        <p:spPr>
          <a:xfrm>
            <a:off x="3547872" y="4251960"/>
            <a:ext cx="1371600" cy="777240"/>
          </a:xfrm>
          <a:prstGeom prst="roundRect">
            <a:avLst>
              <a:gd name="adj" fmla="val 25000"/>
            </a:avLst>
          </a:prstGeom>
          <a:solidFill>
            <a:srgbClr val="FBEAEA"/>
          </a:solidFill>
          <a:ln>
            <a:noFill/>
          </a:ln>
        </p:spPr>
        <p:txBody>
          <a:bodyPr spcFirstLastPara="1" wrap="square" lIns="36575" tIns="36575" rIns="36575" bIns="365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strike="noStrike" cap="none">
                <a:solidFill>
                  <a:srgbClr val="8E0E1F"/>
                </a:solidFill>
                <a:latin typeface="Arial"/>
                <a:ea typeface="Arial"/>
                <a:cs typeface="Arial"/>
              </a:rPr>
              <a:t>FR-04</a:t>
            </a:r>
            <a:endParaRPr/>
          </a:p>
        </p:txBody>
      </p:sp>
      <p:sp>
        <p:nvSpPr>
          <p:cNvPr id="510" name="Google Shape;510;p37">
            <a:extLst>
              <a:ext uri="{FF2B5EF4-FFF2-40B4-BE49-F238E27FC236}">
                <a16:creationId xmlns:a16="http://schemas.microsoft.com/office/drawing/2014/main" id="{E47E1D4C-EF41-4DB4-BDCA-6BE08AC79F87}"/>
              </a:ext>
            </a:extLst>
          </p:cNvPr>
          <p:cNvSpPr>
            <a:spLocks noGrp="1"/>
          </p:cNvSpPr>
          <p:nvPr/>
        </p:nvSpPr>
        <p:spPr>
          <a:xfrm>
            <a:off x="3547872" y="50749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Yêu cầu</a:t>
            </a:r>
            <a:endParaRPr/>
          </a:p>
        </p:txBody>
      </p:sp>
      <p:sp>
        <p:nvSpPr>
          <p:cNvPr id="511" name="Google Shape;511;p37">
            <a:extLst>
              <a:ext uri="{FF2B5EF4-FFF2-40B4-BE49-F238E27FC236}">
                <a16:creationId xmlns:a16="http://schemas.microsoft.com/office/drawing/2014/main" id="{E18A4C44-190E-4FC3-911D-AB5E1DC56E13}"/>
              </a:ext>
            </a:extLst>
          </p:cNvPr>
          <p:cNvSpPr>
            <a:spLocks noGrp="1"/>
          </p:cNvSpPr>
          <p:nvPr/>
        </p:nvSpPr>
        <p:spPr>
          <a:xfrm>
            <a:off x="4946904" y="4507992"/>
            <a:ext cx="164592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2" name="Google Shape;512;p37">
            <a:extLst>
              <a:ext uri="{FF2B5EF4-FFF2-40B4-BE49-F238E27FC236}">
                <a16:creationId xmlns:a16="http://schemas.microsoft.com/office/drawing/2014/main" id="{7AB8D173-C162-4771-87B7-787B8B2BCE43}"/>
              </a:ext>
            </a:extLst>
          </p:cNvPr>
          <p:cNvSpPr>
            <a:spLocks noGrp="1"/>
          </p:cNvSpPr>
          <p:nvPr/>
        </p:nvSpPr>
        <p:spPr>
          <a:xfrm>
            <a:off x="5138928" y="4251960"/>
            <a:ext cx="1371600" cy="777240"/>
          </a:xfrm>
          <a:prstGeom prst="roundRect">
            <a:avLst>
              <a:gd name="adj" fmla="val 25000"/>
            </a:avLst>
          </a:prstGeom>
          <a:solidFill>
            <a:srgbClr val="FBEAEA"/>
          </a:solidFill>
          <a:ln>
            <a:noFill/>
          </a:ln>
        </p:spPr>
        <p:txBody>
          <a:bodyPr spcFirstLastPara="1" wrap="square" lIns="36575" tIns="36575" rIns="36575" bIns="365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strike="noStrike" cap="none">
                <a:solidFill>
                  <a:srgbClr val="8E0E1F"/>
                </a:solidFill>
                <a:latin typeface="Arial"/>
                <a:ea typeface="Arial"/>
                <a:cs typeface="Arial"/>
              </a:rPr>
              <a:t>UC-05</a:t>
            </a:r>
            <a:endParaRPr/>
          </a:p>
        </p:txBody>
      </p:sp>
      <p:sp>
        <p:nvSpPr>
          <p:cNvPr id="513" name="Google Shape;513;p37">
            <a:extLst>
              <a:ext uri="{FF2B5EF4-FFF2-40B4-BE49-F238E27FC236}">
                <a16:creationId xmlns:a16="http://schemas.microsoft.com/office/drawing/2014/main" id="{4E2BE88E-8676-4BF9-9307-7B45C75CE5A4}"/>
              </a:ext>
            </a:extLst>
          </p:cNvPr>
          <p:cNvSpPr>
            <a:spLocks noGrp="1"/>
          </p:cNvSpPr>
          <p:nvPr/>
        </p:nvSpPr>
        <p:spPr>
          <a:xfrm>
            <a:off x="5138928" y="50749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Use case</a:t>
            </a:r>
            <a:endParaRPr/>
          </a:p>
        </p:txBody>
      </p:sp>
      <p:sp>
        <p:nvSpPr>
          <p:cNvPr id="514" name="Google Shape;514;p37">
            <a:extLst>
              <a:ext uri="{FF2B5EF4-FFF2-40B4-BE49-F238E27FC236}">
                <a16:creationId xmlns:a16="http://schemas.microsoft.com/office/drawing/2014/main" id="{7AE4ABC8-1DB5-40E1-87C1-D00282F54A64}"/>
              </a:ext>
            </a:extLst>
          </p:cNvPr>
          <p:cNvSpPr>
            <a:spLocks noGrp="1"/>
          </p:cNvSpPr>
          <p:nvPr/>
        </p:nvSpPr>
        <p:spPr>
          <a:xfrm>
            <a:off x="6537960" y="4507992"/>
            <a:ext cx="164592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5" name="Google Shape;515;p37">
            <a:extLst>
              <a:ext uri="{FF2B5EF4-FFF2-40B4-BE49-F238E27FC236}">
                <a16:creationId xmlns:a16="http://schemas.microsoft.com/office/drawing/2014/main" id="{3BE7DBCC-081A-49CE-BDD0-ED63BFF2E027}"/>
              </a:ext>
            </a:extLst>
          </p:cNvPr>
          <p:cNvSpPr>
            <a:spLocks noGrp="1"/>
          </p:cNvSpPr>
          <p:nvPr/>
        </p:nvSpPr>
        <p:spPr>
          <a:xfrm>
            <a:off x="6729984" y="4251960"/>
            <a:ext cx="2651760" cy="777240"/>
          </a:xfrm>
          <a:prstGeom prst="roundRect">
            <a:avLst>
              <a:gd name="adj" fmla="val 25000"/>
            </a:avLst>
          </a:prstGeom>
          <a:solidFill>
            <a:srgbClr val="FBEAEA"/>
          </a:solidFill>
          <a:ln>
            <a:noFill/>
          </a:ln>
        </p:spPr>
        <p:txBody>
          <a:bodyPr spcFirstLastPara="1" wrap="square" lIns="36575" tIns="36575" rIns="36575" bIns="365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2"/>
              <a:buFont typeface="Arial"/>
              <a:buNone/>
            </a:pPr>
            <a:r>
              <a:rPr sz="1402" b="1" i="0" u="none" strike="noStrike" cap="none">
                <a:solidFill>
                  <a:srgbClr val="8E0E1F"/>
                </a:solidFill>
                <a:latin typeface="Arial"/>
                <a:ea typeface="Arial"/>
                <a:cs typeface="Arial"/>
              </a:rPr>
              <a:t>POST /patients/{id}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2"/>
              <a:buFont typeface="Arial"/>
              <a:buNone/>
            </a:pPr>
            <a:r>
              <a:rPr sz="1402" b="1" i="0" u="none" strike="noStrike" cap="none">
                <a:solidFill>
                  <a:srgbClr val="8E0E1F"/>
                </a:solidFill>
                <a:latin typeface="Arial"/>
                <a:ea typeface="Arial"/>
                <a:cs typeface="Arial"/>
              </a:rPr>
              <a:t>/prescriptions</a:t>
            </a:r>
            <a:endParaRPr/>
          </a:p>
        </p:txBody>
      </p:sp>
      <p:sp>
        <p:nvSpPr>
          <p:cNvPr id="516" name="Google Shape;516;p37">
            <a:extLst>
              <a:ext uri="{FF2B5EF4-FFF2-40B4-BE49-F238E27FC236}">
                <a16:creationId xmlns:a16="http://schemas.microsoft.com/office/drawing/2014/main" id="{0130A8F3-A2D7-4E66-9BA1-4A52946F7606}"/>
              </a:ext>
            </a:extLst>
          </p:cNvPr>
          <p:cNvSpPr>
            <a:spLocks noGrp="1"/>
          </p:cNvSpPr>
          <p:nvPr/>
        </p:nvSpPr>
        <p:spPr>
          <a:xfrm>
            <a:off x="6729984" y="507492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API</a:t>
            </a:r>
            <a:endParaRPr/>
          </a:p>
        </p:txBody>
      </p:sp>
      <p:sp>
        <p:nvSpPr>
          <p:cNvPr id="517" name="Google Shape;517;p37">
            <a:extLst>
              <a:ext uri="{FF2B5EF4-FFF2-40B4-BE49-F238E27FC236}">
                <a16:creationId xmlns:a16="http://schemas.microsoft.com/office/drawing/2014/main" id="{7B8C678E-B146-4BAC-A475-C6B907DC09C2}"/>
              </a:ext>
            </a:extLst>
          </p:cNvPr>
          <p:cNvSpPr>
            <a:spLocks noGrp="1"/>
          </p:cNvSpPr>
          <p:nvPr/>
        </p:nvSpPr>
        <p:spPr>
          <a:xfrm>
            <a:off x="9409176" y="4507992"/>
            <a:ext cx="164592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8" name="Google Shape;518;p37">
            <a:extLst>
              <a:ext uri="{FF2B5EF4-FFF2-40B4-BE49-F238E27FC236}">
                <a16:creationId xmlns:a16="http://schemas.microsoft.com/office/drawing/2014/main" id="{C647841F-A9B8-4C44-A5FE-077214782D11}"/>
              </a:ext>
            </a:extLst>
          </p:cNvPr>
          <p:cNvSpPr>
            <a:spLocks noGrp="1"/>
          </p:cNvSpPr>
          <p:nvPr/>
        </p:nvSpPr>
        <p:spPr>
          <a:xfrm>
            <a:off x="9601200" y="4251960"/>
            <a:ext cx="2103120" cy="777240"/>
          </a:xfrm>
          <a:prstGeom prst="roundRect">
            <a:avLst>
              <a:gd name="adj" fmla="val 25000"/>
            </a:avLst>
          </a:prstGeom>
          <a:solidFill>
            <a:srgbClr val="FBEAEA"/>
          </a:solidFill>
          <a:ln>
            <a:noFill/>
          </a:ln>
        </p:spPr>
        <p:txBody>
          <a:bodyPr spcFirstLastPara="1" wrap="square" lIns="36575" tIns="36575" rIns="36575" bIns="365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1" i="0" u="none" strike="noStrike" cap="none">
                <a:solidFill>
                  <a:srgbClr val="8E0E1F"/>
                </a:solidFill>
                <a:latin typeface="Arial"/>
                <a:ea typeface="Arial"/>
                <a:cs typeface="Arial"/>
              </a:rPr>
              <a:t>prescriptions</a:t>
            </a:r>
            <a:endParaRPr/>
          </a:p>
        </p:txBody>
      </p:sp>
      <p:sp>
        <p:nvSpPr>
          <p:cNvPr id="519" name="Google Shape;519;p37">
            <a:extLst>
              <a:ext uri="{FF2B5EF4-FFF2-40B4-BE49-F238E27FC236}">
                <a16:creationId xmlns:a16="http://schemas.microsoft.com/office/drawing/2014/main" id="{74FFC8D4-C8E4-492D-9648-81BC0B5E184B}"/>
              </a:ext>
            </a:extLst>
          </p:cNvPr>
          <p:cNvSpPr>
            <a:spLocks noGrp="1"/>
          </p:cNvSpPr>
          <p:nvPr/>
        </p:nvSpPr>
        <p:spPr>
          <a:xfrm>
            <a:off x="9601200" y="50749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Bảng dự kiến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35571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>
            <a:extLst>
              <a:ext uri="{FF2B5EF4-FFF2-40B4-BE49-F238E27FC236}">
                <a16:creationId xmlns:a16="http://schemas.microsoft.com/office/drawing/2014/main" id="{72304E2B-32BB-4DBB-91B9-EFCDEA121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4. Phân tích &amp; đặc tả SRS</a:t>
            </a:r>
            <a:endParaRPr/>
          </a:p>
        </p:txBody>
      </p:sp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0FF92017-E7CD-47D2-B12A-9A710B6A6C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35</a:t>
            </a:r>
            <a:endParaRPr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6FF9D45-1564-46E0-8369-72155C8DE79A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110680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Truy vết từ mục tiêu tới kịch bản nghiệm thu</a:t>
            </a:r>
          </a:p>
        </p:txBody>
      </p:sp>
      <p:graphicFrame>
        <p:nvGraphicFramePr>
          <p:cNvPr id="126" name="Table 125">
            <a:extLst>
              <a:ext uri="{FF2B5EF4-FFF2-40B4-BE49-F238E27FC236}">
                <a16:creationId xmlns:a16="http://schemas.microsoft.com/office/drawing/2014/main" id="{F926981F-F059-4B14-8058-5E700BB94448}"/>
              </a:ext>
            </a:extLst>
          </p:cNvPr>
          <p:cNvGraphicFramePr/>
          <p:nvPr/>
        </p:nvGraphicFramePr>
        <p:xfrm>
          <a:off x="552450" y="1790700"/>
          <a:ext cx="11049000" cy="371475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Mắt xích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Ví dụ luồng xác nhận đã uống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Mục tiêu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BIZ-04 giảm thao tác cho bệnh nhân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Story và FR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US-09, FR-11, FR-14, FR-15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Use case và module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UC-07, Backend Tuân thủ, Mobile App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API và dữ liệu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POST /doses/{doseId}/confirmations, dose_confirmations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Kịch bản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TC-20 bình thường, TC-21 lặp, TC-22 muộn, TC-23 offline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2387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8">
            <a:extLst>
              <a:ext uri="{FF2B5EF4-FFF2-40B4-BE49-F238E27FC236}">
                <a16:creationId xmlns:a16="http://schemas.microsoft.com/office/drawing/2014/main" id="{D509FE78-C6FF-425B-9D1D-72E36FF1F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4. Phân tích &amp; đặc tả SRS</a:t>
            </a:r>
            <a:endParaRPr/>
          </a:p>
        </p:txBody>
      </p:sp>
      <p:sp>
        <p:nvSpPr>
          <p:cNvPr id="526" name="Google Shape;526;p38">
            <a:extLst>
              <a:ext uri="{FF2B5EF4-FFF2-40B4-BE49-F238E27FC236}">
                <a16:creationId xmlns:a16="http://schemas.microsoft.com/office/drawing/2014/main" id="{30D89D52-A93A-4553-BE26-FBECA5AE4CE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36</a:t>
            </a:r>
            <a:endParaRPr/>
          </a:p>
        </p:txBody>
      </p:sp>
      <p:sp>
        <p:nvSpPr>
          <p:cNvPr id="527" name="Google Shape;527;p38">
            <a:extLst>
              <a:ext uri="{FF2B5EF4-FFF2-40B4-BE49-F238E27FC236}">
                <a16:creationId xmlns:a16="http://schemas.microsoft.com/office/drawing/2014/main" id="{9F036D61-1835-4924-BE20-A9412E0FDA3E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490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Yêu cầu phi chức năng: NFR-01 đến NFR-06</a:t>
            </a:r>
            <a:endParaRPr/>
          </a:p>
        </p:txBody>
      </p:sp>
      <p:graphicFrame>
        <p:nvGraphicFramePr>
          <p:cNvPr id="528" name="Google Shape;528;p38">
            <a:extLst>
              <a:ext uri="{FF2B5EF4-FFF2-40B4-BE49-F238E27FC236}">
                <a16:creationId xmlns:a16="http://schemas.microsoft.com/office/drawing/2014/main" id="{B4E54E68-4F0F-43D5-8DCF-B988799CDB21}"/>
              </a:ext>
            </a:extLst>
          </p:cNvPr>
          <p:cNvGraphicFramePr/>
          <p:nvPr/>
        </p:nvGraphicFramePr>
        <p:xfrm>
          <a:off x="552450" y="1600000"/>
          <a:ext cx="11049000" cy="4020000"/>
        </p:xfrm>
        <a:graphic>
          <a:graphicData uri="http://schemas.openxmlformats.org/drawingml/2006/table">
            <a:tbl>
              <a:tblPr/>
              <a:tblGrid>
                <a:gridCol w="1150000">
                  <a:extLst>
                    <a:ext uri="{9D8B030D-6E8A-4147-A177-3AD203B41FA5}">
                      <a16:colId xmlns:a16="http://schemas.microsoft.com/office/drawing/2014/main" val="30000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30001"/>
                    </a:ext>
                  </a:extLst>
                </a:gridCol>
                <a:gridCol w="4900000">
                  <a:extLst>
                    <a:ext uri="{9D8B030D-6E8A-4147-A177-3AD203B41FA5}">
                      <a16:colId xmlns:a16="http://schemas.microsoft.com/office/drawing/2014/main" val="30002"/>
                    </a:ext>
                  </a:extLst>
                </a:gridCol>
                <a:gridCol w="2399000">
                  <a:extLst>
                    <a:ext uri="{9D8B030D-6E8A-4147-A177-3AD203B41FA5}">
                      <a16:colId xmlns:a16="http://schemas.microsoft.com/office/drawing/2014/main" val="3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Mã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Đặc tính ISO/IEC 25010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Mục tiêu định lượng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Kiểm chứng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NFR-01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Khả dụng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1 thao tác mỗi cữ; chữ ≥ 20sp; vùng chạm ≥ 48dp; không nhập văn bản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Thử với người dùng thật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NFR-02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Hiệu năng: thời gian xử lý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Gửi nhắc trong vòng 60 giây kể từ mốc giờ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Đo độ trễ tại Worker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NFR-03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Hiệu năng: phản hồi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API đọc p95 &lt; 500 ms với 100 người đồng thời; gợi ý thuốc &lt; 300 ms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Kiểm thử tải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NFR-04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Bảo mật: xác thực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HTTPS; mật khẩu băm bcrypt/Argon2; access token 15 phút; token thiết bị thu hồi được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Rà soát cấu hình, kiểm thử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NFR-05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Bảo mật: quyền riêng tư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Không lưu họ tên thật, số định danh, số BHYT; dữ liệu thử dùng mã BN-TEST-xxx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Rà soát schema, dữ liệu mẫu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NFR-06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Bảo mật: toàn vẹn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Bản ghi xác nhận và nhật ký chỉ thêm, không sửa, không xóa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Ràng buộc CSDL, unit test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29" name="Google Shape;529;p38">
            <a:extLst>
              <a:ext uri="{FF2B5EF4-FFF2-40B4-BE49-F238E27FC236}">
                <a16:creationId xmlns:a16="http://schemas.microsoft.com/office/drawing/2014/main" id="{96DAF9DB-8887-44BE-BE74-485BAA604F43}"/>
              </a:ext>
            </a:extLst>
          </p:cNvPr>
          <p:cNvSpPr>
            <a:spLocks noGrp="1"/>
          </p:cNvSpPr>
          <p:nvPr/>
        </p:nvSpPr>
        <p:spPr>
          <a:xfrm>
            <a:off x="552450" y="57400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</a:rPr>
              <a:t>=&gt; </a:t>
            </a:r>
            <a:r>
              <a:rPr sz="1800" b="1" i="0" u="none" strike="noStrike" cap="none" dirty="0" err="1">
                <a:solidFill>
                  <a:schemeClr val="dk1"/>
                </a:solidFill>
              </a:rPr>
              <a:t>Đây</a:t>
            </a:r>
            <a:r>
              <a:rPr sz="1800" b="1" i="0" u="none" strike="noStrike" cap="none" dirty="0">
                <a:solidFill>
                  <a:schemeClr val="dk1"/>
                </a:solidFill>
              </a:rPr>
              <a:t> </a:t>
            </a:r>
            <a:r>
              <a:rPr sz="1800" b="1" i="0" u="none" strike="noStrike" cap="none" dirty="0" err="1">
                <a:solidFill>
                  <a:schemeClr val="dk1"/>
                </a:solidFill>
              </a:rPr>
              <a:t>là</a:t>
            </a:r>
            <a:r>
              <a:rPr sz="1800" b="1" i="0" u="none" strike="noStrike" cap="none" dirty="0">
                <a:solidFill>
                  <a:schemeClr val="dk1"/>
                </a:solidFill>
              </a:rPr>
              <a:t> </a:t>
            </a:r>
            <a:r>
              <a:rPr sz="1800" b="1" i="0" u="none" strike="noStrike" cap="none" dirty="0" err="1">
                <a:solidFill>
                  <a:schemeClr val="dk1"/>
                </a:solidFill>
              </a:rPr>
              <a:t>mục</a:t>
            </a:r>
            <a:r>
              <a:rPr sz="1800" b="1" i="0" u="none" strike="noStrike" cap="none" dirty="0">
                <a:solidFill>
                  <a:schemeClr val="dk1"/>
                </a:solidFill>
              </a:rPr>
              <a:t> </a:t>
            </a:r>
            <a:r>
              <a:rPr sz="1800" b="1" i="0" u="none" strike="noStrike" cap="none" dirty="0" err="1">
                <a:solidFill>
                  <a:schemeClr val="dk1"/>
                </a:solidFill>
              </a:rPr>
              <a:t>tiêu</a:t>
            </a:r>
            <a:r>
              <a:rPr sz="1800" b="1" i="0" u="none" strike="noStrike" cap="none" dirty="0">
                <a:solidFill>
                  <a:schemeClr val="dk1"/>
                </a:solidFill>
              </a:rPr>
              <a:t> </a:t>
            </a:r>
            <a:r>
              <a:rPr sz="1800" b="1" i="0" u="none" strike="noStrike" cap="none" dirty="0" err="1">
                <a:solidFill>
                  <a:schemeClr val="dk1"/>
                </a:solidFill>
              </a:rPr>
              <a:t>của</a:t>
            </a:r>
            <a:r>
              <a:rPr sz="1800" b="1" i="0" u="none" strike="noStrike" cap="none" dirty="0">
                <a:solidFill>
                  <a:schemeClr val="dk1"/>
                </a:solidFill>
              </a:rPr>
              <a:t> SRS</a:t>
            </a:r>
            <a:r>
              <a:rPr lang="en-US" sz="1800" b="1" dirty="0">
                <a:solidFill>
                  <a:schemeClr val="dk1"/>
                </a:solidFill>
              </a:rPr>
              <a:t>. </a:t>
            </a:r>
            <a:r>
              <a:rPr lang="en-US" sz="1800" b="1" dirty="0" err="1">
                <a:solidFill>
                  <a:schemeClr val="dk1"/>
                </a:solidFill>
              </a:rPr>
              <a:t>N</a:t>
            </a:r>
            <a:r>
              <a:rPr sz="1800" b="1" i="0" u="none" strike="noStrike" cap="none" dirty="0" err="1">
                <a:solidFill>
                  <a:schemeClr val="dk1"/>
                </a:solidFill>
              </a:rPr>
              <a:t>hóm</a:t>
            </a:r>
            <a:r>
              <a:rPr sz="1800" b="1" i="0" u="none" strike="noStrike" cap="none" dirty="0">
                <a:solidFill>
                  <a:schemeClr val="dk1"/>
                </a:solidFill>
              </a:rPr>
              <a:t> </a:t>
            </a:r>
            <a:r>
              <a:rPr sz="1800" b="1" i="0" u="none" strike="noStrike" cap="none" dirty="0" err="1">
                <a:solidFill>
                  <a:schemeClr val="dk1"/>
                </a:solidFill>
              </a:rPr>
              <a:t>sẽ</a:t>
            </a:r>
            <a:r>
              <a:rPr sz="1800" b="1" i="0" u="none" strike="noStrike" cap="none" dirty="0">
                <a:solidFill>
                  <a:schemeClr val="dk1"/>
                </a:solidFill>
              </a:rPr>
              <a:t> </a:t>
            </a:r>
            <a:r>
              <a:rPr sz="1800" b="1" i="0" u="none" strike="noStrike" cap="none" dirty="0" err="1">
                <a:solidFill>
                  <a:schemeClr val="dk1"/>
                </a:solidFill>
              </a:rPr>
              <a:t>kiểm</a:t>
            </a:r>
            <a:r>
              <a:rPr sz="1800" b="1" i="0" u="none" strike="noStrike" cap="none" dirty="0">
                <a:solidFill>
                  <a:schemeClr val="dk1"/>
                </a:solidFill>
              </a:rPr>
              <a:t> </a:t>
            </a:r>
            <a:r>
              <a:rPr sz="1800" b="1" i="0" u="none" strike="noStrike" cap="none" dirty="0" err="1">
                <a:solidFill>
                  <a:schemeClr val="dk1"/>
                </a:solidFill>
              </a:rPr>
              <a:t>chứng</a:t>
            </a:r>
            <a:r>
              <a:rPr sz="1800" b="1" i="0" u="none" strike="noStrike" cap="none" dirty="0">
                <a:solidFill>
                  <a:schemeClr val="dk1"/>
                </a:solidFill>
              </a:rPr>
              <a:t> </a:t>
            </a:r>
            <a:r>
              <a:rPr sz="1800" b="1" i="0" u="none" strike="noStrike" cap="none" dirty="0" err="1">
                <a:solidFill>
                  <a:schemeClr val="dk1"/>
                </a:solidFill>
              </a:rPr>
              <a:t>trong</a:t>
            </a:r>
            <a:r>
              <a:rPr sz="1800" b="1" i="0" u="none" strike="noStrike" cap="none" dirty="0">
                <a:solidFill>
                  <a:schemeClr val="dk1"/>
                </a:solidFill>
              </a:rPr>
              <a:t> </a:t>
            </a:r>
            <a:r>
              <a:rPr sz="1800" b="1" i="0" u="none" strike="noStrike" cap="none" dirty="0" err="1">
                <a:solidFill>
                  <a:schemeClr val="dk1"/>
                </a:solidFill>
              </a:rPr>
              <a:t>quá</a:t>
            </a:r>
            <a:r>
              <a:rPr sz="1800" b="1" i="0" u="none" strike="noStrike" cap="none" dirty="0">
                <a:solidFill>
                  <a:schemeClr val="dk1"/>
                </a:solidFill>
              </a:rPr>
              <a:t> </a:t>
            </a:r>
            <a:r>
              <a:rPr sz="1800" b="1" i="0" u="none" strike="noStrike" cap="none" dirty="0" err="1">
                <a:solidFill>
                  <a:schemeClr val="dk1"/>
                </a:solidFill>
              </a:rPr>
              <a:t>trình</a:t>
            </a:r>
            <a:r>
              <a:rPr sz="1800" b="1" i="0" u="none" strike="noStrike" cap="none" dirty="0">
                <a:solidFill>
                  <a:schemeClr val="dk1"/>
                </a:solidFill>
              </a:rPr>
              <a:t> </a:t>
            </a:r>
            <a:r>
              <a:rPr sz="1800" b="1" i="0" u="none" strike="noStrike" cap="none" dirty="0" err="1">
                <a:solidFill>
                  <a:schemeClr val="dk1"/>
                </a:solidFill>
              </a:rPr>
              <a:t>triển</a:t>
            </a:r>
            <a:r>
              <a:rPr sz="1800" b="1" i="0" u="none" strike="noStrike" cap="none" dirty="0">
                <a:solidFill>
                  <a:schemeClr val="dk1"/>
                </a:solidFill>
              </a:rPr>
              <a:t> </a:t>
            </a:r>
            <a:r>
              <a:rPr sz="1800" b="1" i="0" u="none" strike="noStrike" cap="none" dirty="0" err="1">
                <a:solidFill>
                  <a:schemeClr val="dk1"/>
                </a:solidFill>
              </a:rPr>
              <a:t>khai</a:t>
            </a:r>
            <a:r>
              <a:rPr sz="1800" b="1" i="0" u="none" strike="noStrike" cap="none" dirty="0">
                <a:solidFill>
                  <a:schemeClr val="dk1"/>
                </a:solidFill>
              </a:rPr>
              <a:t>.</a:t>
            </a:r>
            <a:endParaRPr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32344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>
            <a:extLst>
              <a:ext uri="{FF2B5EF4-FFF2-40B4-BE49-F238E27FC236}">
                <a16:creationId xmlns:a16="http://schemas.microsoft.com/office/drawing/2014/main" id="{72304E2B-32BB-4DBB-91B9-EFCDEA121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4. Phân tích &amp; đặc tả SRS</a:t>
            </a:r>
            <a:endParaRPr/>
          </a:p>
        </p:txBody>
      </p:sp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0FF92017-E7CD-47D2-B12A-9A710B6A6C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37</a:t>
            </a:r>
            <a:endParaRPr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B0572F7-B40F-40E6-A319-047DD4F45140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110680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Yêu cầu phi chức năng: NFR-07 đến NFR-11</a:t>
            </a:r>
          </a:p>
        </p:txBody>
      </p:sp>
      <p:graphicFrame>
        <p:nvGraphicFramePr>
          <p:cNvPr id="128" name="Table 127">
            <a:extLst>
              <a:ext uri="{FF2B5EF4-FFF2-40B4-BE49-F238E27FC236}">
                <a16:creationId xmlns:a16="http://schemas.microsoft.com/office/drawing/2014/main" id="{62DFC47D-8E84-4CE0-9DFC-16EC72C95E7D}"/>
              </a:ext>
            </a:extLst>
          </p:cNvPr>
          <p:cNvGraphicFramePr/>
          <p:nvPr/>
        </p:nvGraphicFramePr>
        <p:xfrm>
          <a:off x="552450" y="1600000"/>
          <a:ext cx="11049000" cy="3420000"/>
        </p:xfrm>
        <a:graphic>
          <a:graphicData uri="http://schemas.openxmlformats.org/drawingml/2006/table">
            <a:tbl>
              <a:tblPr/>
              <a:tblGrid>
                <a:gridCol w="1150000">
                  <a:extLst>
                    <a:ext uri="{9D8B030D-6E8A-4147-A177-3AD203B41FA5}">
                      <a16:colId xmlns:a16="http://schemas.microsoft.com/office/drawing/2014/main" val="30000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30001"/>
                    </a:ext>
                  </a:extLst>
                </a:gridCol>
                <a:gridCol w="4900000">
                  <a:extLst>
                    <a:ext uri="{9D8B030D-6E8A-4147-A177-3AD203B41FA5}">
                      <a16:colId xmlns:a16="http://schemas.microsoft.com/office/drawing/2014/main" val="30002"/>
                    </a:ext>
                  </a:extLst>
                </a:gridCol>
                <a:gridCol w="2399000">
                  <a:extLst>
                    <a:ext uri="{9D8B030D-6E8A-4147-A177-3AD203B41FA5}">
                      <a16:colId xmlns:a16="http://schemas.microsoft.com/office/drawing/2014/main" val="3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Mã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Đặc tính ISO/IEC 25010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Mục tiêu định lượng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Kiểm chứng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NFR-07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Độ tin cậy: chịu lỗi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Không mất sự kiện nhắc khi Worker khởi động lại; xử lý lũy đẳng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Khởi động lại Worker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NFR-08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Bảo trì: kiểm thử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Độ phủ unit test Rule Engine ≥ 80%; CI kiểm tra lint, schema, OpenAPI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Báo cáo coverage, CI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NFR-09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Tương thích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Hỗ trợ Android; phiên bản tối thiểu chốt sau khi kiểm kê điện thoại bệnh nhân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Thử trên thiết bị thật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NFR-10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Bảo mật: mã hóa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Token thiết bị và push token mã hóa AES-256 khi lưu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Rà soát schema, kiểm thử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NFR-11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Hiệu năng: Rule Engine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Đánh giá một sự kiện cữ thuốc dưới 100 ms trên server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Benchmark trong CI</a:t>
                      </a:r>
                    </a:p>
                  </a:txBody>
                  <a:tcPr marT="36000" marB="360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90" name="Google Shape;529;p38">
            <a:extLst>
              <a:ext uri="{FF2B5EF4-FFF2-40B4-BE49-F238E27FC236}">
                <a16:creationId xmlns:a16="http://schemas.microsoft.com/office/drawing/2014/main" id="{96DAF9DB-8887-44BE-BE74-485BAA604F43}"/>
              </a:ext>
            </a:extLst>
          </p:cNvPr>
          <p:cNvSpPr>
            <a:spLocks noGrp="1"/>
          </p:cNvSpPr>
          <p:nvPr/>
        </p:nvSpPr>
        <p:spPr>
          <a:xfrm>
            <a:off x="552450" y="51700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</a:rPr>
              <a:t>11 NFR phân loại theo ISO/IEC 25010; mỗi NFR có chỉ số và cách kiểm chứng.</a:t>
            </a:r>
            <a:endParaRPr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2387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9">
            <a:extLst>
              <a:ext uri="{FF2B5EF4-FFF2-40B4-BE49-F238E27FC236}">
                <a16:creationId xmlns:a16="http://schemas.microsoft.com/office/drawing/2014/main" id="{682C38E1-52F3-487A-97DA-87FF389AB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5. Kiến trúc, API &amp; kế hoạch</a:t>
            </a:r>
            <a:endParaRPr/>
          </a:p>
        </p:txBody>
      </p:sp>
      <p:sp>
        <p:nvSpPr>
          <p:cNvPr id="536" name="Google Shape;536;p39">
            <a:extLst>
              <a:ext uri="{FF2B5EF4-FFF2-40B4-BE49-F238E27FC236}">
                <a16:creationId xmlns:a16="http://schemas.microsoft.com/office/drawing/2014/main" id="{7078F129-685A-47E7-B8ED-71688F92456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38</a:t>
            </a:r>
            <a:endParaRPr/>
          </a:p>
        </p:txBody>
      </p:sp>
      <p:sp>
        <p:nvSpPr>
          <p:cNvPr id="537" name="Google Shape;537;p39">
            <a:extLst>
              <a:ext uri="{FF2B5EF4-FFF2-40B4-BE49-F238E27FC236}">
                <a16:creationId xmlns:a16="http://schemas.microsoft.com/office/drawing/2014/main" id="{0B76185F-2452-442C-A862-3B3F51F5A11A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C1: không tích hợp hệ thống bệnh viện</a:t>
            </a:r>
            <a:endParaRPr/>
          </a:p>
        </p:txBody>
      </p:sp>
      <p:pic>
        <p:nvPicPr>
          <p:cNvPr id="538" name="Google Shape;538;p39">
            <a:extLst>
              <a:ext uri="{FF2B5EF4-FFF2-40B4-BE49-F238E27FC236}">
                <a16:creationId xmlns:a16="http://schemas.microsoft.com/office/drawing/2014/main" id="{F2B90384-19F2-4DA6-8875-14F7B75894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95500" y="1514475"/>
            <a:ext cx="7905750" cy="4238625"/>
          </a:xfrm>
          <a:prstGeom prst="rect">
            <a:avLst/>
          </a:prstGeom>
          <a:ln>
            <a:noFill/>
          </a:ln>
        </p:spPr>
      </p:pic>
      <p:sp>
        <p:nvSpPr>
          <p:cNvPr id="539" name="Google Shape;539;p39">
            <a:extLst>
              <a:ext uri="{FF2B5EF4-FFF2-40B4-BE49-F238E27FC236}">
                <a16:creationId xmlns:a16="http://schemas.microsoft.com/office/drawing/2014/main" id="{C6C1B8E9-EAA0-4CFB-B952-CD9319AD0A60}"/>
              </a:ext>
            </a:extLst>
          </p:cNvPr>
          <p:cNvSpPr>
            <a:spLocks noGrp="1"/>
          </p:cNvSpPr>
          <p:nvPr/>
        </p:nvSpPr>
        <p:spPr>
          <a:xfrm>
            <a:off x="552450" y="57721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80803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0">
            <a:extLst>
              <a:ext uri="{FF2B5EF4-FFF2-40B4-BE49-F238E27FC236}">
                <a16:creationId xmlns:a16="http://schemas.microsoft.com/office/drawing/2014/main" id="{21C09049-7A26-4C5E-B0FA-3C1D6162A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5. Kiến trúc, API &amp; kế hoạch</a:t>
            </a:r>
            <a:endParaRPr/>
          </a:p>
        </p:txBody>
      </p:sp>
      <p:sp>
        <p:nvSpPr>
          <p:cNvPr id="546" name="Google Shape;546;p40">
            <a:extLst>
              <a:ext uri="{FF2B5EF4-FFF2-40B4-BE49-F238E27FC236}">
                <a16:creationId xmlns:a16="http://schemas.microsoft.com/office/drawing/2014/main" id="{BD9CCE2B-8F5A-42AB-8C09-3A9F256D35C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39</a:t>
            </a:r>
            <a:endParaRPr/>
          </a:p>
        </p:txBody>
      </p:sp>
      <p:sp>
        <p:nvSpPr>
          <p:cNvPr id="547" name="Google Shape;547;p40">
            <a:extLst>
              <a:ext uri="{FF2B5EF4-FFF2-40B4-BE49-F238E27FC236}">
                <a16:creationId xmlns:a16="http://schemas.microsoft.com/office/drawing/2014/main" id="{61CA37D3-D3A2-4E9C-BF8B-330306E3BF24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C2: một backend, một worker riêng</a:t>
            </a:r>
            <a:endParaRPr/>
          </a:p>
        </p:txBody>
      </p:sp>
      <p:pic>
        <p:nvPicPr>
          <p:cNvPr id="548" name="Google Shape;548;p40">
            <a:extLst>
              <a:ext uri="{FF2B5EF4-FFF2-40B4-BE49-F238E27FC236}">
                <a16:creationId xmlns:a16="http://schemas.microsoft.com/office/drawing/2014/main" id="{AD38A87F-86B4-44C3-9306-B0B7219B18A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227" y="1463040"/>
            <a:ext cx="3790505" cy="4572000"/>
          </a:xfrm>
          <a:prstGeom prst="rect">
            <a:avLst/>
          </a:prstGeom>
          <a:ln>
            <a:noFill/>
          </a:ln>
        </p:spPr>
      </p:pic>
      <p:graphicFrame>
        <p:nvGraphicFramePr>
          <p:cNvPr id="549" name="Google Shape;549;p40">
            <a:extLst>
              <a:ext uri="{FF2B5EF4-FFF2-40B4-BE49-F238E27FC236}">
                <a16:creationId xmlns:a16="http://schemas.microsoft.com/office/drawing/2014/main" id="{1B5E673B-3391-477C-BBFC-E7DC1C6929D0}"/>
              </a:ext>
            </a:extLst>
          </p:cNvPr>
          <p:cNvGraphicFramePr/>
          <p:nvPr/>
        </p:nvGraphicFramePr>
        <p:xfrm>
          <a:off x="5067300" y="1647825"/>
          <a:ext cx="6553200" cy="4133925"/>
        </p:xfrm>
        <a:graphic>
          <a:graphicData uri="http://schemas.openxmlformats.org/drawingml/2006/table">
            <a:tbl>
              <a:tblPr>
                <a:tableStyleId>{69164D6B-77A5-455B-8581-FB340438A784}</a:tableStyleId>
              </a:tblPr>
              <a:tblGrid>
                <a:gridCol w="226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93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sz="1702" b="1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Container</a:t>
                      </a:r>
                      <a:endParaRPr dirty="0"/>
                    </a:p>
                  </a:txBody>
                  <a:tcPr marL="76200" marR="76200" marT="38100" marB="381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sz="1702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Trách nhiệm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3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sz="1702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Web / Mobile App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sz="1702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Trang tổng quan / nhắc và xác nhận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3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sz="1702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API Gateway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sz="1702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Định tuyến, token, TLS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3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sz="1702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Backend API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sz="1702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Nghiệp vụ và Rule Engine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3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sz="1702" b="0" u="none" strike="noStrike" cap="none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Worker</a:t>
                      </a:r>
                      <a:endParaRPr dirty="0"/>
                    </a:p>
                  </a:txBody>
                  <a:tcPr marL="76200" marR="762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sz="1702" b="0" u="none" strike="noStrike" cap="none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Sinh </a:t>
                      </a:r>
                      <a:r>
                        <a:rPr sz="1702" b="0" u="none" strike="noStrike" cap="none" dirty="0" err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cữ</a:t>
                      </a:r>
                      <a:r>
                        <a:rPr sz="1702" b="0" u="none" strike="noStrike" cap="none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2" b="0" u="none" strike="noStrike" cap="none" dirty="0" err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thu</a:t>
                      </a:r>
                      <a:r>
                        <a:rPr sz="1702" dirty="0" err="1">
                          <a:solidFill>
                            <a:srgbClr val="1F1F1F"/>
                          </a:solidFill>
                        </a:rPr>
                        <a:t>ốc</a:t>
                      </a:r>
                      <a:r>
                        <a:rPr sz="1702" b="0" u="none" strike="noStrike" cap="none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1702" b="0" u="none" strike="noStrike" cap="none" dirty="0" err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phát</a:t>
                      </a:r>
                      <a:r>
                        <a:rPr sz="1702" b="0" u="none" strike="noStrike" cap="none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2" b="0" u="none" strike="noStrike" cap="none" dirty="0" err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nhắc</a:t>
                      </a:r>
                      <a:r>
                        <a:rPr sz="1702" b="0" u="none" strike="noStrike" cap="none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2" b="0" u="none" strike="noStrike" cap="none" dirty="0" err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thu</a:t>
                      </a:r>
                      <a:r>
                        <a:rPr sz="1702" dirty="0" err="1">
                          <a:solidFill>
                            <a:srgbClr val="1F1F1F"/>
                          </a:solidFill>
                        </a:rPr>
                        <a:t>ốc</a:t>
                      </a:r>
                      <a:r>
                        <a:rPr sz="1702" b="0" u="none" strike="noStrike" cap="none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1702" b="0" u="none" strike="noStrike" cap="none" dirty="0" err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dựng</a:t>
                      </a:r>
                      <a:r>
                        <a:rPr sz="1702" b="0" u="none" strike="noStrike" cap="none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 PDF</a:t>
                      </a:r>
                      <a:endParaRPr dirty="0"/>
                    </a:p>
                  </a:txBody>
                  <a:tcPr marL="76200" marR="762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3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sz="1702" b="0" u="none" strike="noStrike" cap="none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AI Service (Sprint 3)</a:t>
                      </a:r>
                      <a:endParaRPr dirty="0"/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sz="1702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Chuẩn hóa tên thuốc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3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sz="1702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PostgreSQL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sz="1702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Dữ liệu nghiệp vụ và nhật ký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3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sz="1702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Redis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sz="1702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Phiên, danh mục, số liệu tổng hợp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93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sz="1702" b="0" u="none" strike="noStrike" cap="non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RabbitMQ</a:t>
                      </a:r>
                      <a:endParaRPr/>
                    </a:p>
                  </a:txBody>
                  <a:tcPr marL="76200" marR="762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2"/>
                        <a:buFont typeface="Arial"/>
                        <a:buNone/>
                      </a:pPr>
                      <a:r>
                        <a:rPr sz="1702" b="0" u="none" strike="noStrike" cap="none" dirty="0" err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Hàng</a:t>
                      </a:r>
                      <a:r>
                        <a:rPr sz="1702" b="0" u="none" strike="noStrike" cap="none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2" b="0" u="none" strike="noStrike" cap="none" dirty="0" err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đợi</a:t>
                      </a:r>
                      <a:r>
                        <a:rPr sz="1702" b="0" u="none" strike="noStrike" cap="none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 Backend </a:t>
                      </a:r>
                      <a:r>
                        <a:rPr sz="1702" b="0" u="none" strike="noStrike" cap="none" dirty="0" err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1702" b="0" u="none" strike="noStrike" cap="none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 Worker</a:t>
                      </a:r>
                      <a:endParaRPr dirty="0"/>
                    </a:p>
                  </a:txBody>
                  <a:tcPr marL="76200" marR="762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93610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1">
            <a:extLst>
              <a:ext uri="{FF2B5EF4-FFF2-40B4-BE49-F238E27FC236}">
                <a16:creationId xmlns:a16="http://schemas.microsoft.com/office/drawing/2014/main" id="{2DE2E119-8DB9-43CD-94DA-E4BA96580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5. Kiến trúc, API &amp; kế hoạch</a:t>
            </a:r>
            <a:endParaRPr/>
          </a:p>
        </p:txBody>
      </p:sp>
      <p:sp>
        <p:nvSpPr>
          <p:cNvPr id="556" name="Google Shape;556;p41">
            <a:extLst>
              <a:ext uri="{FF2B5EF4-FFF2-40B4-BE49-F238E27FC236}">
                <a16:creationId xmlns:a16="http://schemas.microsoft.com/office/drawing/2014/main" id="{B3AF3CF4-5773-4A60-8F6C-20381681E4E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40</a:t>
            </a:r>
            <a:endParaRPr/>
          </a:p>
        </p:txBody>
      </p:sp>
      <p:sp>
        <p:nvSpPr>
          <p:cNvPr id="557" name="Google Shape;557;p41">
            <a:extLst>
              <a:ext uri="{FF2B5EF4-FFF2-40B4-BE49-F238E27FC236}">
                <a16:creationId xmlns:a16="http://schemas.microsoft.com/office/drawing/2014/main" id="{AACB1D59-7604-417D-88E8-18B06189A340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Đặc tả OpenAPI 3.0.3</a:t>
            </a:r>
            <a:endParaRPr/>
          </a:p>
        </p:txBody>
      </p:sp>
      <p:sp>
        <p:nvSpPr>
          <p:cNvPr id="558" name="Google Shape;558;p41">
            <a:extLst>
              <a:ext uri="{FF2B5EF4-FFF2-40B4-BE49-F238E27FC236}">
                <a16:creationId xmlns:a16="http://schemas.microsoft.com/office/drawing/2014/main" id="{85C18318-0C3B-485D-B0C9-ABF767329EFE}"/>
              </a:ext>
            </a:extLst>
          </p:cNvPr>
          <p:cNvSpPr>
            <a:spLocks noGrp="1"/>
          </p:cNvSpPr>
          <p:nvPr/>
        </p:nvSpPr>
        <p:spPr>
          <a:xfrm>
            <a:off x="548640" y="1600200"/>
            <a:ext cx="3474720" cy="16002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9" name="Google Shape;559;p41">
            <a:extLst>
              <a:ext uri="{FF2B5EF4-FFF2-40B4-BE49-F238E27FC236}">
                <a16:creationId xmlns:a16="http://schemas.microsoft.com/office/drawing/2014/main" id="{029E5348-591D-4F34-8308-C087D6022BE8}"/>
              </a:ext>
            </a:extLst>
          </p:cNvPr>
          <p:cNvSpPr>
            <a:spLocks noGrp="1"/>
          </p:cNvSpPr>
          <p:nvPr/>
        </p:nvSpPr>
        <p:spPr>
          <a:xfrm>
            <a:off x="548640" y="1645920"/>
            <a:ext cx="34747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sz="4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24</a:t>
            </a:r>
            <a:endParaRPr/>
          </a:p>
        </p:txBody>
      </p:sp>
      <p:sp>
        <p:nvSpPr>
          <p:cNvPr id="560" name="Google Shape;560;p41">
            <a:extLst>
              <a:ext uri="{FF2B5EF4-FFF2-40B4-BE49-F238E27FC236}">
                <a16:creationId xmlns:a16="http://schemas.microsoft.com/office/drawing/2014/main" id="{5941CD9A-F5C1-4502-A92D-9D4F72AC5E50}"/>
              </a:ext>
            </a:extLst>
          </p:cNvPr>
          <p:cNvSpPr>
            <a:spLocks noGrp="1"/>
          </p:cNvSpPr>
          <p:nvPr/>
        </p:nvSpPr>
        <p:spPr>
          <a:xfrm>
            <a:off x="548640" y="260604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đường dẫn</a:t>
            </a:r>
            <a:endParaRPr/>
          </a:p>
        </p:txBody>
      </p:sp>
      <p:sp>
        <p:nvSpPr>
          <p:cNvPr id="561" name="Google Shape;561;p41">
            <a:extLst>
              <a:ext uri="{FF2B5EF4-FFF2-40B4-BE49-F238E27FC236}">
                <a16:creationId xmlns:a16="http://schemas.microsoft.com/office/drawing/2014/main" id="{9AE3E976-E242-46C8-BD1C-3759F1E5AFD0}"/>
              </a:ext>
            </a:extLst>
          </p:cNvPr>
          <p:cNvSpPr>
            <a:spLocks noGrp="1"/>
          </p:cNvSpPr>
          <p:nvPr/>
        </p:nvSpPr>
        <p:spPr>
          <a:xfrm>
            <a:off x="4297679" y="1600200"/>
            <a:ext cx="3474720" cy="16002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2" name="Google Shape;562;p41">
            <a:extLst>
              <a:ext uri="{FF2B5EF4-FFF2-40B4-BE49-F238E27FC236}">
                <a16:creationId xmlns:a16="http://schemas.microsoft.com/office/drawing/2014/main" id="{5D8C94C5-2CC8-42DF-8EAA-E44582F0A159}"/>
              </a:ext>
            </a:extLst>
          </p:cNvPr>
          <p:cNvSpPr>
            <a:spLocks noGrp="1"/>
          </p:cNvSpPr>
          <p:nvPr/>
        </p:nvSpPr>
        <p:spPr>
          <a:xfrm>
            <a:off x="4297679" y="1645920"/>
            <a:ext cx="34747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sz="4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11</a:t>
            </a:r>
            <a:endParaRPr/>
          </a:p>
        </p:txBody>
      </p:sp>
      <p:sp>
        <p:nvSpPr>
          <p:cNvPr id="563" name="Google Shape;563;p41">
            <a:extLst>
              <a:ext uri="{FF2B5EF4-FFF2-40B4-BE49-F238E27FC236}">
                <a16:creationId xmlns:a16="http://schemas.microsoft.com/office/drawing/2014/main" id="{A24A4BEE-6593-48A3-BDAA-51F27264A3D2}"/>
              </a:ext>
            </a:extLst>
          </p:cNvPr>
          <p:cNvSpPr>
            <a:spLocks noGrp="1"/>
          </p:cNvSpPr>
          <p:nvPr/>
        </p:nvSpPr>
        <p:spPr>
          <a:xfrm>
            <a:off x="4297679" y="260604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nhóm tài nguyên</a:t>
            </a:r>
            <a:endParaRPr/>
          </a:p>
        </p:txBody>
      </p:sp>
      <p:sp>
        <p:nvSpPr>
          <p:cNvPr id="564" name="Google Shape;564;p41">
            <a:extLst>
              <a:ext uri="{FF2B5EF4-FFF2-40B4-BE49-F238E27FC236}">
                <a16:creationId xmlns:a16="http://schemas.microsoft.com/office/drawing/2014/main" id="{9CA271AD-5675-4408-89E4-8C8C8471ACFD}"/>
              </a:ext>
            </a:extLst>
          </p:cNvPr>
          <p:cNvSpPr>
            <a:spLocks noGrp="1"/>
          </p:cNvSpPr>
          <p:nvPr/>
        </p:nvSpPr>
        <p:spPr>
          <a:xfrm>
            <a:off x="8046719" y="1600200"/>
            <a:ext cx="3474720" cy="16002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5" name="Google Shape;565;p41">
            <a:extLst>
              <a:ext uri="{FF2B5EF4-FFF2-40B4-BE49-F238E27FC236}">
                <a16:creationId xmlns:a16="http://schemas.microsoft.com/office/drawing/2014/main" id="{6CBA19EA-DAF3-4377-9AF6-3CC499C67399}"/>
              </a:ext>
            </a:extLst>
          </p:cNvPr>
          <p:cNvSpPr>
            <a:spLocks noGrp="1"/>
          </p:cNvSpPr>
          <p:nvPr/>
        </p:nvSpPr>
        <p:spPr>
          <a:xfrm>
            <a:off x="8046719" y="1645920"/>
            <a:ext cx="34747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sz="4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2</a:t>
            </a:r>
            <a:endParaRPr/>
          </a:p>
        </p:txBody>
      </p:sp>
      <p:sp>
        <p:nvSpPr>
          <p:cNvPr id="566" name="Google Shape;566;p41">
            <a:extLst>
              <a:ext uri="{FF2B5EF4-FFF2-40B4-BE49-F238E27FC236}">
                <a16:creationId xmlns:a16="http://schemas.microsoft.com/office/drawing/2014/main" id="{04281F59-32AF-4A17-9379-01337C9D76A3}"/>
              </a:ext>
            </a:extLst>
          </p:cNvPr>
          <p:cNvSpPr>
            <a:spLocks noGrp="1"/>
          </p:cNvSpPr>
          <p:nvPr/>
        </p:nvSpPr>
        <p:spPr>
          <a:xfrm>
            <a:off x="8046719" y="260604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</a:rPr>
              <a:t>cơ</a:t>
            </a:r>
            <a:r>
              <a:rPr sz="18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</a:rPr>
              <a:t>chế</a:t>
            </a:r>
            <a:r>
              <a:rPr sz="18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</a:rPr>
              <a:t>xác</a:t>
            </a:r>
            <a:r>
              <a:rPr sz="18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</a:rPr>
              <a:t>thực</a:t>
            </a:r>
            <a:endParaRPr dirty="0"/>
          </a:p>
        </p:txBody>
      </p:sp>
      <p:sp>
        <p:nvSpPr>
          <p:cNvPr id="567" name="Google Shape;567;p41">
            <a:extLst>
              <a:ext uri="{FF2B5EF4-FFF2-40B4-BE49-F238E27FC236}">
                <a16:creationId xmlns:a16="http://schemas.microsoft.com/office/drawing/2014/main" id="{5764C6A9-C26F-45F9-AA49-EACE9CA831CA}"/>
              </a:ext>
            </a:extLst>
          </p:cNvPr>
          <p:cNvSpPr>
            <a:spLocks noGrp="1"/>
          </p:cNvSpPr>
          <p:nvPr/>
        </p:nvSpPr>
        <p:spPr>
          <a:xfrm>
            <a:off x="548640" y="361188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68" name="Google Shape;568;p41">
            <a:extLst>
              <a:ext uri="{FF2B5EF4-FFF2-40B4-BE49-F238E27FC236}">
                <a16:creationId xmlns:a16="http://schemas.microsoft.com/office/drawing/2014/main" id="{F59F2747-F7FA-42A7-AA82-33A4BB6A235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9574" y="3772814"/>
            <a:ext cx="409651" cy="409651"/>
          </a:xfrm>
          <a:prstGeom prst="rect">
            <a:avLst/>
          </a:prstGeom>
          <a:ln>
            <a:noFill/>
          </a:ln>
        </p:spPr>
      </p:pic>
      <p:sp>
        <p:nvSpPr>
          <p:cNvPr id="569" name="Google Shape;569;p41">
            <a:extLst>
              <a:ext uri="{FF2B5EF4-FFF2-40B4-BE49-F238E27FC236}">
                <a16:creationId xmlns:a16="http://schemas.microsoft.com/office/drawing/2014/main" id="{04F85DCB-AB16-455B-8751-231570E5BB82}"/>
              </a:ext>
            </a:extLst>
          </p:cNvPr>
          <p:cNvSpPr>
            <a:spLocks noGrp="1"/>
          </p:cNvSpPr>
          <p:nvPr/>
        </p:nvSpPr>
        <p:spPr>
          <a:xfrm>
            <a:off x="1463040" y="3611880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 i="0" u="none" strike="noStrike" cap="none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caregiverAuth</a:t>
            </a:r>
            <a:endParaRPr dirty="0"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</a:rPr>
              <a:t>JWT, Web App </a:t>
            </a:r>
            <a:r>
              <a:rPr sz="16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</a:rPr>
              <a:t>người</a:t>
            </a:r>
            <a:r>
              <a:rPr sz="16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</a:rPr>
              <a:t> con</a:t>
            </a:r>
            <a:endParaRPr dirty="0"/>
          </a:p>
        </p:txBody>
      </p:sp>
      <p:sp>
        <p:nvSpPr>
          <p:cNvPr id="570" name="Google Shape;570;p41">
            <a:extLst>
              <a:ext uri="{FF2B5EF4-FFF2-40B4-BE49-F238E27FC236}">
                <a16:creationId xmlns:a16="http://schemas.microsoft.com/office/drawing/2014/main" id="{12852C67-B375-4B19-B0D8-B36D72070F8B}"/>
              </a:ext>
            </a:extLst>
          </p:cNvPr>
          <p:cNvSpPr>
            <a:spLocks noGrp="1"/>
          </p:cNvSpPr>
          <p:nvPr/>
        </p:nvSpPr>
        <p:spPr>
          <a:xfrm>
            <a:off x="6217920" y="361188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71" name="Google Shape;571;p41">
            <a:extLst>
              <a:ext uri="{FF2B5EF4-FFF2-40B4-BE49-F238E27FC236}">
                <a16:creationId xmlns:a16="http://schemas.microsoft.com/office/drawing/2014/main" id="{BFA8FAA5-7E8D-40A9-9C0F-611AF565C40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78854" y="3772814"/>
            <a:ext cx="409651" cy="409651"/>
          </a:xfrm>
          <a:prstGeom prst="rect">
            <a:avLst/>
          </a:prstGeom>
          <a:ln>
            <a:noFill/>
          </a:ln>
        </p:spPr>
      </p:pic>
      <p:sp>
        <p:nvSpPr>
          <p:cNvPr id="572" name="Google Shape;572;p41">
            <a:extLst>
              <a:ext uri="{FF2B5EF4-FFF2-40B4-BE49-F238E27FC236}">
                <a16:creationId xmlns:a16="http://schemas.microsoft.com/office/drawing/2014/main" id="{2A537CB9-E2CE-4FD1-92FA-FBBCE7E5B92C}"/>
              </a:ext>
            </a:extLst>
          </p:cNvPr>
          <p:cNvSpPr>
            <a:spLocks noGrp="1"/>
          </p:cNvSpPr>
          <p:nvPr/>
        </p:nvSpPr>
        <p:spPr>
          <a:xfrm>
            <a:off x="7132320" y="3611880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 i="0" u="none" strike="noStrike" cap="none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deviceAuth</a:t>
            </a:r>
            <a:endParaRPr dirty="0"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</a:rPr>
              <a:t>Token </a:t>
            </a:r>
            <a:r>
              <a:rPr sz="16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</a:rPr>
              <a:t>thiết</a:t>
            </a:r>
            <a:r>
              <a:rPr sz="16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</a:rPr>
              <a:t>bị</a:t>
            </a:r>
            <a:r>
              <a:rPr sz="16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</a:rPr>
              <a:t>, </a:t>
            </a:r>
            <a:r>
              <a:rPr sz="16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</a:rPr>
              <a:t>không</a:t>
            </a:r>
            <a:r>
              <a:rPr sz="16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</a:rPr>
              <a:t>mật</a:t>
            </a:r>
            <a:r>
              <a:rPr sz="16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</a:rPr>
              <a:t>khẩu</a:t>
            </a:r>
            <a:endParaRPr dirty="0"/>
          </a:p>
        </p:txBody>
      </p:sp>
      <p:sp>
        <p:nvSpPr>
          <p:cNvPr id="573" name="Google Shape;573;p41">
            <a:extLst>
              <a:ext uri="{FF2B5EF4-FFF2-40B4-BE49-F238E27FC236}">
                <a16:creationId xmlns:a16="http://schemas.microsoft.com/office/drawing/2014/main" id="{22897C49-035F-413B-B2D5-E69045C7EF0F}"/>
              </a:ext>
            </a:extLst>
          </p:cNvPr>
          <p:cNvSpPr>
            <a:spLocks noGrp="1"/>
          </p:cNvSpPr>
          <p:nvPr/>
        </p:nvSpPr>
        <p:spPr>
          <a:xfrm>
            <a:off x="548640" y="4810125"/>
            <a:ext cx="11064240" cy="714375"/>
          </a:xfrm>
          <a:prstGeom prst="roundRect">
            <a:avLst>
              <a:gd name="adj" fmla="val 25000"/>
            </a:avLst>
          </a:prstGeom>
          <a:solidFill>
            <a:srgbClr val="FBEAEA"/>
          </a:solidFill>
          <a:ln>
            <a:noFill/>
          </a:ln>
        </p:spPr>
        <p:txBody>
          <a:bodyPr spcFirstLastPara="1" wrap="square" lIns="137150" tIns="137150" rIns="137150" bIns="137150" anchor="ctr">
            <a:noAutofit/>
          </a:bodyPr>
          <a:lstStyle>
            <a:defPPr>
              <a:defRPr sz="1800"/>
            </a:defPPr>
          </a:lstStyle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8"/>
              <a:buFont typeface="Arial"/>
              <a:buNone/>
              <a:defRPr sz="1800"/>
            </a:pPr>
            <a:r>
              <a:rPr sz="1800" b="1" i="0" u="none" strike="noStrike" cap="none" dirty="0" err="1">
                <a:solidFill>
                  <a:srgbClr val="8E0E1F"/>
                </a:solidFill>
                <a:latin typeface="Arial"/>
                <a:ea typeface="Arial"/>
                <a:cs typeface="Arial"/>
              </a:rPr>
              <a:t>Tiền</a:t>
            </a:r>
            <a:r>
              <a:rPr sz="1800" b="1" i="0" u="none" strike="noStrike" cap="none" dirty="0">
                <a:solidFill>
                  <a:srgbClr val="8E0E1F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i="0" u="none" strike="noStrike" cap="none" dirty="0" err="1">
                <a:solidFill>
                  <a:srgbClr val="8E0E1F"/>
                </a:solidFill>
                <a:latin typeface="Arial"/>
                <a:ea typeface="Arial"/>
                <a:cs typeface="Arial"/>
              </a:rPr>
              <a:t>tố</a:t>
            </a:r>
            <a:r>
              <a:rPr sz="1800" b="1" i="0" u="none" strike="noStrike" cap="none" dirty="0">
                <a:solidFill>
                  <a:srgbClr val="8E0E1F"/>
                </a:solidFill>
                <a:latin typeface="Arial"/>
                <a:ea typeface="Arial"/>
                <a:cs typeface="Arial"/>
              </a:rPr>
              <a:t> /</a:t>
            </a:r>
            <a:r>
              <a:rPr sz="1800" b="1" i="0" u="none" strike="noStrike" cap="none" dirty="0" err="1">
                <a:solidFill>
                  <a:srgbClr val="8E0E1F"/>
                </a:solidFill>
                <a:latin typeface="Arial"/>
                <a:ea typeface="Arial"/>
                <a:cs typeface="Arial"/>
              </a:rPr>
              <a:t>api</a:t>
            </a:r>
            <a:r>
              <a:rPr sz="1800" b="1" i="0" u="none" strike="noStrike" cap="none" dirty="0">
                <a:solidFill>
                  <a:srgbClr val="8E0E1F"/>
                </a:solidFill>
                <a:latin typeface="Arial"/>
                <a:ea typeface="Arial"/>
                <a:cs typeface="Arial"/>
              </a:rPr>
              <a:t>/v1. </a:t>
            </a:r>
            <a:r>
              <a:rPr sz="1800" b="1" i="0" u="none" strike="noStrike" cap="none" dirty="0" err="1">
                <a:solidFill>
                  <a:srgbClr val="8E0E1F"/>
                </a:solidFill>
                <a:latin typeface="Arial"/>
                <a:ea typeface="Arial"/>
                <a:cs typeface="Arial"/>
              </a:rPr>
              <a:t>Xác</a:t>
            </a:r>
            <a:r>
              <a:rPr sz="1800" b="1" i="0" u="none" strike="noStrike" cap="none" dirty="0">
                <a:solidFill>
                  <a:srgbClr val="8E0E1F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i="0" u="none" strike="noStrike" cap="none" dirty="0" err="1">
                <a:solidFill>
                  <a:srgbClr val="8E0E1F"/>
                </a:solidFill>
                <a:latin typeface="Arial"/>
                <a:ea typeface="Arial"/>
                <a:cs typeface="Arial"/>
              </a:rPr>
              <a:t>nhận</a:t>
            </a:r>
            <a:r>
              <a:rPr sz="1800" b="1" i="0" u="none" strike="noStrike" cap="none" dirty="0">
                <a:solidFill>
                  <a:srgbClr val="8E0E1F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i="0" u="none" strike="noStrike" cap="none" dirty="0" err="1">
                <a:solidFill>
                  <a:srgbClr val="8E0E1F"/>
                </a:solidFill>
                <a:latin typeface="Arial"/>
                <a:ea typeface="Arial"/>
                <a:cs typeface="Arial"/>
              </a:rPr>
              <a:t>đơn</a:t>
            </a:r>
            <a:r>
              <a:rPr sz="1800" b="1" i="0" u="none" strike="noStrike" cap="none" dirty="0">
                <a:solidFill>
                  <a:srgbClr val="8E0E1F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i="0" u="none" strike="noStrike" cap="none" dirty="0" err="1">
                <a:solidFill>
                  <a:srgbClr val="8E0E1F"/>
                </a:solidFill>
                <a:latin typeface="Arial"/>
                <a:ea typeface="Arial"/>
                <a:cs typeface="Arial"/>
              </a:rPr>
              <a:t>và</a:t>
            </a:r>
            <a:r>
              <a:rPr sz="1800" b="1" i="0" u="none" strike="noStrike" cap="none" dirty="0">
                <a:solidFill>
                  <a:srgbClr val="8E0E1F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i="0" u="none" strike="noStrike" cap="none" dirty="0" err="1">
                <a:solidFill>
                  <a:srgbClr val="8E0E1F"/>
                </a:solidFill>
                <a:latin typeface="Arial"/>
                <a:ea typeface="Arial"/>
                <a:cs typeface="Arial"/>
              </a:rPr>
              <a:t>dựng</a:t>
            </a:r>
            <a:r>
              <a:rPr sz="1800" b="1" i="0" u="none" strike="noStrike" cap="none" dirty="0">
                <a:solidFill>
                  <a:srgbClr val="8E0E1F"/>
                </a:solidFill>
                <a:latin typeface="Arial"/>
                <a:ea typeface="Arial"/>
                <a:cs typeface="Arial"/>
              </a:rPr>
              <a:t> PDF </a:t>
            </a:r>
            <a:r>
              <a:rPr sz="1800" b="1" i="0" u="none" strike="noStrike" cap="none" dirty="0" err="1">
                <a:solidFill>
                  <a:srgbClr val="8E0E1F"/>
                </a:solidFill>
                <a:latin typeface="Arial"/>
                <a:ea typeface="Arial"/>
                <a:cs typeface="Arial"/>
              </a:rPr>
              <a:t>xử</a:t>
            </a:r>
            <a:r>
              <a:rPr sz="1800" b="1" i="0" u="none" strike="noStrike" cap="none" dirty="0">
                <a:solidFill>
                  <a:srgbClr val="8E0E1F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i="0" u="none" strike="noStrike" cap="none" dirty="0" err="1">
                <a:solidFill>
                  <a:srgbClr val="8E0E1F"/>
                </a:solidFill>
                <a:latin typeface="Arial"/>
                <a:ea typeface="Arial"/>
                <a:cs typeface="Arial"/>
              </a:rPr>
              <a:t>lý</a:t>
            </a:r>
            <a:r>
              <a:rPr sz="1800" b="1" i="0" u="none" strike="noStrike" cap="none" dirty="0">
                <a:solidFill>
                  <a:srgbClr val="8E0E1F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i="0" u="none" strike="noStrike" cap="none" dirty="0" err="1">
                <a:solidFill>
                  <a:srgbClr val="8E0E1F"/>
                </a:solidFill>
                <a:latin typeface="Arial"/>
                <a:ea typeface="Arial"/>
                <a:cs typeface="Arial"/>
              </a:rPr>
              <a:t>bất</a:t>
            </a:r>
            <a:r>
              <a:rPr sz="1800" b="1" i="0" u="none" strike="noStrike" cap="none" dirty="0">
                <a:solidFill>
                  <a:srgbClr val="8E0E1F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i="0" u="none" strike="noStrike" cap="none" dirty="0" err="1">
                <a:solidFill>
                  <a:srgbClr val="8E0E1F"/>
                </a:solidFill>
                <a:latin typeface="Arial"/>
                <a:ea typeface="Arial"/>
                <a:cs typeface="Arial"/>
              </a:rPr>
              <a:t>đồng</a:t>
            </a:r>
            <a:r>
              <a:rPr sz="1800" b="1" i="0" u="none" strike="noStrike" cap="none" dirty="0">
                <a:solidFill>
                  <a:srgbClr val="8E0E1F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i="0" u="none" strike="noStrike" cap="none" dirty="0" err="1">
                <a:solidFill>
                  <a:srgbClr val="8E0E1F"/>
                </a:solidFill>
                <a:latin typeface="Arial"/>
                <a:ea typeface="Arial"/>
                <a:cs typeface="Arial"/>
              </a:rPr>
              <a:t>bộ</a:t>
            </a:r>
            <a:r>
              <a:rPr sz="1800" b="1" i="0" u="none" strike="noStrike" cap="none" dirty="0">
                <a:solidFill>
                  <a:srgbClr val="8E0E1F"/>
                </a:solidFill>
                <a:latin typeface="Arial"/>
                <a:ea typeface="Arial"/>
                <a:cs typeface="Arial"/>
              </a:rPr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0671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>
            <a:extLst>
              <a:ext uri="{FF2B5EF4-FFF2-40B4-BE49-F238E27FC236}">
                <a16:creationId xmlns:a16="http://schemas.microsoft.com/office/drawing/2014/main" id="{72304E2B-32BB-4DBB-91B9-EFCDEA121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5. Kiến trúc, API &amp; kế hoạch</a:t>
            </a:r>
            <a:endParaRPr/>
          </a:p>
        </p:txBody>
      </p:sp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0FF92017-E7CD-47D2-B12A-9A710B6A6C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41</a:t>
            </a:r>
            <a:endParaRPr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95887618-0384-49D7-BD21-D013592BD545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110680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Scrum và tiêu chí đưa story vào nghiệm thu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DAA992CC-E83E-46F2-8157-E97C9195CDF7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5286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Definition of Ready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A14351EC-3258-4C2D-BDC7-FB4D28EC144B}"/>
              </a:ext>
            </a:extLst>
          </p:cNvPr>
          <p:cNvSpPr>
            <a:spLocks noGrp="1"/>
          </p:cNvSpPr>
          <p:nvPr/>
        </p:nvSpPr>
        <p:spPr>
          <a:xfrm>
            <a:off x="552450" y="2428875"/>
            <a:ext cx="5238750" cy="285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95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95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Story </a:t>
            </a: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rõ</a:t>
            </a: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nhu</a:t>
            </a: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cầu</a:t>
            </a: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và</a:t>
            </a: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lợi</a:t>
            </a: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ích</a:t>
            </a:r>
            <a:endParaRPr sz="1950" b="0" dirty="0">
              <a:solidFill>
                <a:srgbClr val="1F1F1F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95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Có</a:t>
            </a: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Gherkin </a:t>
            </a: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chuẩn</a:t>
            </a: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và</a:t>
            </a: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ngoại</a:t>
            </a: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lệ</a:t>
            </a:r>
            <a:endParaRPr sz="1950" b="0" dirty="0">
              <a:solidFill>
                <a:srgbClr val="1F1F1F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95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Truy</a:t>
            </a: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vết</a:t>
            </a: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FR, UC </a:t>
            </a: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và</a:t>
            </a: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BIZ</a:t>
            </a:r>
          </a:p>
          <a:p>
            <a:pPr algn="l">
              <a:buNone/>
              <a:defRPr sz="195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Đã</a:t>
            </a: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ước</a:t>
            </a: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lượng</a:t>
            </a: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bằng</a:t>
            </a: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story point</a:t>
            </a:r>
          </a:p>
          <a:p>
            <a:pPr algn="l">
              <a:buNone/>
              <a:defRPr sz="195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Phụ</a:t>
            </a: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thuộc</a:t>
            </a: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đã</a:t>
            </a: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xong</a:t>
            </a: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hoặc</a:t>
            </a: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được</a:t>
            </a: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lên</a:t>
            </a: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lịch</a:t>
            </a:r>
            <a:endParaRPr sz="1950" b="0" dirty="0">
              <a:solidFill>
                <a:srgbClr val="1F1F1F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95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Endpoint </a:t>
            </a: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đã</a:t>
            </a: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có</a:t>
            </a: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trong</a:t>
            </a:r>
            <a:r>
              <a:rPr sz="1950" b="0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OpenAPI</a:t>
            </a:r>
            <a:endParaRPr sz="1950" b="0" dirty="0">
              <a:solidFill>
                <a:srgbClr val="1F1F1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1D47263F-5C97-4E52-8DD1-10B38FBDE271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5286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Definition of Done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9C434218-A316-44C4-B9BD-0FB276958EFB}"/>
              </a:ext>
            </a:extLst>
          </p:cNvPr>
          <p:cNvSpPr>
            <a:spLocks noGrp="1"/>
          </p:cNvSpPr>
          <p:nvPr/>
        </p:nvSpPr>
        <p:spPr>
          <a:xfrm>
            <a:off x="6477000" y="2428875"/>
            <a:ext cx="5238750" cy="285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2025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025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PR có thành viên khác review</a:t>
            </a:r>
          </a:p>
          <a:p>
            <a:pPr algn="l">
              <a:buNone/>
              <a:defRPr sz="2025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Kịch bản và unit test đạt</a:t>
            </a:r>
          </a:p>
          <a:p>
            <a:pPr algn="l">
              <a:buNone/>
              <a:defRPr sz="2025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CI xanh, Rule Engine coverage ≥ 80%</a:t>
            </a:r>
          </a:p>
          <a:p>
            <a:pPr algn="l">
              <a:buNone/>
              <a:defRPr sz="2025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Nhật ký đúng và không lộ định danh</a:t>
            </a:r>
          </a:p>
          <a:p>
            <a:pPr algn="l">
              <a:buNone/>
              <a:defRPr sz="2025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Tài liệu đồng bộ, demo chạy được</a:t>
            </a:r>
          </a:p>
        </p:txBody>
      </p:sp>
    </p:spTree>
    <p:extLst>
      <p:ext uri="{BB962C8B-B14F-4D97-AF65-F5344CB8AC3E}">
        <p14:creationId xmlns:p14="http://schemas.microsoft.com/office/powerpoint/2010/main" val="11312387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2">
            <a:extLst>
              <a:ext uri="{FF2B5EF4-FFF2-40B4-BE49-F238E27FC236}">
                <a16:creationId xmlns:a16="http://schemas.microsoft.com/office/drawing/2014/main" id="{2D45278F-4404-488D-8B8C-B1062AA24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5. Kiến trúc, API &amp; kế hoạch</a:t>
            </a:r>
            <a:endParaRPr/>
          </a:p>
        </p:txBody>
      </p:sp>
      <p:sp>
        <p:nvSpPr>
          <p:cNvPr id="580" name="Google Shape;580;p42">
            <a:extLst>
              <a:ext uri="{FF2B5EF4-FFF2-40B4-BE49-F238E27FC236}">
                <a16:creationId xmlns:a16="http://schemas.microsoft.com/office/drawing/2014/main" id="{FD38361F-7470-4607-9AA6-E3DA536E952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42</a:t>
            </a:r>
            <a:endParaRPr/>
          </a:p>
        </p:txBody>
      </p:sp>
      <p:sp>
        <p:nvSpPr>
          <p:cNvPr id="581" name="Google Shape;581;p42">
            <a:extLst>
              <a:ext uri="{FF2B5EF4-FFF2-40B4-BE49-F238E27FC236}">
                <a16:creationId xmlns:a16="http://schemas.microsoft.com/office/drawing/2014/main" id="{FAD207A5-2631-4B4C-A5A6-DE3941AECC46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Lộ trình nội bộ trước review</a:t>
            </a:r>
            <a:endParaRPr/>
          </a:p>
        </p:txBody>
      </p:sp>
      <p:sp>
        <p:nvSpPr>
          <p:cNvPr id="582" name="Google Shape;582;p42">
            <a:extLst>
              <a:ext uri="{FF2B5EF4-FFF2-40B4-BE49-F238E27FC236}">
                <a16:creationId xmlns:a16="http://schemas.microsoft.com/office/drawing/2014/main" id="{75ABDB76-184A-4C72-842D-BADBCD6D3E6A}"/>
              </a:ext>
            </a:extLst>
          </p:cNvPr>
          <p:cNvSpPr>
            <a:spLocks noGrp="1"/>
          </p:cNvSpPr>
          <p:nvPr/>
        </p:nvSpPr>
        <p:spPr>
          <a:xfrm>
            <a:off x="1097280" y="2788920"/>
            <a:ext cx="9966960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3" name="Google Shape;583;p42">
            <a:extLst>
              <a:ext uri="{FF2B5EF4-FFF2-40B4-BE49-F238E27FC236}">
                <a16:creationId xmlns:a16="http://schemas.microsoft.com/office/drawing/2014/main" id="{E02615FC-0CE1-4923-9BD8-7CB98C0B0A4A}"/>
              </a:ext>
            </a:extLst>
          </p:cNvPr>
          <p:cNvSpPr>
            <a:spLocks noGrp="1"/>
          </p:cNvSpPr>
          <p:nvPr/>
        </p:nvSpPr>
        <p:spPr>
          <a:xfrm>
            <a:off x="1207007" y="2487168"/>
            <a:ext cx="685800" cy="6858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sz="2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/>
          </a:p>
        </p:txBody>
      </p:sp>
      <p:sp>
        <p:nvSpPr>
          <p:cNvPr id="584" name="Google Shape;584;p42">
            <a:extLst>
              <a:ext uri="{FF2B5EF4-FFF2-40B4-BE49-F238E27FC236}">
                <a16:creationId xmlns:a16="http://schemas.microsoft.com/office/drawing/2014/main" id="{C61394A6-172D-499B-AF79-8C84405C2049}"/>
              </a:ext>
            </a:extLst>
          </p:cNvPr>
          <p:cNvSpPr>
            <a:spLocks noGrp="1"/>
          </p:cNvSpPr>
          <p:nvPr/>
        </p:nvSpPr>
        <p:spPr>
          <a:xfrm>
            <a:off x="548640" y="33832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21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Sprint 1</a:t>
            </a:r>
            <a:endParaRPr/>
          </a:p>
        </p:txBody>
      </p:sp>
      <p:sp>
        <p:nvSpPr>
          <p:cNvPr id="585" name="Google Shape;585;p42">
            <a:extLst>
              <a:ext uri="{FF2B5EF4-FFF2-40B4-BE49-F238E27FC236}">
                <a16:creationId xmlns:a16="http://schemas.microsoft.com/office/drawing/2014/main" id="{5FABDA25-8873-48A0-A9E8-FAF8711A960A}"/>
              </a:ext>
            </a:extLst>
          </p:cNvPr>
          <p:cNvSpPr>
            <a:spLocks noGrp="1"/>
          </p:cNvSpPr>
          <p:nvPr/>
        </p:nvSpPr>
        <p:spPr>
          <a:xfrm>
            <a:off x="548640" y="37947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Tuần 2–3</a:t>
            </a:r>
            <a:endParaRPr/>
          </a:p>
        </p:txBody>
      </p:sp>
      <p:sp>
        <p:nvSpPr>
          <p:cNvPr id="586" name="Google Shape;586;p42">
            <a:extLst>
              <a:ext uri="{FF2B5EF4-FFF2-40B4-BE49-F238E27FC236}">
                <a16:creationId xmlns:a16="http://schemas.microsoft.com/office/drawing/2014/main" id="{A2DE7B17-7C81-465C-A5E9-CC3118BDD6E4}"/>
              </a:ext>
            </a:extLst>
          </p:cNvPr>
          <p:cNvSpPr>
            <a:spLocks noGrp="1"/>
          </p:cNvSpPr>
          <p:nvPr/>
        </p:nvSpPr>
        <p:spPr>
          <a:xfrm>
            <a:off x="594360" y="4297680"/>
            <a:ext cx="1920240" cy="100584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73150" tIns="73150" rIns="73150" bIns="7315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Đặc tả, thiết kế</a:t>
            </a:r>
            <a:endParaRPr/>
          </a:p>
        </p:txBody>
      </p:sp>
      <p:sp>
        <p:nvSpPr>
          <p:cNvPr id="587" name="Google Shape;587;p42">
            <a:extLst>
              <a:ext uri="{FF2B5EF4-FFF2-40B4-BE49-F238E27FC236}">
                <a16:creationId xmlns:a16="http://schemas.microsoft.com/office/drawing/2014/main" id="{4498CCC1-149B-4CE1-86C7-4AE315FCE61C}"/>
              </a:ext>
            </a:extLst>
          </p:cNvPr>
          <p:cNvSpPr>
            <a:spLocks noGrp="1"/>
          </p:cNvSpPr>
          <p:nvPr/>
        </p:nvSpPr>
        <p:spPr>
          <a:xfrm>
            <a:off x="3447288" y="2487168"/>
            <a:ext cx="685800" cy="6858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sz="2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/>
          </a:p>
        </p:txBody>
      </p:sp>
      <p:sp>
        <p:nvSpPr>
          <p:cNvPr id="588" name="Google Shape;588;p42">
            <a:extLst>
              <a:ext uri="{FF2B5EF4-FFF2-40B4-BE49-F238E27FC236}">
                <a16:creationId xmlns:a16="http://schemas.microsoft.com/office/drawing/2014/main" id="{3962121E-BEFB-442E-ABF4-4316BE7D6E34}"/>
              </a:ext>
            </a:extLst>
          </p:cNvPr>
          <p:cNvSpPr>
            <a:spLocks noGrp="1"/>
          </p:cNvSpPr>
          <p:nvPr/>
        </p:nvSpPr>
        <p:spPr>
          <a:xfrm>
            <a:off x="2788920" y="33832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21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Sprint 2</a:t>
            </a:r>
            <a:endParaRPr/>
          </a:p>
        </p:txBody>
      </p:sp>
      <p:sp>
        <p:nvSpPr>
          <p:cNvPr id="589" name="Google Shape;589;p42">
            <a:extLst>
              <a:ext uri="{FF2B5EF4-FFF2-40B4-BE49-F238E27FC236}">
                <a16:creationId xmlns:a16="http://schemas.microsoft.com/office/drawing/2014/main" id="{D29EBFC0-70D5-4C0E-BD96-E0994DEBE1BF}"/>
              </a:ext>
            </a:extLst>
          </p:cNvPr>
          <p:cNvSpPr>
            <a:spLocks noGrp="1"/>
          </p:cNvSpPr>
          <p:nvPr/>
        </p:nvSpPr>
        <p:spPr>
          <a:xfrm>
            <a:off x="2788920" y="37947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Tuần 4–6</a:t>
            </a:r>
            <a:endParaRPr/>
          </a:p>
        </p:txBody>
      </p:sp>
      <p:sp>
        <p:nvSpPr>
          <p:cNvPr id="590" name="Google Shape;590;p42">
            <a:extLst>
              <a:ext uri="{FF2B5EF4-FFF2-40B4-BE49-F238E27FC236}">
                <a16:creationId xmlns:a16="http://schemas.microsoft.com/office/drawing/2014/main" id="{50AB43F5-5D67-41FC-986B-E0CB88F0C6DD}"/>
              </a:ext>
            </a:extLst>
          </p:cNvPr>
          <p:cNvSpPr>
            <a:spLocks noGrp="1"/>
          </p:cNvSpPr>
          <p:nvPr/>
        </p:nvSpPr>
        <p:spPr>
          <a:xfrm>
            <a:off x="2834640" y="4297680"/>
            <a:ext cx="1920240" cy="100584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>
            <a:noFill/>
          </a:ln>
        </p:spPr>
        <p:txBody>
          <a:bodyPr spcFirstLastPara="1" wrap="square" lIns="73150" tIns="73150" rIns="73150" bIns="7315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Chức năng lõi</a:t>
            </a:r>
            <a:endParaRPr/>
          </a:p>
        </p:txBody>
      </p:sp>
      <p:sp>
        <p:nvSpPr>
          <p:cNvPr id="591" name="Google Shape;591;p42">
            <a:extLst>
              <a:ext uri="{FF2B5EF4-FFF2-40B4-BE49-F238E27FC236}">
                <a16:creationId xmlns:a16="http://schemas.microsoft.com/office/drawing/2014/main" id="{92EEB2FA-30B1-4729-98E0-185908B4629B}"/>
              </a:ext>
            </a:extLst>
          </p:cNvPr>
          <p:cNvSpPr>
            <a:spLocks noGrp="1"/>
          </p:cNvSpPr>
          <p:nvPr/>
        </p:nvSpPr>
        <p:spPr>
          <a:xfrm>
            <a:off x="5687568" y="2487168"/>
            <a:ext cx="685800" cy="6858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sz="2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/>
          </a:p>
        </p:txBody>
      </p:sp>
      <p:sp>
        <p:nvSpPr>
          <p:cNvPr id="592" name="Google Shape;592;p42">
            <a:extLst>
              <a:ext uri="{FF2B5EF4-FFF2-40B4-BE49-F238E27FC236}">
                <a16:creationId xmlns:a16="http://schemas.microsoft.com/office/drawing/2014/main" id="{898F641C-F541-44F5-9931-D1EDA7CAA323}"/>
              </a:ext>
            </a:extLst>
          </p:cNvPr>
          <p:cNvSpPr>
            <a:spLocks noGrp="1"/>
          </p:cNvSpPr>
          <p:nvPr/>
        </p:nvSpPr>
        <p:spPr>
          <a:xfrm>
            <a:off x="5029200" y="33832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21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Sprint 3</a:t>
            </a:r>
            <a:endParaRPr/>
          </a:p>
        </p:txBody>
      </p:sp>
      <p:sp>
        <p:nvSpPr>
          <p:cNvPr id="593" name="Google Shape;593;p42">
            <a:extLst>
              <a:ext uri="{FF2B5EF4-FFF2-40B4-BE49-F238E27FC236}">
                <a16:creationId xmlns:a16="http://schemas.microsoft.com/office/drawing/2014/main" id="{118E6394-BB5A-4ED9-A66B-E98A801C7C1A}"/>
              </a:ext>
            </a:extLst>
          </p:cNvPr>
          <p:cNvSpPr>
            <a:spLocks noGrp="1"/>
          </p:cNvSpPr>
          <p:nvPr/>
        </p:nvSpPr>
        <p:spPr>
          <a:xfrm>
            <a:off x="5029200" y="37947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Tuần 7–8</a:t>
            </a:r>
            <a:endParaRPr/>
          </a:p>
        </p:txBody>
      </p:sp>
      <p:sp>
        <p:nvSpPr>
          <p:cNvPr id="594" name="Google Shape;594;p42">
            <a:extLst>
              <a:ext uri="{FF2B5EF4-FFF2-40B4-BE49-F238E27FC236}">
                <a16:creationId xmlns:a16="http://schemas.microsoft.com/office/drawing/2014/main" id="{C6876BCC-1BDF-4E14-9586-2EF227A9D15C}"/>
              </a:ext>
            </a:extLst>
          </p:cNvPr>
          <p:cNvSpPr>
            <a:spLocks noGrp="1"/>
          </p:cNvSpPr>
          <p:nvPr/>
        </p:nvSpPr>
        <p:spPr>
          <a:xfrm>
            <a:off x="5074920" y="4297680"/>
            <a:ext cx="1920240" cy="100584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73150" tIns="73150" rIns="73150" bIns="73150" anchor="ctr">
            <a:noAutofit/>
          </a:bodyPr>
          <a:lstStyle>
            <a:defPPr>
              <a:defRPr sz="1725"/>
            </a:defPPr>
          </a:lstStyle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25"/>
            </a:pPr>
            <a:r>
              <a:rPr sz="1725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AI chuẩn hóa tên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25"/>
            </a:pPr>
            <a:r>
              <a:rPr sz="1725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Xác nhận hộ</a:t>
            </a:r>
          </a:p>
        </p:txBody>
      </p:sp>
      <p:sp>
        <p:nvSpPr>
          <p:cNvPr id="595" name="Google Shape;595;p42">
            <a:extLst>
              <a:ext uri="{FF2B5EF4-FFF2-40B4-BE49-F238E27FC236}">
                <a16:creationId xmlns:a16="http://schemas.microsoft.com/office/drawing/2014/main" id="{26B8E9B4-CA4A-41A9-8161-477865C1547C}"/>
              </a:ext>
            </a:extLst>
          </p:cNvPr>
          <p:cNvSpPr>
            <a:spLocks noGrp="1"/>
          </p:cNvSpPr>
          <p:nvPr/>
        </p:nvSpPr>
        <p:spPr>
          <a:xfrm>
            <a:off x="7927848" y="2487168"/>
            <a:ext cx="685800" cy="6858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sz="2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/>
          </a:p>
        </p:txBody>
      </p:sp>
      <p:sp>
        <p:nvSpPr>
          <p:cNvPr id="596" name="Google Shape;596;p42">
            <a:extLst>
              <a:ext uri="{FF2B5EF4-FFF2-40B4-BE49-F238E27FC236}">
                <a16:creationId xmlns:a16="http://schemas.microsoft.com/office/drawing/2014/main" id="{BA37EBB3-02BA-43AF-91E5-2135ADDAE582}"/>
              </a:ext>
            </a:extLst>
          </p:cNvPr>
          <p:cNvSpPr>
            <a:spLocks noGrp="1"/>
          </p:cNvSpPr>
          <p:nvPr/>
        </p:nvSpPr>
        <p:spPr>
          <a:xfrm>
            <a:off x="7269480" y="33832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21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Sprint 4</a:t>
            </a:r>
            <a:endParaRPr/>
          </a:p>
        </p:txBody>
      </p:sp>
      <p:sp>
        <p:nvSpPr>
          <p:cNvPr id="597" name="Google Shape;597;p42">
            <a:extLst>
              <a:ext uri="{FF2B5EF4-FFF2-40B4-BE49-F238E27FC236}">
                <a16:creationId xmlns:a16="http://schemas.microsoft.com/office/drawing/2014/main" id="{2EAE4D51-1B90-4664-9C50-9625CE917240}"/>
              </a:ext>
            </a:extLst>
          </p:cNvPr>
          <p:cNvSpPr>
            <a:spLocks noGrp="1"/>
          </p:cNvSpPr>
          <p:nvPr/>
        </p:nvSpPr>
        <p:spPr>
          <a:xfrm>
            <a:off x="7269480" y="37947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Tuần 9–10</a:t>
            </a:r>
            <a:endParaRPr/>
          </a:p>
        </p:txBody>
      </p:sp>
      <p:sp>
        <p:nvSpPr>
          <p:cNvPr id="598" name="Google Shape;598;p42">
            <a:extLst>
              <a:ext uri="{FF2B5EF4-FFF2-40B4-BE49-F238E27FC236}">
                <a16:creationId xmlns:a16="http://schemas.microsoft.com/office/drawing/2014/main" id="{5B9B8E08-AB30-48F2-948D-364648E07627}"/>
              </a:ext>
            </a:extLst>
          </p:cNvPr>
          <p:cNvSpPr>
            <a:spLocks noGrp="1"/>
          </p:cNvSpPr>
          <p:nvPr/>
        </p:nvSpPr>
        <p:spPr>
          <a:xfrm>
            <a:off x="7315200" y="4297680"/>
            <a:ext cx="1920240" cy="100584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73150" tIns="73150" rIns="73150" bIns="73150" anchor="ctr">
            <a:noAutofit/>
          </a:bodyPr>
          <a:lstStyle>
            <a:defPPr>
              <a:defRPr sz="1725"/>
            </a:defPPr>
          </a:lstStyle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25"/>
            </a:pPr>
            <a:r>
              <a:rPr sz="1725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PDF, chỉ số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25"/>
            </a:pPr>
            <a:r>
              <a:rPr sz="1725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Nhắc tái khám</a:t>
            </a:r>
          </a:p>
        </p:txBody>
      </p:sp>
      <p:sp>
        <p:nvSpPr>
          <p:cNvPr id="599" name="Google Shape;599;p42">
            <a:extLst>
              <a:ext uri="{FF2B5EF4-FFF2-40B4-BE49-F238E27FC236}">
                <a16:creationId xmlns:a16="http://schemas.microsoft.com/office/drawing/2014/main" id="{21F841F1-CD86-4AB7-ACFA-7EE7C739D30C}"/>
              </a:ext>
            </a:extLst>
          </p:cNvPr>
          <p:cNvSpPr>
            <a:spLocks noGrp="1"/>
          </p:cNvSpPr>
          <p:nvPr/>
        </p:nvSpPr>
        <p:spPr>
          <a:xfrm>
            <a:off x="10168128" y="2487168"/>
            <a:ext cx="685800" cy="6858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sz="2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/>
          </a:p>
        </p:txBody>
      </p:sp>
      <p:sp>
        <p:nvSpPr>
          <p:cNvPr id="600" name="Google Shape;600;p42">
            <a:extLst>
              <a:ext uri="{FF2B5EF4-FFF2-40B4-BE49-F238E27FC236}">
                <a16:creationId xmlns:a16="http://schemas.microsoft.com/office/drawing/2014/main" id="{8AB969EE-18C2-4E79-A9F0-B81EC2CF0010}"/>
              </a:ext>
            </a:extLst>
          </p:cNvPr>
          <p:cNvSpPr>
            <a:spLocks noGrp="1"/>
          </p:cNvSpPr>
          <p:nvPr/>
        </p:nvSpPr>
        <p:spPr>
          <a:xfrm>
            <a:off x="9509760" y="33832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21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Sprint 5</a:t>
            </a:r>
            <a:endParaRPr/>
          </a:p>
        </p:txBody>
      </p:sp>
      <p:sp>
        <p:nvSpPr>
          <p:cNvPr id="601" name="Google Shape;601;p42">
            <a:extLst>
              <a:ext uri="{FF2B5EF4-FFF2-40B4-BE49-F238E27FC236}">
                <a16:creationId xmlns:a16="http://schemas.microsoft.com/office/drawing/2014/main" id="{29BD066E-D878-45EE-940F-161918A6DFF1}"/>
              </a:ext>
            </a:extLst>
          </p:cNvPr>
          <p:cNvSpPr>
            <a:spLocks noGrp="1"/>
          </p:cNvSpPr>
          <p:nvPr/>
        </p:nvSpPr>
        <p:spPr>
          <a:xfrm>
            <a:off x="9509760" y="37947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Tuần 11–12</a:t>
            </a:r>
            <a:endParaRPr/>
          </a:p>
        </p:txBody>
      </p:sp>
      <p:sp>
        <p:nvSpPr>
          <p:cNvPr id="602" name="Google Shape;602;p42">
            <a:extLst>
              <a:ext uri="{FF2B5EF4-FFF2-40B4-BE49-F238E27FC236}">
                <a16:creationId xmlns:a16="http://schemas.microsoft.com/office/drawing/2014/main" id="{CF92422D-BDFD-40FD-A404-FC1433785590}"/>
              </a:ext>
            </a:extLst>
          </p:cNvPr>
          <p:cNvSpPr>
            <a:spLocks noGrp="1"/>
          </p:cNvSpPr>
          <p:nvPr/>
        </p:nvSpPr>
        <p:spPr>
          <a:xfrm>
            <a:off x="9555480" y="4297680"/>
            <a:ext cx="1920240" cy="100584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73150" tIns="73150" rIns="73150" bIns="7315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Kiểm thử, bảo vệ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991476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>
            <a:extLst>
              <a:ext uri="{FF2B5EF4-FFF2-40B4-BE49-F238E27FC236}">
                <a16:creationId xmlns:a16="http://schemas.microsoft.com/office/drawing/2014/main" id="{72304E2B-32BB-4DBB-91B9-EFCDEA121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5. Kiến trúc, API &amp; kế hoạch</a:t>
            </a:r>
            <a:endParaRPr/>
          </a:p>
        </p:txBody>
      </p:sp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0FF92017-E7CD-47D2-B12A-9A710B6A6C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43</a:t>
            </a:r>
            <a:endParaRPr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A62CF701-556E-411B-A7E6-BCFB5DCBB66D}"/>
              </a:ext>
            </a:extLst>
          </p:cNvPr>
          <p:cNvSpPr>
            <a:spLocks noGrp="1"/>
          </p:cNvSpPr>
          <p:nvPr/>
        </p:nvSpPr>
        <p:spPr>
          <a:xfrm>
            <a:off x="552450" y="9048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Kế hoạch tuần 8–11</a:t>
            </a:r>
          </a:p>
        </p:txBody>
      </p:sp>
      <p:graphicFrame>
        <p:nvGraphicFramePr>
          <p:cNvPr id="126" name="Table 125">
            <a:extLst>
              <a:ext uri="{FF2B5EF4-FFF2-40B4-BE49-F238E27FC236}">
                <a16:creationId xmlns:a16="http://schemas.microsoft.com/office/drawing/2014/main" id="{48B5A464-DF64-4A64-BDC6-3EA73A5E0F26}"/>
              </a:ext>
            </a:extLst>
          </p:cNvPr>
          <p:cNvGraphicFramePr/>
          <p:nvPr/>
        </p:nvGraphicFramePr>
        <p:xfrm>
          <a:off x="552450" y="1762125"/>
          <a:ext cx="11049000" cy="361950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Tuần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Công việc trọng tâm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Đầu ra cần bàn giao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Luồng lõi, xác nhận hộ; đánh giá AI theo phạm vi đã chọn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Demo; lỗi còn mở; chốt phạm vi AI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Xuất PDF 30 ngày; đối chiếu người và thời điểm xác nhận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PDF mẫu; kiểm thử US-05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Chỉ số xét nghiệm, lịch tái khám; tích hợp phân hệ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Demo US-15, US-16; test tích hợp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Test đầu cuối: offline, gửi lặp, thu hồi quyền, thay đơn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RTM có trạng thái; lỗi ưu tiên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5841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>
            <a:extLst>
              <a:ext uri="{FF2B5EF4-FFF2-40B4-BE49-F238E27FC236}">
                <a16:creationId xmlns:a16="http://schemas.microsoft.com/office/drawing/2014/main" id="{72304E2B-32BB-4DBB-91B9-EFCDEA121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5. Kiến trúc, API &amp; kế hoạch</a:t>
            </a:r>
            <a:endParaRPr/>
          </a:p>
        </p:txBody>
      </p:sp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0FF92017-E7CD-47D2-B12A-9A710B6A6C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44</a:t>
            </a:r>
            <a:endParaRPr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C46F977-0263-4168-B444-439CC1118662}"/>
              </a:ext>
            </a:extLst>
          </p:cNvPr>
          <p:cNvSpPr>
            <a:spLocks noGrp="1"/>
          </p:cNvSpPr>
          <p:nvPr/>
        </p:nvSpPr>
        <p:spPr>
          <a:xfrm>
            <a:off x="552450" y="9048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Kế hoạch tuần 12–15</a:t>
            </a:r>
          </a:p>
        </p:txBody>
      </p:sp>
      <p:graphicFrame>
        <p:nvGraphicFramePr>
          <p:cNvPr id="126" name="Table 125">
            <a:extLst>
              <a:ext uri="{FF2B5EF4-FFF2-40B4-BE49-F238E27FC236}">
                <a16:creationId xmlns:a16="http://schemas.microsoft.com/office/drawing/2014/main" id="{9948ED29-889B-4398-82CC-F1BECC214BAF}"/>
              </a:ext>
            </a:extLst>
          </p:cNvPr>
          <p:cNvGraphicFramePr/>
          <p:nvPr/>
        </p:nvGraphicFramePr>
        <p:xfrm>
          <a:off x="552450" y="1762125"/>
          <a:ext cx="11049000" cy="361950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Tuần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Công việc trọng tâm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Đầu ra cần bàn giao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Đo coverage, tải, độ trễ, bảo mật và phục hồi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Log NFR; chỉ tiêu đạt/chưa đạt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Sửa lỗi, test hồi quy; đồng bộ đặc tả và hướng dẫn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Bản ứng viên; Test Report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Thử cài đặt; tổng duyệt; chốt phiên bản và phân công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Gói bàn giao; slide; kịch bản demo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BÁO CÁO CUỐI KỲ: nộp, trình bày, demo và phản biện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Word, slide, mã; biên bản tổng kết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4716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>
            <a:extLst>
              <a:ext uri="{FF2B5EF4-FFF2-40B4-BE49-F238E27FC236}">
                <a16:creationId xmlns:a16="http://schemas.microsoft.com/office/drawing/2014/main" id="{72304E2B-32BB-4DBB-91B9-EFCDEA121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5. Kiến trúc, API &amp; kế hoạch</a:t>
            </a:r>
            <a:endParaRPr/>
          </a:p>
        </p:txBody>
      </p:sp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0FF92017-E7CD-47D2-B12A-9A710B6A6C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45</a:t>
            </a:r>
            <a:endParaRPr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C80407C9-2C85-4CFF-A24C-321DD469BC9C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110680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0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3000" b="1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Kế</a:t>
            </a:r>
            <a:r>
              <a:rPr sz="3000" b="1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hoạch</a:t>
            </a:r>
            <a:r>
              <a:rPr sz="3000" b="1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bổ</a:t>
            </a:r>
            <a:r>
              <a:rPr sz="3000" b="1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sun</a:t>
            </a:r>
            <a:r>
              <a:rPr lang="en-US" sz="3000" b="1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g</a:t>
            </a:r>
            <a:endParaRPr sz="3000" b="1" dirty="0">
              <a:solidFill>
                <a:srgbClr val="1F1F1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28" name="Table 127">
            <a:extLst>
              <a:ext uri="{FF2B5EF4-FFF2-40B4-BE49-F238E27FC236}">
                <a16:creationId xmlns:a16="http://schemas.microsoft.com/office/drawing/2014/main" id="{592F4FC5-37CE-47E0-BD82-BC3923533E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8412344"/>
              </p:ext>
            </p:extLst>
          </p:nvPr>
        </p:nvGraphicFramePr>
        <p:xfrm>
          <a:off x="552450" y="1809750"/>
          <a:ext cx="11049000" cy="385762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Phụ trách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Công </a:t>
                      </a:r>
                      <a:r>
                        <a:rPr sz="1725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việc</a:t>
                      </a:r>
                      <a:endParaRPr sz="1725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Bằng chứng bàn giao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725" b="0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Phúc Bình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ERD 3NF, từ điển, DDL; OpenAPI và Gateway mock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ERD, schema, spec, commit và log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Đức Trí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SRS, Gap Matrix, RTM; phân rã UC theo vai trò; chốt lịch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SRS, RTM, .feature và biên bản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Tuấn Tài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Class, 3 Sequence Diagram; UI flow và kế hoạch test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Nguồn sơ đồ, UI flow, Test Plan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Cả nhóm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RACI, review PR, CI; báo cáo test; chốt phạm vi bàn giao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Backlog, PR, CI log, Test Report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2387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4">
            <a:extLst>
              <a:ext uri="{FF2B5EF4-FFF2-40B4-BE49-F238E27FC236}">
                <a16:creationId xmlns:a16="http://schemas.microsoft.com/office/drawing/2014/main" id="{97056924-8A90-414D-B4D0-FB6F08FA8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600" cy="4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5. Kiến trúc, API &amp; kế hoạch</a:t>
            </a:r>
            <a:endParaRPr/>
          </a:p>
        </p:txBody>
      </p:sp>
      <p:sp>
        <p:nvSpPr>
          <p:cNvPr id="630" name="Google Shape;630;p44">
            <a:extLst>
              <a:ext uri="{FF2B5EF4-FFF2-40B4-BE49-F238E27FC236}">
                <a16:creationId xmlns:a16="http://schemas.microsoft.com/office/drawing/2014/main" id="{EBD902B0-DC86-448F-80EE-5EAE27B1AA8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46</a:t>
            </a:r>
            <a:endParaRPr/>
          </a:p>
        </p:txBody>
      </p:sp>
      <p:sp>
        <p:nvSpPr>
          <p:cNvPr id="632" name="Google Shape;632;p44">
            <a:extLst>
              <a:ext uri="{FF2B5EF4-FFF2-40B4-BE49-F238E27FC236}">
                <a16:creationId xmlns:a16="http://schemas.microsoft.com/office/drawing/2014/main" id="{83C93BE2-ECFA-49AA-AE31-175982FF2B31}"/>
              </a:ext>
            </a:extLst>
          </p:cNvPr>
          <p:cNvSpPr>
            <a:spLocks noGrp="1"/>
          </p:cNvSpPr>
          <p:nvPr/>
        </p:nvSpPr>
        <p:spPr>
          <a:xfrm>
            <a:off x="418200" y="930350"/>
            <a:ext cx="10294500" cy="7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1F1F1F"/>
                </a:solidFill>
              </a:rPr>
              <a:t>Rủi ro và biện pháp giảm thiểu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  </a:t>
            </a:r>
            <a:endParaRPr/>
          </a:p>
        </p:txBody>
      </p:sp>
      <p:graphicFrame>
        <p:nvGraphicFramePr>
          <p:cNvPr id="634" name="Table 633">
            <a:extLst>
              <a:ext uri="{FF2B5EF4-FFF2-40B4-BE49-F238E27FC236}">
                <a16:creationId xmlns:a16="http://schemas.microsoft.com/office/drawing/2014/main" id="{62562CD3-AB43-4691-A68E-FF1F36409DF0}"/>
              </a:ext>
            </a:extLst>
          </p:cNvPr>
          <p:cNvGraphicFramePr/>
          <p:nvPr/>
        </p:nvGraphicFramePr>
        <p:xfrm>
          <a:off x="552450" y="1762125"/>
          <a:ext cx="11049000" cy="3762378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706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Rủi ro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Biện pháp giảm thiểu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6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P3 thiếu bằng chứng, AI thiếu cơ sở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Thu thập ít nhất 2 cặp đơn qua 2 đợt khám trước Sprint 3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6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Ngưỡng bỏ lỡ, cách tính muộn chưa rõ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Cho phép cấu hình; hỏi bác sĩ hoặc dược sĩ trước cuối Sprint 2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6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Người chăm sóc ngại nhập đơn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Gợi ý tên; cân nhắc sao chép đơn cũ và yêu cầu xác nhận lại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6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Nhắc nhở không tới thiết bị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Thử trên đúng loại điện thoại bệnh nhân dùng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6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Sprint 2 quá tải với 11 story Must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Ước lượng story point, xếp US-06 trước US-12, điều chỉnh phạm vi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10925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>
            <a:extLst>
              <a:ext uri="{FF2B5EF4-FFF2-40B4-BE49-F238E27FC236}">
                <a16:creationId xmlns:a16="http://schemas.microsoft.com/office/drawing/2014/main" id="{72304E2B-32BB-4DBB-91B9-EFCDEA121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5. Kiến trúc, API &amp; kế hoạch</a:t>
            </a:r>
            <a:endParaRPr/>
          </a:p>
        </p:txBody>
      </p:sp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0FF92017-E7CD-47D2-B12A-9A710B6A6C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47</a:t>
            </a:r>
            <a:endParaRPr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A74C57E-6A37-40AC-8045-D6CDE670EBD4}"/>
              </a:ext>
            </a:extLst>
          </p:cNvPr>
          <p:cNvSpPr>
            <a:spLocks noGrp="1"/>
          </p:cNvSpPr>
          <p:nvPr/>
        </p:nvSpPr>
        <p:spPr>
          <a:xfrm>
            <a:off x="552450" y="904875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925" b="1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UM</a:t>
            </a:r>
            <a:r>
              <a:rPr lang="en-US" sz="2925" b="1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L</a:t>
            </a:r>
            <a:endParaRPr sz="2925" b="1" dirty="0">
              <a:solidFill>
                <a:srgbClr val="1F1F1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26" name="Table 125">
            <a:extLst>
              <a:ext uri="{FF2B5EF4-FFF2-40B4-BE49-F238E27FC236}">
                <a16:creationId xmlns:a16="http://schemas.microsoft.com/office/drawing/2014/main" id="{2A42724D-7C8B-4381-B6DF-3628BE789876}"/>
              </a:ext>
            </a:extLst>
          </p:cNvPr>
          <p:cNvGraphicFramePr/>
          <p:nvPr/>
        </p:nvGraphicFramePr>
        <p:xfrm>
          <a:off x="552450" y="1762125"/>
          <a:ext cx="11049000" cy="352425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Đầu ra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Tiêu chí cụ thể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Class Diagram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Thuộc tính, kiểu, phương thức, bội số và quan hệ nghiệp vụ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Sequence 1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Xác</a:t>
                      </a:r>
                      <a:r>
                        <a:rPr sz="1800" b="0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nhận</a:t>
                      </a:r>
                      <a:r>
                        <a:rPr sz="1800" b="0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800" b="0" dirty="0" err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thay</a:t>
                      </a:r>
                      <a:r>
                        <a:rPr sz="1800" b="0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đơn</a:t>
                      </a:r>
                      <a:r>
                        <a:rPr sz="1800" b="0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: </a:t>
                      </a:r>
                      <a:r>
                        <a:rPr sz="1800" b="0" dirty="0" err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giao</a:t>
                      </a:r>
                      <a:r>
                        <a:rPr sz="1800" b="0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dịch</a:t>
                      </a:r>
                      <a:r>
                        <a:rPr sz="1800" b="0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1800" b="0" dirty="0" err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hủy</a:t>
                      </a:r>
                      <a:r>
                        <a:rPr sz="1800" b="0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cữ</a:t>
                      </a:r>
                      <a:r>
                        <a:rPr sz="1800" b="0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cũ</a:t>
                      </a:r>
                      <a:r>
                        <a:rPr sz="1800" b="0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1800" b="0" dirty="0" err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sinh</a:t>
                      </a:r>
                      <a:r>
                        <a:rPr sz="1800" b="0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cữ</a:t>
                      </a:r>
                      <a:r>
                        <a:rPr sz="1800" b="0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mới</a:t>
                      </a:r>
                      <a:endParaRPr sz="1800" b="0" dirty="0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Sequence 2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Xác nhận đã uống: offline gửi lại, bấm lặp, muộn, xác nhận hộ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Sequence 3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Nhắc và quá hạn: retry, tránh gửi trùng, quyền người nhà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ERD </a:t>
                      </a:r>
                      <a:r>
                        <a:rPr sz="1800" b="0" dirty="0" err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1800" b="0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 DDL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Giải</a:t>
                      </a:r>
                      <a:r>
                        <a:rPr sz="1800" b="0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thích</a:t>
                      </a:r>
                      <a:r>
                        <a:rPr sz="1800" b="0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 3NF; PK/FK, CHECK, index; </a:t>
                      </a:r>
                      <a:r>
                        <a:rPr sz="1800" b="0" dirty="0" err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tạo</a:t>
                      </a:r>
                      <a:r>
                        <a:rPr sz="1800" b="0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 DB </a:t>
                      </a:r>
                      <a:r>
                        <a:rPr sz="1800" b="0" dirty="0" err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sạch</a:t>
                      </a:r>
                      <a:r>
                        <a:rPr sz="1800" b="0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có</a:t>
                      </a:r>
                      <a:r>
                        <a:rPr sz="1800" b="0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 log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74365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>
            <a:extLst>
              <a:ext uri="{FF2B5EF4-FFF2-40B4-BE49-F238E27FC236}">
                <a16:creationId xmlns:a16="http://schemas.microsoft.com/office/drawing/2014/main" id="{72304E2B-32BB-4DBB-91B9-EFCDEA121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5. Kiến trúc, API &amp; kế hoạch</a:t>
            </a:r>
            <a:endParaRPr/>
          </a:p>
        </p:txBody>
      </p:sp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0FF92017-E7CD-47D2-B12A-9A710B6A6C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49</a:t>
            </a:r>
            <a:endParaRPr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AAAE5675-64BB-41FA-BC3F-D2CA07B4F086}"/>
              </a:ext>
            </a:extLst>
          </p:cNvPr>
          <p:cNvSpPr>
            <a:spLocks noGrp="1"/>
          </p:cNvSpPr>
          <p:nvPr/>
        </p:nvSpPr>
        <p:spPr>
          <a:xfrm>
            <a:off x="552450" y="904875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925" b="1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Phân</a:t>
            </a:r>
            <a:r>
              <a:rPr sz="2925" b="1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công</a:t>
            </a:r>
            <a:r>
              <a:rPr sz="2925" b="1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và</a:t>
            </a:r>
            <a:r>
              <a:rPr sz="2925" b="1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kiểm</a:t>
            </a:r>
            <a:r>
              <a:rPr sz="2925" b="1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chứn</a:t>
            </a:r>
            <a:r>
              <a:rPr lang="en-US" sz="2925" b="1" dirty="0" err="1">
                <a:solidFill>
                  <a:srgbClr val="1F1F1F"/>
                </a:solidFill>
                <a:latin typeface="Arial"/>
                <a:ea typeface="Arial"/>
                <a:cs typeface="Arial"/>
              </a:rPr>
              <a:t>g</a:t>
            </a:r>
            <a:endParaRPr sz="2925" b="1" dirty="0">
              <a:solidFill>
                <a:srgbClr val="1F1F1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26" name="Table 125">
            <a:extLst>
              <a:ext uri="{FF2B5EF4-FFF2-40B4-BE49-F238E27FC236}">
                <a16:creationId xmlns:a16="http://schemas.microsoft.com/office/drawing/2014/main" id="{7B8DFB3F-6B41-4E68-A55A-5913F855D7D1}"/>
              </a:ext>
            </a:extLst>
          </p:cNvPr>
          <p:cNvGraphicFramePr/>
          <p:nvPr/>
        </p:nvGraphicFramePr>
        <p:xfrm>
          <a:off x="552450" y="1762125"/>
          <a:ext cx="11049000" cy="2714624"/>
        </p:xfrm>
        <a:graphic>
          <a:graphicData uri="http://schemas.openxmlformats.org/drawingml/2006/table">
            <a:tbl>
              <a:tblPr/>
              <a:tblGrid>
                <a:gridCol w="428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8656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Đầu ra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Thực hiện / chịu trách nhiệm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Review chéo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SRS, Gap Matrix, RTM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Đức Trí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Phúc Bình, Tuấn Tài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pPr algn="l"/>
                      <a:r>
                        <a:rPr sz="1725" b="0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C4, API, ERD, DDL, CI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Phúc Bình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Đức Trí, Tuấn Tài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pPr algn="l"/>
                      <a:r>
                        <a:rPr sz="1725" b="0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Class, Sequence, UI, Test Plan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Tuấn Tài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 dirty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Phúc Bình, Đức Trí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04314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>
            <a:extLst>
              <a:ext uri="{FF2B5EF4-FFF2-40B4-BE49-F238E27FC236}">
                <a16:creationId xmlns:a16="http://schemas.microsoft.com/office/drawing/2014/main" id="{72304E2B-32BB-4DBB-91B9-EFCDEA121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 b="1">
                <a:latin typeface="Arial"/>
                <a:ea typeface="Arial"/>
                <a:cs typeface="Arial"/>
              </a:rPr>
              <a:t>5. Kiến trúc, API &amp; kế hoạch</a:t>
            </a:r>
            <a:endParaRPr/>
          </a:p>
        </p:txBody>
      </p:sp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0FF92017-E7CD-47D2-B12A-9A710B6A6C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50</a:t>
            </a:r>
            <a:endParaRPr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F850C25-3190-42B2-97B1-BFC79F61AD9B}"/>
              </a:ext>
            </a:extLst>
          </p:cNvPr>
          <p:cNvSpPr>
            <a:spLocks noGrp="1"/>
          </p:cNvSpPr>
          <p:nvPr/>
        </p:nvSpPr>
        <p:spPr>
          <a:xfrm>
            <a:off x="552450" y="904875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925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Kiểm thử và chuyển giao</a:t>
            </a:r>
          </a:p>
        </p:txBody>
      </p:sp>
      <p:graphicFrame>
        <p:nvGraphicFramePr>
          <p:cNvPr id="126" name="Table 125">
            <a:extLst>
              <a:ext uri="{FF2B5EF4-FFF2-40B4-BE49-F238E27FC236}">
                <a16:creationId xmlns:a16="http://schemas.microsoft.com/office/drawing/2014/main" id="{8BE045CB-7BF3-4B7E-B43C-9AD230A88CB7}"/>
              </a:ext>
            </a:extLst>
          </p:cNvPr>
          <p:cNvGraphicFramePr/>
          <p:nvPr/>
        </p:nvGraphicFramePr>
        <p:xfrm>
          <a:off x="552450" y="1762125"/>
          <a:ext cx="11049000" cy="3166110"/>
        </p:xfrm>
        <a:graphic>
          <a:graphicData uri="http://schemas.openxmlformats.org/drawingml/2006/table">
            <a:tbl>
              <a:tblPr/>
              <a:tblGrid>
                <a:gridCol w="40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Hồ sơ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Nội dung bắt buộc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Test Plan / Test Report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Từ Gherkin và RTM; luồng chuẩn/ngoại lệ; Pass, Fail, Not run, Blocked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Coverage và NFR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Công cụ, môi trường, phạm vi đo và log; chưa đo thì chưa công bố đạt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Deployment Guide / User Manual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Cài đặt, cấu hình, DB/seed, chạy, sao lưu và thao tác nghiệp vụ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Review / Retrospective</a:t>
                      </a:r>
                    </a:p>
                  </a:txBody>
                  <a:tcPr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Phản hồi, quyết định nghiệm thu; cải tiến có người và hạn xử lý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96585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5">
            <a:extLst>
              <a:ext uri="{FF2B5EF4-FFF2-40B4-BE49-F238E27FC236}">
                <a16:creationId xmlns:a16="http://schemas.microsoft.com/office/drawing/2014/main" id="{1611D722-0C74-42D3-A257-E2AD90F68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11514600" cy="4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sz="2000">
                <a:latin typeface="Arial"/>
                <a:ea typeface="Arial"/>
                <a:cs typeface="Arial"/>
              </a:rPr>
              <a:t>6. Tài liệu tham khảo</a:t>
            </a:r>
            <a:endParaRPr/>
          </a:p>
        </p:txBody>
      </p:sp>
      <p:sp>
        <p:nvSpPr>
          <p:cNvPr id="639" name="Google Shape;639;p45">
            <a:extLst>
              <a:ext uri="{FF2B5EF4-FFF2-40B4-BE49-F238E27FC236}">
                <a16:creationId xmlns:a16="http://schemas.microsoft.com/office/drawing/2014/main" id="{79FF3A8C-0805-45DB-9C1E-78EAB41BF7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51</a:t>
            </a:r>
            <a:endParaRPr/>
          </a:p>
        </p:txBody>
      </p:sp>
      <p:sp>
        <p:nvSpPr>
          <p:cNvPr id="640" name="Google Shape;640;p45">
            <a:extLst>
              <a:ext uri="{FF2B5EF4-FFF2-40B4-BE49-F238E27FC236}">
                <a16:creationId xmlns:a16="http://schemas.microsoft.com/office/drawing/2014/main" id="{6C288E0B-0E73-4A8B-ABEE-8FB24BB15796}"/>
              </a:ext>
            </a:extLst>
          </p:cNvPr>
          <p:cNvSpPr>
            <a:spLocks noGrp="1"/>
          </p:cNvSpPr>
          <p:nvPr/>
        </p:nvSpPr>
        <p:spPr>
          <a:xfrm>
            <a:off x="723900" y="977825"/>
            <a:ext cx="11194950" cy="52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defPPr algn="l">
              <a:defRPr sz="1800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>
            <a:pPr lvl="0">
              <a:spcBef>
                <a:spcPts val="100"/>
              </a:spcBef>
              <a:spcAft>
                <a:spcPts val="100"/>
              </a:spcAft>
            </a:pPr>
            <a:r>
              <a:rPr lang="en-US" sz="2000" dirty="0">
                <a:latin typeface="+mn-lt"/>
                <a:hlinkClick r:id="rId3"/>
              </a:rPr>
              <a:t>01. </a:t>
            </a:r>
            <a:r>
              <a:rPr lang="vi-VN" sz="2000" dirty="0">
                <a:latin typeface="+mn-lt"/>
                <a:hlinkClick r:id="rId3"/>
              </a:rPr>
              <a:t>Dexcom CGM Systems</a:t>
            </a:r>
            <a:endParaRPr lang="en-US" sz="2000" dirty="0">
              <a:latin typeface="+mn-lt"/>
            </a:endParaRPr>
          </a:p>
          <a:p>
            <a:pPr lvl="0">
              <a:spcBef>
                <a:spcPts val="100"/>
              </a:spcBef>
              <a:spcAft>
                <a:spcPts val="100"/>
              </a:spcAft>
            </a:pPr>
            <a:r>
              <a:rPr lang="en-US" sz="2000" dirty="0">
                <a:latin typeface="+mn-lt"/>
                <a:hlinkClick r:id="rId4"/>
              </a:rPr>
              <a:t>02. </a:t>
            </a:r>
            <a:r>
              <a:rPr lang="vi-VN" sz="2000" dirty="0">
                <a:latin typeface="+mn-lt"/>
                <a:hlinkClick r:id="rId4"/>
              </a:rPr>
              <a:t>Máy đo đường huyết Freestyle Libre Abbott</a:t>
            </a:r>
            <a:endParaRPr lang="en-US" sz="2000" dirty="0">
              <a:latin typeface="+mn-lt"/>
            </a:endParaRPr>
          </a:p>
          <a:p>
            <a:pPr lvl="0">
              <a:spcBef>
                <a:spcPts val="100"/>
              </a:spcBef>
              <a:spcAft>
                <a:spcPts val="100"/>
              </a:spcAft>
            </a:pPr>
            <a:r>
              <a:rPr lang="en-US" sz="2000" dirty="0">
                <a:latin typeface="+mn-lt"/>
                <a:hlinkClick r:id="rId5"/>
              </a:rPr>
              <a:t>03. </a:t>
            </a:r>
            <a:r>
              <a:rPr lang="vi-VN" sz="2000" dirty="0">
                <a:latin typeface="+mn-lt"/>
                <a:hlinkClick r:id="rId5"/>
              </a:rPr>
              <a:t>Tiểu đường tuýp 2 có nên chích insulin không? - Bác sĩ Chuyên khoa 1 - Nguyễn Thu Hà</a:t>
            </a:r>
            <a:endParaRPr lang="en-US" sz="2000" dirty="0">
              <a:latin typeface="+mn-lt"/>
            </a:endParaRPr>
          </a:p>
          <a:p>
            <a:pPr lvl="0">
              <a:spcBef>
                <a:spcPts val="100"/>
              </a:spcBef>
              <a:spcAft>
                <a:spcPts val="100"/>
              </a:spcAft>
            </a:pPr>
            <a:r>
              <a:rPr lang="en-US" sz="2000" dirty="0">
                <a:latin typeface="+mn-lt"/>
                <a:hlinkClick r:id="rId6"/>
              </a:rPr>
              <a:t>04. </a:t>
            </a:r>
            <a:r>
              <a:rPr lang="vi-VN" sz="2000" dirty="0">
                <a:latin typeface="+mn-lt"/>
                <a:hlinkClick r:id="rId6"/>
              </a:rPr>
              <a:t>Bệnh tiểu đường type 2: Nguyên nhân, biến chứng và phòng bệnh - Bệnh viện Vinmec</a:t>
            </a:r>
            <a:endParaRPr lang="en-US" sz="2000" dirty="0">
              <a:latin typeface="+mn-lt"/>
            </a:endParaRPr>
          </a:p>
          <a:p>
            <a:pPr lvl="0">
              <a:spcBef>
                <a:spcPts val="100"/>
              </a:spcBef>
              <a:spcAft>
                <a:spcPts val="100"/>
              </a:spcAft>
            </a:pPr>
            <a:r>
              <a:rPr lang="en-US" sz="2000" dirty="0">
                <a:latin typeface="+mn-lt"/>
                <a:hlinkClick r:id="rId7"/>
              </a:rPr>
              <a:t>05. </a:t>
            </a:r>
            <a:r>
              <a:rPr lang="vi-VN" sz="2000" dirty="0">
                <a:latin typeface="+mn-lt"/>
                <a:hlinkClick r:id="rId7"/>
              </a:rPr>
              <a:t>HƯỚNG DẪN CHẨN ĐOÁN VÀ ĐIỀU TRỊ ĐÁI THÁO ĐƯỜNG TÍP 2 - BỘ Y TẾ</a:t>
            </a:r>
            <a:endParaRPr lang="en-US" sz="2000" dirty="0">
              <a:latin typeface="+mn-lt"/>
            </a:endParaRPr>
          </a:p>
          <a:p>
            <a:pPr lvl="0">
              <a:spcBef>
                <a:spcPts val="100"/>
              </a:spcBef>
              <a:spcAft>
                <a:spcPts val="100"/>
              </a:spcAft>
            </a:pPr>
            <a:r>
              <a:rPr lang="en-US" sz="2000" dirty="0">
                <a:latin typeface="+mn-lt"/>
                <a:hlinkClick r:id="rId8"/>
              </a:rPr>
              <a:t>06. </a:t>
            </a:r>
            <a:r>
              <a:rPr lang="vi-VN" sz="2000" dirty="0">
                <a:latin typeface="+mn-lt"/>
                <a:hlinkClick r:id="rId8"/>
              </a:rPr>
              <a:t>Bệnh viện Hữu Nghị chính thức triển khai bệnh án điện tử</a:t>
            </a:r>
            <a:endParaRPr lang="en-US" sz="2000" dirty="0">
              <a:latin typeface="+mn-lt"/>
            </a:endParaRPr>
          </a:p>
          <a:p>
            <a:pPr lvl="0">
              <a:spcBef>
                <a:spcPts val="100"/>
              </a:spcBef>
              <a:spcAft>
                <a:spcPts val="100"/>
              </a:spcAft>
            </a:pPr>
            <a:r>
              <a:rPr lang="en-US" sz="2000" dirty="0">
                <a:latin typeface="+mn-lt"/>
                <a:hlinkClick r:id="rId9"/>
              </a:rPr>
              <a:t>07. </a:t>
            </a:r>
            <a:r>
              <a:rPr lang="vi-VN" sz="2000" dirty="0">
                <a:latin typeface="+mn-lt"/>
                <a:hlinkClick r:id="rId9"/>
              </a:rPr>
              <a:t>IEEE Std 830-1998. IEEE Recommended Practice for Software Requirements Specifications.</a:t>
            </a:r>
            <a:endParaRPr lang="en-US" sz="2000" dirty="0">
              <a:latin typeface="+mn-lt"/>
            </a:endParaRPr>
          </a:p>
          <a:p>
            <a:pPr lvl="0">
              <a:spcBef>
                <a:spcPts val="100"/>
              </a:spcBef>
              <a:spcAft>
                <a:spcPts val="100"/>
              </a:spcAft>
            </a:pPr>
            <a:r>
              <a:rPr lang="en-US" sz="2000" dirty="0">
                <a:latin typeface="+mn-lt"/>
                <a:hlinkClick r:id="rId10"/>
              </a:rPr>
              <a:t>08. </a:t>
            </a:r>
            <a:r>
              <a:rPr lang="vi-VN" sz="2000" dirty="0">
                <a:latin typeface="+mn-lt"/>
                <a:hlinkClick r:id="rId10"/>
              </a:rPr>
              <a:t>ISO/IEC/IEEE 29148:2018. Systems and software engineering: Life cycle processes, Requirements engineering.</a:t>
            </a:r>
            <a:endParaRPr lang="en-US" sz="2000" dirty="0">
              <a:latin typeface="+mn-lt"/>
            </a:endParaRPr>
          </a:p>
          <a:p>
            <a:pPr lvl="0">
              <a:spcBef>
                <a:spcPts val="100"/>
              </a:spcBef>
              <a:spcAft>
                <a:spcPts val="100"/>
              </a:spcAft>
            </a:pPr>
            <a:r>
              <a:rPr lang="en-US" sz="2000" dirty="0">
                <a:latin typeface="+mn-lt"/>
                <a:hlinkClick r:id="rId11"/>
              </a:rPr>
              <a:t>09. </a:t>
            </a:r>
            <a:r>
              <a:rPr lang="vi-VN" sz="2000" dirty="0">
                <a:latin typeface="+mn-lt"/>
                <a:hlinkClick r:id="rId11"/>
              </a:rPr>
              <a:t>ISO/IEC 25010. Systems and software engineering: Product quality model.</a:t>
            </a:r>
            <a:endParaRPr lang="en-US" sz="2000" dirty="0">
              <a:latin typeface="+mn-lt"/>
            </a:endParaRPr>
          </a:p>
          <a:p>
            <a:pPr lvl="0">
              <a:spcBef>
                <a:spcPts val="100"/>
              </a:spcBef>
              <a:spcAft>
                <a:spcPts val="100"/>
              </a:spcAft>
            </a:pPr>
            <a:r>
              <a:rPr lang="en-US" sz="2000" dirty="0">
                <a:latin typeface="+mn-lt"/>
                <a:hlinkClick r:id="rId12"/>
              </a:rPr>
              <a:t>10. </a:t>
            </a:r>
            <a:r>
              <a:rPr lang="vi-VN" sz="2000" dirty="0">
                <a:latin typeface="+mn-lt"/>
                <a:hlinkClick r:id="rId12"/>
              </a:rPr>
              <a:t>K. Schwaber, J. Sutherland. The Scrum Guide, 2020.</a:t>
            </a:r>
            <a:endParaRPr lang="en-US" sz="2000" dirty="0">
              <a:latin typeface="+mn-lt"/>
            </a:endParaRPr>
          </a:p>
          <a:p>
            <a:pPr lvl="0">
              <a:spcBef>
                <a:spcPts val="100"/>
              </a:spcBef>
              <a:spcAft>
                <a:spcPts val="100"/>
              </a:spcAft>
            </a:pPr>
            <a:r>
              <a:rPr lang="en-US" sz="2000" dirty="0">
                <a:latin typeface="+mn-lt"/>
                <a:hlinkClick r:id="rId13"/>
              </a:rPr>
              <a:t>11. </a:t>
            </a:r>
            <a:r>
              <a:rPr lang="vi-VN" sz="2000" dirty="0">
                <a:latin typeface="+mn-lt"/>
                <a:hlinkClick r:id="rId13"/>
              </a:rPr>
              <a:t>Bộ môn. Kỹ thuật Phần mềm Ứng dụng: Hướng dẫn đồ án môn học.</a:t>
            </a:r>
            <a:r>
              <a:rPr lang="vi-VN" sz="2000" dirty="0">
                <a:latin typeface="+mn-lt"/>
              </a:rPr>
              <a:t> 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617249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6">
            <a:extLst>
              <a:ext uri="{FF2B5EF4-FFF2-40B4-BE49-F238E27FC236}">
                <a16:creationId xmlns:a16="http://schemas.microsoft.com/office/drawing/2014/main" id="{6A8C8A7B-7076-4BE2-981A-A1287368BF1B}"/>
              </a:ext>
            </a:extLst>
          </p:cNvPr>
          <p:cNvSpPr>
            <a:spLocks noGrp="1"/>
          </p:cNvSpPr>
          <p:nvPr/>
        </p:nvSpPr>
        <p:spPr>
          <a:xfrm>
            <a:off x="5596619" y="2523609"/>
            <a:ext cx="5422456" cy="97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Lato"/>
              <a:buNone/>
            </a:pPr>
            <a:r>
              <a:rPr sz="4500" b="1" i="0" u="none" strike="noStrike" cap="none">
                <a:solidFill>
                  <a:srgbClr val="C00000"/>
                </a:solidFill>
              </a:rPr>
              <a:t>CẢM ƠN THẦY VÀ CÁC BẠN ĐÃ LẮNG NGHE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47" name="Google Shape;647;p46">
            <a:extLst>
              <a:ext uri="{FF2B5EF4-FFF2-40B4-BE49-F238E27FC236}">
                <a16:creationId xmlns:a16="http://schemas.microsoft.com/office/drawing/2014/main" id="{24F9F26D-CBB9-451D-A57D-ACB51C73499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34750" y="6486525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 algn="r"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52</a:t>
            </a:r>
            <a:endParaRPr/>
          </a:p>
        </p:txBody>
      </p:sp>
      <p:sp>
        <p:nvSpPr>
          <p:cNvPr id="648" name="Google Shape;648;p46">
            <a:extLst>
              <a:ext uri="{FF2B5EF4-FFF2-40B4-BE49-F238E27FC236}">
                <a16:creationId xmlns:a16="http://schemas.microsoft.com/office/drawing/2014/main" id="{8B32AAE2-4C27-4C66-935B-258F35269D7C}"/>
              </a:ext>
            </a:extLst>
          </p:cNvPr>
          <p:cNvSpPr>
            <a:spLocks noGrp="1"/>
          </p:cNvSpPr>
          <p:nvPr/>
        </p:nvSpPr>
        <p:spPr>
          <a:xfrm>
            <a:off x="5596619" y="5228463"/>
            <a:ext cx="60007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12400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4301</Words>
  <Application>Microsoft Office PowerPoint</Application>
  <DocSecurity>0</DocSecurity>
  <PresentationFormat>Widescreen</PresentationFormat>
  <Paragraphs>890</Paragraphs>
  <Slides>51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Lato</vt:lpstr>
      <vt:lpstr>Calibri</vt:lpstr>
      <vt:lpstr>Arial</vt:lpstr>
      <vt:lpstr>Office Theme</vt:lpstr>
      <vt:lpstr>PowerPoint Presentation</vt:lpstr>
      <vt:lpstr>MỤC LỤC</vt:lpstr>
      <vt:lpstr>1. Thành viên &amp; phân công</vt:lpstr>
      <vt:lpstr>2. Cập nhật bài toán</vt:lpstr>
      <vt:lpstr>2. Cập nhật bài toán</vt:lpstr>
      <vt:lpstr>2. Cập nhật bài toán</vt:lpstr>
      <vt:lpstr>2. Cập nhật bài toán</vt:lpstr>
      <vt:lpstr>2. Cập nhật bài toán</vt:lpstr>
      <vt:lpstr>3. User story</vt:lpstr>
      <vt:lpstr>3. User story</vt:lpstr>
      <vt:lpstr>3. User story</vt:lpstr>
      <vt:lpstr>3. User story</vt:lpstr>
      <vt:lpstr>3. User story</vt:lpstr>
      <vt:lpstr>3. User story</vt:lpstr>
      <vt:lpstr>3. User story</vt:lpstr>
      <vt:lpstr>3. User story</vt:lpstr>
      <vt:lpstr>3. User story</vt:lpstr>
      <vt:lpstr>3. User story</vt:lpstr>
      <vt:lpstr>4. Phân tích &amp; đặc tả SRS</vt:lpstr>
      <vt:lpstr>4. Phân tích &amp; đặc tả SRS</vt:lpstr>
      <vt:lpstr>4. Phân tích &amp; đặc tả SRS</vt:lpstr>
      <vt:lpstr>4. Phân tích &amp; đặc tả SRS</vt:lpstr>
      <vt:lpstr>4. Phân tích &amp; đặc tả SRS</vt:lpstr>
      <vt:lpstr>4. Phân tích &amp; đặc tả SRS</vt:lpstr>
      <vt:lpstr>4. Phân tích &amp; đặc tả SRS</vt:lpstr>
      <vt:lpstr>4. Phân tích &amp; đặc tả SRS</vt:lpstr>
      <vt:lpstr>4. Phân tích &amp; đặc tả SRS</vt:lpstr>
      <vt:lpstr>4. Phân tích &amp; đặc tả SRS</vt:lpstr>
      <vt:lpstr>4. Phân tích &amp; đặc tả SRS</vt:lpstr>
      <vt:lpstr>4. Phân tích &amp; đặc tả SRS</vt:lpstr>
      <vt:lpstr>4. Phân tích &amp; đặc tả SRS</vt:lpstr>
      <vt:lpstr>4. Phân tích &amp; đặc tả SRS</vt:lpstr>
      <vt:lpstr>4. Phân tích &amp; đặc tả SRS</vt:lpstr>
      <vt:lpstr>4. Phân tích &amp; đặc tả SRS</vt:lpstr>
      <vt:lpstr>4. Phân tích &amp; đặc tả SRS</vt:lpstr>
      <vt:lpstr>4. Phân tích &amp; đặc tả SRS</vt:lpstr>
      <vt:lpstr>4. Phân tích &amp; đặc tả SRS</vt:lpstr>
      <vt:lpstr>5. Kiến trúc, API &amp; kế hoạch</vt:lpstr>
      <vt:lpstr>5. Kiến trúc, API &amp; kế hoạch</vt:lpstr>
      <vt:lpstr>5. Kiến trúc, API &amp; kế hoạch</vt:lpstr>
      <vt:lpstr>5. Kiến trúc, API &amp; kế hoạch</vt:lpstr>
      <vt:lpstr>5. Kiến trúc, API &amp; kế hoạch</vt:lpstr>
      <vt:lpstr>5. Kiến trúc, API &amp; kế hoạch</vt:lpstr>
      <vt:lpstr>5. Kiến trúc, API &amp; kế hoạch</vt:lpstr>
      <vt:lpstr>5. Kiến trúc, API &amp; kế hoạch</vt:lpstr>
      <vt:lpstr>5. Kiến trúc, API &amp; kế hoạch</vt:lpstr>
      <vt:lpstr>5. Kiến trúc, API &amp; kế hoạch</vt:lpstr>
      <vt:lpstr>5. Kiến trúc, API &amp; kế hoạch</vt:lpstr>
      <vt:lpstr>5. Kiến trúc, API &amp; kế hoạch</vt:lpstr>
      <vt:lpstr>6. Tài liệu tham khảo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Blizzard 123</cp:lastModifiedBy>
  <cp:revision>18</cp:revision>
  <dcterms:created xsi:type="dcterms:W3CDTF">2026-10-12T16:11:11Z</dcterms:created>
  <dcterms:modified xsi:type="dcterms:W3CDTF">2026-10-20T17:39:12Z</dcterms:modified>
</cp:coreProperties>
</file>