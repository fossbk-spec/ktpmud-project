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6858000" cx="12192000"/>
  <p:notesSz cx="6858000" cy="9144000"/>
  <p:embeddedFontLst>
    <p:embeddedFont>
      <p:font typeface="Lato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0" roundtripDataSignature="AMtx7mgLJFk1Rd+imi5mB6ktp2wSY2P1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F96D23-8194-4481-A8BB-374A04B768A3}">
  <a:tblStyle styleId="{16F96D23-8194-4481-A8BB-374A04B768A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2B2021D-710C-4BFB-8419-6B682146831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customschemas.google.com/relationships/presentationmetadata" Target="meta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Lato-bold.fntdata"/><Relationship Id="rId12" Type="http://schemas.openxmlformats.org/officeDocument/2006/relationships/slide" Target="slides/slide7.xml"/><Relationship Id="rId56" Type="http://schemas.openxmlformats.org/officeDocument/2006/relationships/font" Target="fonts/Lato-regular.fntdata"/><Relationship Id="rId15" Type="http://schemas.openxmlformats.org/officeDocument/2006/relationships/slide" Target="slides/slide10.xml"/><Relationship Id="rId59" Type="http://schemas.openxmlformats.org/officeDocument/2006/relationships/font" Target="fonts/Lato-boldItalic.fntdata"/><Relationship Id="rId14" Type="http://schemas.openxmlformats.org/officeDocument/2006/relationships/slide" Target="slides/slide9.xml"/><Relationship Id="rId58" Type="http://schemas.openxmlformats.org/officeDocument/2006/relationships/font" Target="fonts/Lat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91" name="Google Shape;29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00" name="Google Shape;30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26" name="Google Shape;326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57" name="Google Shape;35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87" name="Google Shape;38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97" name="Google Shape;39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21" name="Google Shape;421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41" name="Google Shape;441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50" name="Google Shape;450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64" name="Google Shape;464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4" name="Google Shape;474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75" name="Google Shape;475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84" name="Google Shape;48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2" name="Google Shape;492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93" name="Google Shape;493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03" name="Google Shape;503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5" name="Google Shape;515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16" name="Google Shape;516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7" name="Google Shape;527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28" name="Google Shape;528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7" name="Google Shape;537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38" name="Google Shape;538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8" name="Google Shape;548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49" name="Google Shape;549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4" name="Google Shape;564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65" name="Google Shape;565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3" name="Google Shape;573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74" name="Google Shape;574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2" name="Google Shape;582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83" name="Google Shape;583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0" name="Google Shape;620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21" name="Google Shape;621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9" name="Google Shape;629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30" name="Google Shape;630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9" name="Google Shape;639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40" name="Google Shape;640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8" name="Google Shape;648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49" name="Google Shape;649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8" name="Google Shape;658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59" name="Google Shape;659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8" name="Google Shape;668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69" name="Google Shape;669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2" name="Google Shape;692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93" name="Google Shape;693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4" name="Google Shape;704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05" name="Google Shape;705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3" name="Google Shape;733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34" name="Google Shape;734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2" name="Google Shape;742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43" name="Google Shape;743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1" name="Google Shape;751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52" name="Google Shape;752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0" name="Google Shape;760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61" name="Google Shape;761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9" name="Google Shape;769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70" name="Google Shape;770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8" name="Google Shape;778;p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79" name="Google Shape;779;p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8" name="Google Shape;788;p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89" name="Google Shape;789;p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7" name="Google Shape;797;p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98" name="Google Shape;798;p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6" name="Google Shape;806;p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07" name="Google Shape;807;p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4" name="Google Shape;814;p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p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2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2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2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3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53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53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53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53"/>
          <p:cNvSpPr txBox="1"/>
          <p:nvPr>
            <p:ph idx="1" type="body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4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54"/>
          <p:cNvSpPr txBox="1"/>
          <p:nvPr>
            <p:ph idx="1" type="body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54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54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54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5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55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7"/>
          <p:cNvSpPr txBox="1"/>
          <p:nvPr>
            <p:ph type="title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1" i="0" sz="4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8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8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8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58"/>
          <p:cNvSpPr/>
          <p:nvPr>
            <p:ph idx="2" type="chart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58"/>
          <p:cNvSpPr/>
          <p:nvPr>
            <p:ph idx="3" type="pic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9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59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59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59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59"/>
          <p:cNvSpPr/>
          <p:nvPr>
            <p:ph idx="2" type="chart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59"/>
          <p:cNvSpPr/>
          <p:nvPr>
            <p:ph idx="3" type="tbl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0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60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60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60"/>
          <p:cNvSpPr txBox="1"/>
          <p:nvPr>
            <p:ph idx="1" type="body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60"/>
          <p:cNvSpPr txBox="1"/>
          <p:nvPr>
            <p:ph type="title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mparison">
  <p:cSld name="2_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1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61"/>
          <p:cNvSpPr txBox="1"/>
          <p:nvPr>
            <p:ph idx="1" type="body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61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61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61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2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62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62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62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62"/>
          <p:cNvSpPr/>
          <p:nvPr>
            <p:ph idx="2" type="chart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62"/>
          <p:cNvSpPr/>
          <p:nvPr>
            <p:ph idx="3" type="pic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3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63"/>
          <p:cNvSpPr txBox="1"/>
          <p:nvPr>
            <p:ph idx="1" type="body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63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63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63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wo Content">
  <p:cSld name="2_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64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64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64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64"/>
          <p:cNvSpPr/>
          <p:nvPr>
            <p:ph idx="2" type="chart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64"/>
          <p:cNvSpPr/>
          <p:nvPr>
            <p:ph idx="3" type="pic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1" Type="http://schemas.openxmlformats.org/officeDocument/2006/relationships/hyperlink" Target="https://cdn.standards.iteh.ai/samples/35733/2ca18b477b7845a5b8cae39d6de0c098/ISO-IEC-25010-2011.pdf" TargetMode="External"/><Relationship Id="rId10" Type="http://schemas.openxmlformats.org/officeDocument/2006/relationships/hyperlink" Target="https://ieeexplore.ieee.org/document/8559686" TargetMode="External"/><Relationship Id="rId13" Type="http://schemas.openxmlformats.org/officeDocument/2006/relationships/hyperlink" Target="https://fossbk-spec.github.io/ktpmud-book/do_an_mon_hoc" TargetMode="External"/><Relationship Id="rId12" Type="http://schemas.openxmlformats.org/officeDocument/2006/relationships/hyperlink" Target="https://scrumguides.org/docs/scrumguide/v2020/2020-Scrum-Guide-US.pdf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dexcom.com/start" TargetMode="External"/><Relationship Id="rId4" Type="http://schemas.openxmlformats.org/officeDocument/2006/relationships/hyperlink" Target="https://mypharma.vn/san-pham/freestyle-libre-abbott/" TargetMode="External"/><Relationship Id="rId9" Type="http://schemas.openxmlformats.org/officeDocument/2006/relationships/hyperlink" Target="about:blank" TargetMode="External"/><Relationship Id="rId5" Type="http://schemas.openxmlformats.org/officeDocument/2006/relationships/hyperlink" Target="https://nhathuoclongchau.com.vn/bai-viet/giai-dap-tieu-duong-tuyp-2-co-nen-chich-insulin-khong.html" TargetMode="External"/><Relationship Id="rId6" Type="http://schemas.openxmlformats.org/officeDocument/2006/relationships/hyperlink" Target="https://www.vinmec.com/vie/bai-viet/benh-tieu-duong-type-2-nguyen-nhan-bien-chung-nguy-hiem-doi-tuong-de-mac-nhat-vi" TargetMode="External"/><Relationship Id="rId7" Type="http://schemas.openxmlformats.org/officeDocument/2006/relationships/hyperlink" Target="https://drive.google.com/file/d/1UGXuGpKD5oO8bJ7gSMFNImwpiUItsAKH/view?usp=sharing" TargetMode="External"/><Relationship Id="rId8" Type="http://schemas.openxmlformats.org/officeDocument/2006/relationships/hyperlink" Target="https://benhvienhuunghi.vn/benh-vien-huu-nghi-chinh-thuc-trien-khai-benh-an-dien-tu/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476250" y="1828800"/>
            <a:ext cx="9525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Lato"/>
              <a:buNone/>
            </a:pPr>
            <a:r>
              <a:rPr b="1" i="0" lang="en-US" sz="4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BÁO CÁO TUẦN 6</a:t>
            </a:r>
            <a:endParaRPr b="0" i="0" sz="40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476250" y="4505325"/>
            <a:ext cx="8572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b="0" i="0" lang="en-US" sz="195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GVHD: TS. Hoàng Quang Huy</a:t>
            </a:r>
            <a:endParaRPr b="0" i="0" sz="2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b="0" i="0" lang="en-US" sz="195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Học phần ET3260    Mã lớp 173820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b="0" i="0" lang="en-US" sz="195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Nhóm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476250" y="2619375"/>
            <a:ext cx="9477375" cy="161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Xây dựng hệ thống hỗ trợ người chăm sóc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theo dõi điều trị ngoại trú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cho bệnh nhân đái tháo đường type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MỤC LỤC</a:t>
            </a:r>
            <a:endParaRPr/>
          </a:p>
        </p:txBody>
      </p:sp>
      <p:sp>
        <p:nvSpPr>
          <p:cNvPr id="95" name="Google Shape;95;p2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1097280" y="1417320"/>
            <a:ext cx="685800" cy="6858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2057400" y="137160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Thành viên &amp; phân công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1097280" y="2331720"/>
            <a:ext cx="685800" cy="6858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2057400" y="228600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Cập nhật bài toán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097280" y="3246120"/>
            <a:ext cx="685800" cy="6858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2057400" y="320040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User story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1097280" y="4160520"/>
            <a:ext cx="685800" cy="6858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2057400" y="411480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Phân tích &amp; đặc tả SRS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097280" y="5074920"/>
            <a:ext cx="685800" cy="6858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2057400" y="502920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Kiến trúc, API, quy trình và kế hoạch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1. Thành viên &amp; phân công</a:t>
            </a:r>
            <a:endParaRPr/>
          </a:p>
        </p:txBody>
      </p:sp>
      <p:sp>
        <p:nvSpPr>
          <p:cNvPr id="112" name="Google Shape;112;p3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Phân công nhiệm vụ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4" name="Google Shape;114;p3"/>
          <p:cNvGraphicFramePr/>
          <p:nvPr/>
        </p:nvGraphicFramePr>
        <p:xfrm>
          <a:off x="54864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{16F96D23-8194-4481-A8BB-374A04B768A3}</a:tableStyleId>
              </a:tblPr>
              <a:tblGrid>
                <a:gridCol w="3291850"/>
                <a:gridCol w="3341750"/>
                <a:gridCol w="4076200"/>
              </a:tblGrid>
              <a:tr h="86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Họ và tên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MSSV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Vai trò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Trần Nguyễn Phúc Bình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202413994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Scrum Master, Dev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Trưởng nhóm, Backend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Trần Đức Trí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202414408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Product Owner, Dev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BA, AI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Phùng Tuấn Tài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202414357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Dev, Frontend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UI/UX, QA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224" y="5541264"/>
            <a:ext cx="25603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2. Cập nhật bài toán</a:t>
            </a:r>
            <a:endParaRPr/>
          </a:p>
        </p:txBody>
      </p:sp>
      <p:sp>
        <p:nvSpPr>
          <p:cNvPr id="122" name="Google Shape;122;p4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52450" y="838200"/>
            <a:ext cx="11049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Phạm vi phiên bản 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4" name="Google Shape;124;p4"/>
          <p:cNvGraphicFramePr/>
          <p:nvPr/>
        </p:nvGraphicFramePr>
        <p:xfrm>
          <a:off x="552450" y="168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{16F96D23-8194-4481-A8BB-374A04B768A3}</a:tableStyleId>
              </a:tblPr>
              <a:tblGrid>
                <a:gridCol w="5524500"/>
                <a:gridCol w="5524500"/>
              </a:tblGrid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b="1" lang="en-US" sz="1898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Trong phạm vi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b="1" lang="en-US" sz="1898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Ngoài phạm vi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C0000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b="0" lang="en-US" sz="1898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Bệnh nhân ngoại trú ĐTĐ type 2 tại BV Hữu Nghị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b="0" lang="en-US" sz="1898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Tích hợp trực tiếp hệ thống bệnh viện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b="0" lang="en-US" sz="1898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Nhắc thuốc, xác nhận và theo dõi tuân thủ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b="0" lang="en-US" sz="1898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Tự thay đổi đơn hoặc quyết định điều trị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2. Cập nhật bài toán</a:t>
            </a:r>
            <a:endParaRPr/>
          </a:p>
        </p:txBody>
      </p:sp>
      <p:sp>
        <p:nvSpPr>
          <p:cNvPr id="131" name="Google Shape;131;p5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Bỏ OCR, giữ nguyên bài toán lõi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429000" y="1508760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75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Trước điều chỉnh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543800" y="15087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75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Phạm vi hiện tại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48640" y="192024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Nguồn đơn thuốc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429000" y="1920240"/>
            <a:ext cx="3200400" cy="731520"/>
          </a:xfrm>
          <a:prstGeom prst="roundRect">
            <a:avLst>
              <a:gd fmla="val 25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Chụp ảnh, OCR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812280" y="2121408"/>
            <a:ext cx="548640" cy="3291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543800" y="1920240"/>
            <a:ext cx="4023360" cy="731520"/>
          </a:xfrm>
          <a:prstGeom prst="roundRect">
            <a:avLst>
              <a:gd fmla="val 25000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E0E1F"/>
                </a:solidFill>
                <a:latin typeface="Arial"/>
                <a:ea typeface="Arial"/>
                <a:cs typeface="Arial"/>
                <a:sym typeface="Arial"/>
              </a:rPr>
              <a:t>Nhập có gợi ý tên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48640" y="2816352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Module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429000" y="2816352"/>
            <a:ext cx="3200400" cy="731520"/>
          </a:xfrm>
          <a:prstGeom prst="roundRect">
            <a:avLst>
              <a:gd fmla="val 25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OCR đơn thuốc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812280" y="3017520"/>
            <a:ext cx="548640" cy="3291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543800" y="2816352"/>
            <a:ext cx="4023360" cy="731520"/>
          </a:xfrm>
          <a:prstGeom prst="roundRect">
            <a:avLst>
              <a:gd fmla="val 25000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8"/>
              <a:buFont typeface="Arial"/>
              <a:buNone/>
            </a:pPr>
            <a:r>
              <a:rPr b="1" i="0" lang="en-US" sz="1898" u="none" cap="none" strike="noStrike">
                <a:solidFill>
                  <a:srgbClr val="8E0E1F"/>
                </a:solidFill>
                <a:latin typeface="Arial"/>
                <a:ea typeface="Arial"/>
                <a:cs typeface="Arial"/>
                <a:sym typeface="Arial"/>
              </a:rPr>
              <a:t>Chuẩn hóa tên (Sprint 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48640" y="371246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Phạm vi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429000" y="3712464"/>
            <a:ext cx="3200400" cy="731520"/>
          </a:xfrm>
          <a:prstGeom prst="roundRect">
            <a:avLst>
              <a:gd fmla="val 25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ĐTĐ type 2 nói chung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812280" y="3913632"/>
            <a:ext cx="548640" cy="3291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7543800" y="3712464"/>
            <a:ext cx="4023360" cy="731520"/>
          </a:xfrm>
          <a:prstGeom prst="roundRect">
            <a:avLst>
              <a:gd fmla="val 25000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E0E1F"/>
                </a:solidFill>
                <a:latin typeface="Arial"/>
                <a:ea typeface="Arial"/>
                <a:cs typeface="Arial"/>
                <a:sym typeface="Arial"/>
              </a:rPr>
              <a:t>Ngoại trú BV Hữu Nghị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48640" y="4608576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Kênh bệnh nhân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429000" y="4608576"/>
            <a:ext cx="3200400" cy="731520"/>
          </a:xfrm>
          <a:prstGeom prst="roundRect">
            <a:avLst>
              <a:gd fmla="val 25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Chưa chốt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812280" y="4809744"/>
            <a:ext cx="548640" cy="3291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7543800" y="4608576"/>
            <a:ext cx="4023360" cy="731520"/>
          </a:xfrm>
          <a:prstGeom prst="roundRect">
            <a:avLst>
              <a:gd fmla="val 25000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E0E1F"/>
                </a:solidFill>
                <a:latin typeface="Arial"/>
                <a:ea typeface="Arial"/>
                <a:cs typeface="Arial"/>
                <a:sym typeface="Arial"/>
              </a:rPr>
              <a:t>App chế độ đơn giản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2. Cập nhật bài toán</a:t>
            </a:r>
            <a:endParaRPr/>
          </a:p>
        </p:txBody>
      </p:sp>
      <p:sp>
        <p:nvSpPr>
          <p:cNvPr id="157" name="Google Shape;157;p6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Danh sách khảo sát: 3 bệnh nhân, 2 người con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48640" y="1600200"/>
            <a:ext cx="1874519" cy="1874519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48640" y="1645920"/>
            <a:ext cx="187451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48640" y="2697480"/>
            <a:ext cx="18745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bệnh nhân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2606040" y="1600200"/>
            <a:ext cx="1874519" cy="1874519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2606040" y="1645920"/>
            <a:ext cx="187451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606040" y="2697480"/>
            <a:ext cx="18745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người con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663440" y="1600200"/>
            <a:ext cx="1874519" cy="1874519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663440" y="1645920"/>
            <a:ext cx="187451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663440" y="2697480"/>
            <a:ext cx="18745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bác sĩ, dược sĩ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858000" y="16002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Điều nhóm nghe được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858000" y="214884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74320" lvl="0" marL="320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Uống thuốc dựa vào trí nhớ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32004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Hay quên liều trưa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32004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Phải đếm lại vỉ thuốc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32004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Máy để im lặng, lỡ nhắc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32004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Có người sợ làm phiền con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48640" y="3840480"/>
            <a:ext cx="6035040" cy="1600200"/>
          </a:xfrm>
          <a:prstGeom prst="roundRect">
            <a:avLst>
              <a:gd fmla="val 12000" name="adj"/>
            </a:avLst>
          </a:prstGeom>
          <a:solidFill>
            <a:srgbClr val="ECEFF3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5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Giới hạn khảo sát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5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Danh sách ghi nhận 5 người.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5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Mẫu quen biết, chưa có bác sĩ hoặc dược sĩ.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2. Cập nhật bài toán</a:t>
            </a:r>
            <a:endParaRPr/>
          </a:p>
        </p:txBody>
      </p:sp>
      <p:sp>
        <p:nvSpPr>
          <p:cNvPr id="177" name="Google Shape;177;p7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Kết quả kiểm chứng 7 giả định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48640" y="1691640"/>
            <a:ext cx="2606040" cy="1783080"/>
          </a:xfrm>
          <a:prstGeom prst="roundRect">
            <a:avLst>
              <a:gd fmla="val 12000" name="adj"/>
            </a:avLst>
          </a:prstGeom>
          <a:solidFill>
            <a:srgbClr val="E6F2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85800" y="180136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G1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85800" y="2258568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Người con lo chính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85800" y="2990088"/>
            <a:ext cx="1417320" cy="347472"/>
          </a:xfrm>
          <a:prstGeom prst="roundRect">
            <a:avLst>
              <a:gd fmla="val 25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Củng cố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355848" y="1691640"/>
            <a:ext cx="2606040" cy="1783080"/>
          </a:xfrm>
          <a:prstGeom prst="roundRect">
            <a:avLst>
              <a:gd fmla="val 12000" name="adj"/>
            </a:avLst>
          </a:prstGeom>
          <a:solidFill>
            <a:srgbClr val="E6F2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493008" y="180136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G2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493008" y="2258568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Không ai ghi chép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493008" y="2990088"/>
            <a:ext cx="1417320" cy="347472"/>
          </a:xfrm>
          <a:prstGeom prst="roundRect">
            <a:avLst>
              <a:gd fmla="val 25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Củng cố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163055" y="1691640"/>
            <a:ext cx="2606040" cy="1783080"/>
          </a:xfrm>
          <a:prstGeom prst="roundRect">
            <a:avLst>
              <a:gd fmla="val 12000" name="adj"/>
            </a:avLst>
          </a:prstGeom>
          <a:solidFill>
            <a:srgbClr val="E6F2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300216" y="180136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G3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300216" y="2258568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Bệnh nhân hay quên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300216" y="2990088"/>
            <a:ext cx="1417320" cy="347472"/>
          </a:xfrm>
          <a:prstGeom prst="roundRect">
            <a:avLst>
              <a:gd fmla="val 25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Củng cố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970263" y="1691640"/>
            <a:ext cx="2606040" cy="1783080"/>
          </a:xfrm>
          <a:prstGeom prst="roundRect">
            <a:avLst>
              <a:gd fmla="val 12000" name="adj"/>
            </a:avLst>
          </a:prstGeom>
          <a:solidFill>
            <a:srgbClr val="FFF1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9107424" y="180136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G4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9107424" y="2258568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Nghe nhắc, bấm được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9107424" y="2990088"/>
            <a:ext cx="1417320" cy="347472"/>
          </a:xfrm>
          <a:prstGeom prst="roundRect">
            <a:avLst>
              <a:gd fmla="val 25000" name="adj"/>
            </a:avLst>
          </a:prstGeom>
          <a:solidFill>
            <a:srgbClr val="B26A00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Một phần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952243" y="3703320"/>
            <a:ext cx="2606040" cy="1783080"/>
          </a:xfrm>
          <a:prstGeom prst="roundRect">
            <a:avLst>
              <a:gd fmla="val 12000" name="adj"/>
            </a:avLst>
          </a:prstGeom>
          <a:solidFill>
            <a:srgbClr val="ECEF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2089403" y="3813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G5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2089403" y="4270248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Chấp nhận bị theo dõi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2089403" y="5001768"/>
            <a:ext cx="1417320" cy="347472"/>
          </a:xfrm>
          <a:prstGeom prst="roundRect">
            <a:avLst>
              <a:gd fmla="val 25000" name="adj"/>
            </a:avLst>
          </a:prstGeom>
          <a:solidFill>
            <a:srgbClr val="5F6B7A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Chưa rõ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759452" y="3703320"/>
            <a:ext cx="2606040" cy="1783080"/>
          </a:xfrm>
          <a:prstGeom prst="roundRect">
            <a:avLst>
              <a:gd fmla="val 12000" name="adj"/>
            </a:avLst>
          </a:prstGeom>
          <a:solidFill>
            <a:srgbClr val="E4EE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896612" y="3813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5A96"/>
                </a:solidFill>
                <a:latin typeface="Arial"/>
                <a:ea typeface="Arial"/>
                <a:cs typeface="Arial"/>
                <a:sym typeface="Arial"/>
              </a:rPr>
              <a:t>G6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896612" y="4270248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Tiếp cận được đơn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896612" y="5001768"/>
            <a:ext cx="1417320" cy="347472"/>
          </a:xfrm>
          <a:prstGeom prst="roundRect">
            <a:avLst>
              <a:gd fmla="val 25000" name="adj"/>
            </a:avLst>
          </a:prstGeom>
          <a:solidFill>
            <a:srgbClr val="1F5A96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Thay đổi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7566659" y="3703320"/>
            <a:ext cx="2606040" cy="1783080"/>
          </a:xfrm>
          <a:prstGeom prst="roundRect">
            <a:avLst>
              <a:gd fmla="val 12000" name="adj"/>
            </a:avLst>
          </a:prstGeom>
          <a:solidFill>
            <a:srgbClr val="ECEF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7703819" y="3813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G7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703819" y="4270248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Bác sĩ dùng báo cáo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703819" y="5001768"/>
            <a:ext cx="1417320" cy="347472"/>
          </a:xfrm>
          <a:prstGeom prst="roundRect">
            <a:avLst>
              <a:gd fmla="val 25000" name="adj"/>
            </a:avLst>
          </a:prstGeom>
          <a:solidFill>
            <a:srgbClr val="5F6B7A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Chưa rõ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2. Cập nhật bài toán</a:t>
            </a:r>
            <a:endParaRPr/>
          </a:p>
        </p:txBody>
      </p:sp>
      <p:sp>
        <p:nvSpPr>
          <p:cNvPr id="213" name="Google Shape;213;p8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Bảy vấn đề hệ thống cần giải quyết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48640" y="164592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508760" y="164592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Không ghi nhận việc uống thuốc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48640" y="2670048"/>
            <a:ext cx="777300" cy="7773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508760" y="2670048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Quên liều, uống trùng thuốc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1508760" y="3694176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Tên biệt dược hay đổi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48640" y="4718304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508760" y="4718304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Con ở xa phải gọi hỏi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217920" y="164592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7178040" y="164592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Nhiều người nhắc trùng lịch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217920" y="2670048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178040" y="2670048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Bác sĩ thiếu số liệu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217920" y="3694176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7178040" y="3694176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Khó thao tác, ngại giám sát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548640" y="3694173"/>
            <a:ext cx="777300" cy="7773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3. User story</a:t>
            </a:r>
            <a:endParaRPr/>
          </a:p>
        </p:txBody>
      </p:sp>
      <p:sp>
        <p:nvSpPr>
          <p:cNvPr id="235" name="Google Shape;235;p9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52450" y="838200"/>
            <a:ext cx="11049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Người dùng và quyền trong hệ thống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7" name="Google Shape;237;p9"/>
          <p:cNvGraphicFramePr/>
          <p:nvPr/>
        </p:nvGraphicFramePr>
        <p:xfrm>
          <a:off x="552450" y="168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{16F96D23-8194-4481-A8BB-374A04B768A3}</a:tableStyleId>
              </a:tblPr>
              <a:tblGrid>
                <a:gridCol w="3524250"/>
                <a:gridCol w="7524750"/>
              </a:tblGrid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Vai trò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Quyền chính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C00000"/>
                    </a:solidFill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Người chăm sóc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Quản lý hồ sơ, nhập và xác nhận đơn, theo dõi, xuất báo cáo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Bệnh nhân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Nhận nhắc nhở và xác nhận đã uống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Người nhà được ủy quyền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Xác nhận hộ và nhận cảnh báo tại chỗ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Bộ lập lịch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Phát nhắc, phát hiện quá hạn, nhắc tái khám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3. User story</a:t>
            </a:r>
            <a:endParaRPr/>
          </a:p>
        </p:txBody>
      </p:sp>
      <p:sp>
        <p:nvSpPr>
          <p:cNvPr id="244" name="Google Shape;244;p10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Cấu trúc user story và tiêu chí INVEST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48640" y="1645920"/>
            <a:ext cx="3291840" cy="1234440"/>
          </a:xfrm>
          <a:prstGeom prst="roundRect">
            <a:avLst>
              <a:gd fmla="val 12000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vai trò người dùng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913632" y="2103120"/>
            <a:ext cx="365760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343400" y="1645920"/>
            <a:ext cx="3291840" cy="1234440"/>
          </a:xfrm>
          <a:prstGeom prst="roundRect">
            <a:avLst>
              <a:gd fmla="val 12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TÔI MUỐN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một hành động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7708392" y="2103120"/>
            <a:ext cx="365760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8138160" y="1645920"/>
            <a:ext cx="3291840" cy="1234440"/>
          </a:xfrm>
          <a:prstGeom prst="roundRect">
            <a:avLst>
              <a:gd fmla="val 12000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ĐỂ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đạt một lợi ích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548640" y="31546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Tiêu chí INVEST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548640" y="3703320"/>
            <a:ext cx="1691640" cy="160020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Độc lập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2423160" y="3703320"/>
            <a:ext cx="1691640" cy="160020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Thương lượng được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297679" y="3703320"/>
            <a:ext cx="1691640" cy="160020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Có giá trị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6172199" y="3703320"/>
            <a:ext cx="1691640" cy="160020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Ước lượng được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8046719" y="3703320"/>
            <a:ext cx="1691640" cy="160020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Đủ nhỏ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9921240" y="3703320"/>
            <a:ext cx="1691640" cy="160020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Kiểm thử được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52450" y="5753100"/>
            <a:ext cx="11049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3. User story</a:t>
            </a:r>
            <a:endParaRPr/>
          </a:p>
        </p:txBody>
      </p:sp>
      <p:sp>
        <p:nvSpPr>
          <p:cNvPr id="265" name="Google Shape;265;p11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17 user story cho 3 vai trò trực tiếp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548640" y="1600200"/>
            <a:ext cx="3474720" cy="338328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1783080" y="1783080"/>
            <a:ext cx="1005840" cy="10058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4364" y="2004364"/>
            <a:ext cx="563270" cy="56327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/>
          <p:nvPr/>
        </p:nvSpPr>
        <p:spPr>
          <a:xfrm>
            <a:off x="548640" y="283464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Người con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548640" y="32918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12 story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548640" y="416052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Hồ sơ, đơn, giám sát, báo cáo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297679" y="1600200"/>
            <a:ext cx="3474720" cy="338328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5532119" y="1783080"/>
            <a:ext cx="1005840" cy="10058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3404" y="2004364"/>
            <a:ext cx="563270" cy="56327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1"/>
          <p:cNvSpPr/>
          <p:nvPr/>
        </p:nvSpPr>
        <p:spPr>
          <a:xfrm>
            <a:off x="4297679" y="283464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Bệnh nhân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297679" y="32918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story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297679" y="416052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Nhắc, xác nhận một chạm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8046719" y="1600200"/>
            <a:ext cx="3474720" cy="338328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9281159" y="1783080"/>
            <a:ext cx="1005840" cy="10058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02444" y="2004364"/>
            <a:ext cx="563270" cy="56327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1"/>
          <p:cNvSpPr/>
          <p:nvPr/>
        </p:nvSpPr>
        <p:spPr>
          <a:xfrm>
            <a:off x="8046719" y="2743215"/>
            <a:ext cx="347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Người thân (được ủy quyền)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8046719" y="3421615"/>
            <a:ext cx="3474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story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8046719" y="416052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Hỗ trợ tại chỗ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5760715" y="5138918"/>
            <a:ext cx="548700" cy="548700"/>
          </a:xfrm>
          <a:prstGeom prst="ellipse">
            <a:avLst/>
          </a:prstGeom>
          <a:solidFill>
            <a:srgbClr val="5F6B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1415" y="5259618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1"/>
          <p:cNvSpPr/>
          <p:nvPr/>
        </p:nvSpPr>
        <p:spPr>
          <a:xfrm>
            <a:off x="3848100" y="5791200"/>
            <a:ext cx="6343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Bác sĩ nhận báo cáo PDF bên ngoài hệ thống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3. User story</a:t>
            </a:r>
            <a:endParaRPr/>
          </a:p>
        </p:txBody>
      </p:sp>
      <p:sp>
        <p:nvSpPr>
          <p:cNvPr id="294" name="Google Shape;294;p12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552450" y="933450"/>
            <a:ext cx="110680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5 user story bổ sung</a:t>
            </a:r>
            <a:endParaRPr/>
          </a:p>
        </p:txBody>
      </p:sp>
      <p:graphicFrame>
        <p:nvGraphicFramePr>
          <p:cNvPr id="296" name="Google Shape;296;p12"/>
          <p:cNvGraphicFramePr/>
          <p:nvPr/>
        </p:nvGraphicFramePr>
        <p:xfrm>
          <a:off x="55245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{C2B2021D-710C-4BFB-8419-6B682146831D}</a:tableStyleId>
              </a:tblPr>
              <a:tblGrid>
                <a:gridCol w="1285875"/>
                <a:gridCol w="6048375"/>
                <a:gridCol w="1571625"/>
                <a:gridCol w="2143125"/>
              </a:tblGrid>
              <a:tr h="64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Nhu cầu của người chăm sóc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Ưu tiên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US-13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Tạo hồ sơ bằng tên gọi và năm sinh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Must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US-14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Ghép thiết bị bằng mã một lần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Must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US-15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Ghi chỉ số xét nghiệm sau đợt khám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Should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FR-16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US-16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Nhắc trước ngày tái khám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Should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FR-17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US-17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Xem nhật ký ai đã thao tác trên hồ sơ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Must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FR-18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3. User story</a:t>
            </a:r>
            <a:endParaRPr/>
          </a:p>
        </p:txBody>
      </p:sp>
      <p:sp>
        <p:nvSpPr>
          <p:cNvPr id="303" name="Google Shape;303;p13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Người chăm sóc: nhập và xác nhận đơn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548640" y="14813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364" y="1606052"/>
            <a:ext cx="317479" cy="317479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3"/>
          <p:cNvSpPr/>
          <p:nvPr/>
        </p:nvSpPr>
        <p:spPr>
          <a:xfrm>
            <a:off x="1234440" y="1481328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Là </a:t>
            </a:r>
            <a:r>
              <a:rPr b="1" i="0" lang="en-US" sz="2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người con (người chăm sóc)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548640" y="2286000"/>
            <a:ext cx="11064240" cy="96012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731520" y="2537460"/>
            <a:ext cx="1234440" cy="457200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US-01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2148840" y="2359152"/>
            <a:ext cx="6949440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Tôi muốn </a:t>
            </a: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nhập đơn có gợi ý tên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Để giảm lỗi khi nhập tên thuốc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9144000" y="2377440"/>
            <a:ext cx="1325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FR-04, 05</a:t>
            </a:r>
            <a:b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P1, P3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10469880" y="2564892"/>
            <a:ext cx="1005840" cy="402336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548640" y="3383280"/>
            <a:ext cx="11064240" cy="96012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731520" y="3634740"/>
            <a:ext cx="1234440" cy="457200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US-02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2148840" y="3456432"/>
            <a:ext cx="6949440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Tôi muốn </a:t>
            </a: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duyệt đơn trước khi áp dụng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Để </a:t>
            </a:r>
            <a:r>
              <a:rPr b="0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lịch nhắc luôn đúng đơn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9144000" y="3474720"/>
            <a:ext cx="1325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FR-06, 07, 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P1, P2</a:t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10469880" y="3662172"/>
            <a:ext cx="1005840" cy="402336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548640" y="4480560"/>
            <a:ext cx="11064240" cy="96012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731520" y="4732020"/>
            <a:ext cx="1234440" cy="457200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US-07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2148840" y="4553712"/>
            <a:ext cx="69495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Tôi muốn </a:t>
            </a: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cảnh báo trùng hoạt chất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Để kiểm tra lại đơn với bác sĩ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9144000" y="4572000"/>
            <a:ext cx="1325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FR-08</a:t>
            </a:r>
            <a:b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10469880" y="4759452"/>
            <a:ext cx="1005840" cy="402336"/>
          </a:xfrm>
          <a:prstGeom prst="roundRect">
            <a:avLst>
              <a:gd fmla="val 25000" name="adj"/>
            </a:avLst>
          </a:prstGeom>
          <a:solidFill>
            <a:srgbClr val="5F6B7A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3. User story</a:t>
            </a:r>
            <a:endParaRPr/>
          </a:p>
        </p:txBody>
      </p:sp>
      <p:sp>
        <p:nvSpPr>
          <p:cNvPr id="329" name="Google Shape;329;p14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Người chăm sóc: theo dõi từ xa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548640" y="14813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364" y="1606052"/>
            <a:ext cx="317479" cy="31747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4"/>
          <p:cNvSpPr/>
          <p:nvPr/>
        </p:nvSpPr>
        <p:spPr>
          <a:xfrm>
            <a:off x="1234440" y="1481328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Là </a:t>
            </a:r>
            <a:r>
              <a:rPr b="1" i="0" lang="en-US" sz="2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người con (người chăm sóc)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548650" y="2143349"/>
            <a:ext cx="11064300" cy="965700"/>
          </a:xfrm>
          <a:prstGeom prst="roundRect">
            <a:avLst>
              <a:gd fmla="val 25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731520" y="2446020"/>
            <a:ext cx="1234440" cy="457200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US-03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2148840" y="2313432"/>
            <a:ext cx="6949440" cy="722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Tôi muốn nhận cảnh báo cữ bỏ lỡ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Để gọi nhắc người thân kịp thời</a:t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9144000" y="2331720"/>
            <a:ext cx="1325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FR-12</a:t>
            </a:r>
            <a:b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10469880" y="2473452"/>
            <a:ext cx="1005840" cy="402336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548640" y="3218688"/>
            <a:ext cx="11064240" cy="868680"/>
          </a:xfrm>
          <a:prstGeom prst="roundRect">
            <a:avLst>
              <a:gd fmla="val 25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731520" y="3424428"/>
            <a:ext cx="1234440" cy="457200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US-04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2148840" y="3291840"/>
            <a:ext cx="6949440" cy="722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8"/>
              <a:buFont typeface="Arial"/>
              <a:buNone/>
            </a:pPr>
            <a:r>
              <a:rPr b="0" i="0" lang="en-US" sz="1898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Tôi muốn xem sự tuân thủ trong 7, 30, 90 ngày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8"/>
              <a:buFont typeface="Arial"/>
              <a:buNone/>
            </a:pPr>
            <a:r>
              <a:rPr b="0" i="0" lang="en-US" sz="1898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Để giảm việc gọi hỏi hằng ngày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9144000" y="3310128"/>
            <a:ext cx="1325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FR-19</a:t>
            </a:r>
            <a:b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10469880" y="3451860"/>
            <a:ext cx="1005840" cy="402336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548640" y="4197096"/>
            <a:ext cx="11064240" cy="868680"/>
          </a:xfrm>
          <a:prstGeom prst="roundRect">
            <a:avLst>
              <a:gd fmla="val 25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731520" y="4402836"/>
            <a:ext cx="1234440" cy="457200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US-05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2148840" y="4270248"/>
            <a:ext cx="6949440" cy="722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Tôi muốn </a:t>
            </a: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xuất báo cáo PDF 30 ngày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Để bác sĩ có lịch sử ghi nhận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9144000" y="4288536"/>
            <a:ext cx="1325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FR-20</a:t>
            </a:r>
            <a:b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10469880" y="4430268"/>
            <a:ext cx="1005840" cy="402336"/>
          </a:xfrm>
          <a:prstGeom prst="roundRect">
            <a:avLst>
              <a:gd fmla="val 25000" name="adj"/>
            </a:avLst>
          </a:prstGeom>
          <a:solidFill>
            <a:srgbClr val="B26A00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Should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548640" y="5175504"/>
            <a:ext cx="11064240" cy="868680"/>
          </a:xfrm>
          <a:prstGeom prst="roundRect">
            <a:avLst>
              <a:gd fmla="val 25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731520" y="5381244"/>
            <a:ext cx="1234440" cy="457200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US-06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2148840" y="5248656"/>
            <a:ext cx="6949440" cy="722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Tôi muốn </a:t>
            </a: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ủy quyền người thân xác nhận hộ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Để </a:t>
            </a:r>
            <a:r>
              <a:rPr b="0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có người hỗ trợ tại chỗ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9144000" y="5266944"/>
            <a:ext cx="1325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FR-03</a:t>
            </a:r>
            <a:b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10469880" y="5408676"/>
            <a:ext cx="1005840" cy="402336"/>
          </a:xfrm>
          <a:prstGeom prst="roundRect">
            <a:avLst>
              <a:gd fmla="val 25000" name="adj"/>
            </a:avLst>
          </a:prstGeom>
          <a:solidFill>
            <a:srgbClr val="B26A00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Should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3. User story</a:t>
            </a:r>
            <a:endParaRPr/>
          </a:p>
        </p:txBody>
      </p:sp>
      <p:sp>
        <p:nvSpPr>
          <p:cNvPr id="360" name="Google Shape;360;p15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Bệnh nhân: chỉ cần một nút bấm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548640" y="14813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364" y="1606052"/>
            <a:ext cx="317479" cy="317479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5"/>
          <p:cNvSpPr/>
          <p:nvPr/>
        </p:nvSpPr>
        <p:spPr>
          <a:xfrm>
            <a:off x="1234440" y="1481328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Là </a:t>
            </a:r>
            <a:r>
              <a:rPr b="1" i="0" lang="en-US" sz="2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bệnh nhân cao tuổi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548640" y="2286000"/>
            <a:ext cx="7589520" cy="96012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731520" y="2542032"/>
            <a:ext cx="1234440" cy="457200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US-08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2148840" y="2359152"/>
            <a:ext cx="4663440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Tôi muốn nhận nhắc nhở, chữ lớn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Để </a:t>
            </a:r>
            <a:r>
              <a:rPr b="0" i="0" lang="en-US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không lỡ giờ uống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6858000" y="2377440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FR-10</a:t>
            </a:r>
            <a:b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548640" y="3383280"/>
            <a:ext cx="7589520" cy="96012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731520" y="3639312"/>
            <a:ext cx="1234440" cy="457200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US-09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2148840" y="3456432"/>
            <a:ext cx="4663440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Tôi muốn </a:t>
            </a:r>
            <a:r>
              <a:rPr b="1" i="0" lang="en-US" sz="2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bấm một nút "Đã uống"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Để </a:t>
            </a:r>
            <a:r>
              <a:rPr b="0" i="0" lang="en-US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xác nhận không cần đăng nhập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6858000" y="3474720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FR-11, 14,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P2, P6, P7</a:t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548640" y="4480560"/>
            <a:ext cx="7589520" cy="96012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731520" y="4736592"/>
            <a:ext cx="1234440" cy="457200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US-10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2148840" y="4553712"/>
            <a:ext cx="4663440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Tôi muốn </a:t>
            </a:r>
            <a:r>
              <a:rPr b="1" i="0" lang="en-US" sz="2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thấy giờ mình đã uống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Để </a:t>
            </a:r>
            <a:r>
              <a:rPr b="0" i="0" lang="en-US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không uống trùng liều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6858000" y="4572000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FR-11</a:t>
            </a:r>
            <a:b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8732520" y="1417320"/>
            <a:ext cx="2788920" cy="4434840"/>
          </a:xfrm>
          <a:prstGeom prst="roundRect">
            <a:avLst>
              <a:gd fmla="val 12000" name="adj"/>
            </a:avLst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8887968" y="1645920"/>
            <a:ext cx="2478024" cy="3977639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8887968" y="1737360"/>
            <a:ext cx="24780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7:00  Cữ sáng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8887968" y="2148840"/>
            <a:ext cx="247802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Thuốc theo đơn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Liều và giờ theo đơn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9098280" y="3246120"/>
            <a:ext cx="2057400" cy="1051560"/>
          </a:xfrm>
          <a:prstGeom prst="roundRect">
            <a:avLst>
              <a:gd fmla="val 12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ĐÃ UỐNG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8887968" y="4526280"/>
            <a:ext cx="24780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Cữ tối qua: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đã uống lúc 19:05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8732520" y="589788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Màn hình minh họa dự kiến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 txBox="1"/>
          <p:nvPr>
            <p:ph type="title"/>
          </p:nvPr>
        </p:nvSpPr>
        <p:spPr>
          <a:xfrm>
            <a:off x="338736" y="112543"/>
            <a:ext cx="115146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3. User story</a:t>
            </a:r>
            <a:endParaRPr/>
          </a:p>
        </p:txBody>
      </p:sp>
      <p:sp>
        <p:nvSpPr>
          <p:cNvPr id="390" name="Google Shape;390;p16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502920" y="713232"/>
            <a:ext cx="11155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Tiêu chí chấp nhận của US-09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548640" y="1508760"/>
            <a:ext cx="11064300" cy="548700"/>
          </a:xfrm>
          <a:prstGeom prst="roundRect">
            <a:avLst>
              <a:gd fmla="val 25000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US-09 </a:t>
            </a:r>
            <a:r>
              <a:rPr b="1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Tôi muốn bấm một nút "Đã uống"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3" name="Google Shape;393;p16"/>
          <p:cNvGraphicFramePr/>
          <p:nvPr/>
        </p:nvGraphicFramePr>
        <p:xfrm>
          <a:off x="55245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{C2B2021D-710C-4BFB-8419-6B682146831D}</a:tableStyleId>
              </a:tblPr>
              <a:tblGrid>
                <a:gridCol w="2095500"/>
                <a:gridCol w="2743200"/>
                <a:gridCol w="2552700"/>
                <a:gridCol w="3657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Tình huống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Thì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Bình thường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Cữ 7:00 đang chờ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Bấm "Đã uống"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Hiện "Đã uống lúc 7:04"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Bấm lại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Cữ đã xác nhận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Bấm thêm lần nữa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Hiển thị giờ đã xác nhận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Bấm muộn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Đã quá thời hạn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Bấm "Đã uống"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Ghi "Xác nhận muộn"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Mất mạng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Thiết bị đang offline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Bấm lúc 7:04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Lưu tạm, giữ giờ bấm khi gửi lại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"/>
          <p:cNvSpPr txBox="1"/>
          <p:nvPr>
            <p:ph type="title"/>
          </p:nvPr>
        </p:nvSpPr>
        <p:spPr>
          <a:xfrm>
            <a:off x="338736" y="112543"/>
            <a:ext cx="115146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3. User story</a:t>
            </a:r>
            <a:endParaRPr/>
          </a:p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502920" y="713232"/>
            <a:ext cx="11155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Người nhà: hỗ trợ và xác nhận hộ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548640" y="1481328"/>
            <a:ext cx="567000" cy="567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364" y="1606052"/>
            <a:ext cx="317479" cy="31747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7"/>
          <p:cNvSpPr/>
          <p:nvPr/>
        </p:nvSpPr>
        <p:spPr>
          <a:xfrm>
            <a:off x="1234440" y="1481328"/>
            <a:ext cx="1005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Là </a:t>
            </a:r>
            <a:r>
              <a:rPr b="1" i="0" lang="en-US" sz="2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người nhà sống cùng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548640" y="2286000"/>
            <a:ext cx="11064300" cy="96000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731520" y="2537460"/>
            <a:ext cx="1234500" cy="457200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US-11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2148840" y="2359152"/>
            <a:ext cx="69495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1725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Tôi muốn xác nhận hộ khi người thân quên bấm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1725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Để ghi nhận khi người thân đã uống nhưng chưa xác nhận</a:t>
            </a:r>
            <a:endParaRPr/>
          </a:p>
        </p:txBody>
      </p:sp>
      <p:sp>
        <p:nvSpPr>
          <p:cNvPr id="408" name="Google Shape;408;p17"/>
          <p:cNvSpPr/>
          <p:nvPr/>
        </p:nvSpPr>
        <p:spPr>
          <a:xfrm>
            <a:off x="9144000" y="2377440"/>
            <a:ext cx="1326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FR-13,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10469880" y="2564892"/>
            <a:ext cx="1005900" cy="402300"/>
          </a:xfrm>
          <a:prstGeom prst="roundRect">
            <a:avLst>
              <a:gd fmla="val 25000" name="adj"/>
            </a:avLst>
          </a:prstGeom>
          <a:solidFill>
            <a:srgbClr val="B26A00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Should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548640" y="3383280"/>
            <a:ext cx="11064300" cy="96000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731520" y="3634740"/>
            <a:ext cx="1234500" cy="457200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US-12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2148840" y="3456432"/>
            <a:ext cx="69495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Tôi muốn </a:t>
            </a: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nhận cảnh báo cữ bỏ lỡ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Để </a:t>
            </a:r>
            <a:r>
              <a:rPr b="0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nhắc người thân ngay tại nhà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9144000" y="3474720"/>
            <a:ext cx="1326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FR-12</a:t>
            </a:r>
            <a:b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10469880" y="3662172"/>
            <a:ext cx="1005900" cy="402300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548640" y="4754880"/>
            <a:ext cx="567000" cy="567000"/>
          </a:xfrm>
          <a:prstGeom prst="ellipse">
            <a:avLst/>
          </a:prstGeom>
          <a:solidFill>
            <a:srgbClr val="E6A1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364" y="4879604"/>
            <a:ext cx="317479" cy="31747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7"/>
          <p:cNvSpPr/>
          <p:nvPr/>
        </p:nvSpPr>
        <p:spPr>
          <a:xfrm>
            <a:off x="1234440" y="4754880"/>
            <a:ext cx="1005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Mọi xác nhận hộ đều ghi rõ người bấm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8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3. User story</a:t>
            </a:r>
            <a:endParaRPr/>
          </a:p>
        </p:txBody>
      </p:sp>
      <p:sp>
        <p:nvSpPr>
          <p:cNvPr id="424" name="Google Shape;424;p18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Ưu tiên của 17 user story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548640" y="1600200"/>
            <a:ext cx="3474720" cy="4206240"/>
          </a:xfrm>
          <a:prstGeom prst="roundRect">
            <a:avLst>
              <a:gd fmla="val 12000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548640" y="173736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548640" y="224028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731520" y="342900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US-01, 02, 03,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US-08, 09, 10, 12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US-13, 14, 17</a:t>
            </a:r>
            <a:endParaRPr/>
          </a:p>
        </p:txBody>
      </p:sp>
      <p:sp>
        <p:nvSpPr>
          <p:cNvPr id="430" name="Google Shape;430;p18"/>
          <p:cNvSpPr/>
          <p:nvPr/>
        </p:nvSpPr>
        <p:spPr>
          <a:xfrm>
            <a:off x="4297679" y="1600200"/>
            <a:ext cx="3474720" cy="4206240"/>
          </a:xfrm>
          <a:prstGeom prst="roundRect">
            <a:avLst>
              <a:gd fmla="val 12000" name="adj"/>
            </a:avLst>
          </a:prstGeom>
          <a:solidFill>
            <a:srgbClr val="FFF1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4297679" y="173736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Should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4297679" y="224028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4480559" y="342900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US-05, 06,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US-15, 16</a:t>
            </a: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8046719" y="1600200"/>
            <a:ext cx="3474720" cy="4206240"/>
          </a:xfrm>
          <a:prstGeom prst="roundRect">
            <a:avLst>
              <a:gd fmla="val 12000" name="adj"/>
            </a:avLst>
          </a:prstGeom>
          <a:solidFill>
            <a:srgbClr val="ECEF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8046719" y="173736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Could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8046719" y="224028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8229599" y="3429000"/>
            <a:ext cx="31089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US-07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9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444" name="Google Shape;444;p19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552450" y="838200"/>
            <a:ext cx="11049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Dữ liệu và ràng buộc nghiệp vụ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6" name="Google Shape;446;p19"/>
          <p:cNvGraphicFramePr/>
          <p:nvPr/>
        </p:nvGraphicFramePr>
        <p:xfrm>
          <a:off x="571500" y="1902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{16F96D23-8194-4481-A8BB-374A04B768A3}</a:tableStyleId>
              </a:tblPr>
              <a:tblGrid>
                <a:gridCol w="3429000"/>
                <a:gridCol w="7620000"/>
              </a:tblGrid>
              <a:tr h="73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b="1" lang="en-US" sz="1898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Nhóm dữ liệu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b="1" lang="en-US" sz="1898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Ràng buộc cần giữ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C00000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b="0" lang="en-US" sz="1898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Hồ sơ, người nhà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b="0" lang="en-US" sz="1898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Một người chăm sóc chính.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b="0" lang="en-US" sz="1898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Đơn thuốc và dòng thuốc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b="0" lang="en-US" sz="1898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Tối đa một đơn Hiệu lực. Giữ tên thuốc gốc trên đơn.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b="0" lang="en-US" sz="1898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Cữ thuốc và xác nhận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b="0" lang="en-US" sz="1898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Chỉ sinh từ đơn đã xác nhận. Ghi người và thời điểm x</a:t>
                      </a:r>
                      <a:r>
                        <a:rPr lang="en-US" sz="1898" u="none" cap="none" strike="noStrike">
                          <a:solidFill>
                            <a:srgbClr val="1F1F1F"/>
                          </a:solidFill>
                        </a:rPr>
                        <a:t>ác nhận</a:t>
                      </a:r>
                      <a:r>
                        <a:rPr b="0" lang="en-US" sz="1898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0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453" name="Google Shape;453;p20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Quy trình phân tích yêu cầu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0"/>
          <p:cNvSpPr/>
          <p:nvPr/>
        </p:nvSpPr>
        <p:spPr>
          <a:xfrm>
            <a:off x="457200" y="2011680"/>
            <a:ext cx="2606040" cy="1143000"/>
          </a:xfrm>
          <a:prstGeom prst="chevron">
            <a:avLst>
              <a:gd fmla="val 50000" name="adj"/>
            </a:avLst>
          </a:prstGeom>
          <a:solidFill>
            <a:srgbClr val="8E0E1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Vấn đề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2697480" y="2011680"/>
            <a:ext cx="2606040" cy="1143000"/>
          </a:xfrm>
          <a:prstGeom prst="chevron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Người dùng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4937760" y="2011680"/>
            <a:ext cx="2606040" cy="1143000"/>
          </a:xfrm>
          <a:prstGeom prst="chevron">
            <a:avLst>
              <a:gd fmla="val 50000" name="adj"/>
            </a:avLst>
          </a:prstGeom>
          <a:solidFill>
            <a:srgbClr val="D645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Chức năng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7178040" y="2011680"/>
            <a:ext cx="2606040" cy="1143000"/>
          </a:xfrm>
          <a:prstGeom prst="chevron">
            <a:avLst>
              <a:gd fmla="val 50000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Dữ liệu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9418320" y="2011680"/>
            <a:ext cx="2606040" cy="1143000"/>
          </a:xfrm>
          <a:prstGeom prst="chevron">
            <a:avLst>
              <a:gd fmla="val 50000" name="adj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Hành vi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548640" y="4572000"/>
            <a:ext cx="11064240" cy="822960"/>
          </a:xfrm>
          <a:prstGeom prst="roundRect">
            <a:avLst>
              <a:gd fmla="val 25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Nguyên tắc: </a:t>
            </a:r>
            <a:r>
              <a:rPr b="1" i="0" lang="en-US" sz="2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đi từ thiết yếu đến cài đặt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1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467" name="Google Shape;467;p21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8" name="Google Shape;468;p21"/>
          <p:cNvSpPr/>
          <p:nvPr/>
        </p:nvSpPr>
        <p:spPr>
          <a:xfrm>
            <a:off x="552450" y="933450"/>
            <a:ext cx="110680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Phân loại yêu cầu và mục tiêu nghiệp vụ</a:t>
            </a:r>
            <a:endParaRPr/>
          </a:p>
        </p:txBody>
      </p:sp>
      <p:graphicFrame>
        <p:nvGraphicFramePr>
          <p:cNvPr id="469" name="Google Shape;469;p21"/>
          <p:cNvGraphicFramePr/>
          <p:nvPr/>
        </p:nvGraphicFramePr>
        <p:xfrm>
          <a:off x="552450" y="176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{C2B2021D-710C-4BFB-8419-6B682146831D}</a:tableStyleId>
              </a:tblPr>
              <a:tblGrid>
                <a:gridCol w="2667000"/>
                <a:gridCol w="1524000"/>
                <a:gridCol w="6858000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Tầng yêu cầu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Số lượng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Nội dung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BIZ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Mục tiêu nghiệp vụ và cách đánh giá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Nhu cầu của ba vai trò trực tiếp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Hành vi hệ thống cần thực hiện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NFR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Chỉ tiêu chất lượng và cách kiểm chứng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70" name="Google Shape;470;p21"/>
          <p:cNvSpPr/>
          <p:nvPr/>
        </p:nvSpPr>
        <p:spPr>
          <a:xfrm>
            <a:off x="552450" y="490537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Customer: người con quyết định sử dụng và thiết lập hồ sơ</a:t>
            </a:r>
            <a:endParaRPr/>
          </a:p>
        </p:txBody>
      </p:sp>
      <p:sp>
        <p:nvSpPr>
          <p:cNvPr id="471" name="Google Shape;471;p21"/>
          <p:cNvSpPr/>
          <p:nvPr/>
        </p:nvSpPr>
        <p:spPr>
          <a:xfrm>
            <a:off x="552450" y="53340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End-user: người chăm sóc, bệnh nhân và người nhà được ủy quyền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2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478" name="Google Shape;478;p22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9" name="Google Shape;479;p22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Phân cấp chức năng: 5 nhóm, 16 chức năng con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0" name="Google Shape;48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30682"/>
            <a:ext cx="11247120" cy="3836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3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487" name="Google Shape;487;p23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" name="Google Shape;488;p23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Luồng dữ liệu mức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9" name="Google Shape;48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5297" y="1790700"/>
            <a:ext cx="8701406" cy="3871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4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496" name="Google Shape;496;p24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7" name="Google Shape;497;p24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Luồng dữ liệu mức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8" name="Google Shape;49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9590" y="1554480"/>
            <a:ext cx="8262338" cy="397763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4"/>
          <p:cNvSpPr/>
          <p:nvPr/>
        </p:nvSpPr>
        <p:spPr>
          <a:xfrm>
            <a:off x="3108960" y="5532120"/>
            <a:ext cx="5943600" cy="457200"/>
          </a:xfrm>
          <a:prstGeom prst="roundRect">
            <a:avLst>
              <a:gd fmla="val 25000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E0E1F"/>
                </a:solidFill>
                <a:latin typeface="Arial"/>
                <a:ea typeface="Arial"/>
                <a:cs typeface="Arial"/>
                <a:sym typeface="Arial"/>
              </a:rPr>
              <a:t>Đơn đã xác nhận mới đi vào luồng theo dõi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5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506" name="Google Shape;506;p25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552450" y="933450"/>
            <a:ext cx="110680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Hoạt động nhập đơn và sinh cữ thuốc</a:t>
            </a:r>
            <a:endParaRPr/>
          </a:p>
        </p:txBody>
      </p:sp>
      <p:pic>
        <p:nvPicPr>
          <p:cNvPr id="508" name="Google Shape;5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6798" y="1676400"/>
            <a:ext cx="2966751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5"/>
          <p:cNvSpPr/>
          <p:nvPr/>
        </p:nvSpPr>
        <p:spPr>
          <a:xfrm>
            <a:off x="4905375" y="1885950"/>
            <a:ext cx="6477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Người chăm sóc</a:t>
            </a:r>
            <a:endParaRPr/>
          </a:p>
        </p:txBody>
      </p:sp>
      <p:sp>
        <p:nvSpPr>
          <p:cNvPr id="510" name="Google Shape;510;p25"/>
          <p:cNvSpPr/>
          <p:nvPr/>
        </p:nvSpPr>
        <p:spPr>
          <a:xfrm>
            <a:off x="4905375" y="2428875"/>
            <a:ext cx="642937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Tra cứu đơn, nhập các dòng thuốc</a:t>
            </a:r>
            <a:endParaRPr b="0" i="0" sz="210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Xem lại, sửa hoặc hủy đơn nháp</a:t>
            </a:r>
            <a:endParaRPr b="0" i="0" sz="210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Xác nhận trước khi áp dụng</a:t>
            </a:r>
            <a:endParaRPr b="0" i="0" sz="210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4905375" y="4067175"/>
            <a:ext cx="6477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Hệ thống và Worker</a:t>
            </a:r>
            <a:endParaRPr/>
          </a:p>
        </p:txBody>
      </p:sp>
      <p:sp>
        <p:nvSpPr>
          <p:cNvPr id="512" name="Google Shape;512;p25"/>
          <p:cNvSpPr/>
          <p:nvPr/>
        </p:nvSpPr>
        <p:spPr>
          <a:xfrm>
            <a:off x="4905375" y="4610100"/>
            <a:ext cx="642937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Chuyển đơn mới sang Hiệu lực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Thay thế đơn cũ, hủy cữ tương lai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Sinh cữ tới tái khám và ghi nhật ký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6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519" name="Google Shape;519;p26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552450" y="933450"/>
            <a:ext cx="110680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Hoạt động nhắc, xác nhận và cảnh báo</a:t>
            </a:r>
            <a:endParaRPr/>
          </a:p>
        </p:txBody>
      </p:sp>
      <p:pic>
        <p:nvPicPr>
          <p:cNvPr id="521" name="Google Shape;5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450" y="1728530"/>
            <a:ext cx="7000875" cy="412484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6"/>
          <p:cNvSpPr/>
          <p:nvPr/>
        </p:nvSpPr>
        <p:spPr>
          <a:xfrm>
            <a:off x="7905750" y="1828800"/>
            <a:ext cx="34766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Các nhánh chính</a:t>
            </a:r>
            <a:endParaRPr/>
          </a:p>
        </p:txBody>
      </p:sp>
      <p:sp>
        <p:nvSpPr>
          <p:cNvPr id="523" name="Google Shape;523;p26"/>
          <p:cNvSpPr/>
          <p:nvPr/>
        </p:nvSpPr>
        <p:spPr>
          <a:xfrm>
            <a:off x="7905750" y="2428875"/>
            <a:ext cx="3476625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Xác nhận trong hạn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Xác nhận hộ có quyền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Quá hạn thì cảnh báo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Không có người nhà thì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chỉ báo người chăm sóc</a:t>
            </a:r>
            <a:endParaRPr/>
          </a:p>
        </p:txBody>
      </p:sp>
      <p:sp>
        <p:nvSpPr>
          <p:cNvPr id="524" name="Google Shape;524;p26"/>
          <p:cNvSpPr/>
          <p:nvPr/>
        </p:nvSpPr>
        <p:spPr>
          <a:xfrm>
            <a:off x="7905750" y="5000625"/>
            <a:ext cx="34766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6400"/>
                </a:solidFill>
                <a:latin typeface="Arial"/>
                <a:ea typeface="Arial"/>
                <a:cs typeface="Arial"/>
                <a:sym typeface="Arial"/>
              </a:rPr>
              <a:t>Cần chốt ngưỡng bỏ lỡ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6400"/>
                </a:solidFill>
                <a:latin typeface="Arial"/>
                <a:ea typeface="Arial"/>
                <a:cs typeface="Arial"/>
                <a:sym typeface="Arial"/>
              </a:rPr>
              <a:t>và cách tính xác nhận muộn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7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531" name="Google Shape;531;p27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" name="Google Shape;532;p27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Vòng đời cữ thuốc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3" name="Google Shape;5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972" y="1508760"/>
            <a:ext cx="4717495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27"/>
          <p:cNvSpPr/>
          <p:nvPr/>
        </p:nvSpPr>
        <p:spPr>
          <a:xfrm>
            <a:off x="6858000" y="1737360"/>
            <a:ext cx="47548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74320" lvl="0" marL="320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98"/>
              <a:buFont typeface="Arial"/>
              <a:buChar char="•"/>
            </a:pPr>
            <a:r>
              <a:rPr b="0" i="0" lang="en-US" sz="1898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Phân biệt tự xác nhận và xác nhận hộ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32004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C00000"/>
              </a:buClr>
              <a:buSzPts val="1898"/>
              <a:buFont typeface="Arial"/>
              <a:buChar char="•"/>
            </a:pPr>
            <a:r>
              <a:rPr b="0" i="0" lang="en-US" sz="1898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Quá hạn: cảnh báo người chăm sóc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32004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C00000"/>
              </a:buClr>
              <a:buSzPts val="1898"/>
              <a:buFont typeface="Arial"/>
              <a:buChar char="•"/>
            </a:pPr>
            <a:r>
              <a:rPr b="0" i="0" lang="en-US" sz="1898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Đơn mới: hủy cữ tương lai của đơn cũ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32004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C00000"/>
              </a:buClr>
              <a:buSzPts val="1898"/>
              <a:buFont typeface="Arial"/>
              <a:buChar char="•"/>
            </a:pPr>
            <a:r>
              <a:rPr b="0" i="0" lang="en-US" sz="1898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Bấm nhầm: thêm bản ghi đính chính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541" name="Google Shape;541;p28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2" name="Google Shape;542;p28"/>
          <p:cNvSpPr/>
          <p:nvPr/>
        </p:nvSpPr>
        <p:spPr>
          <a:xfrm>
            <a:off x="552450" y="857250"/>
            <a:ext cx="11049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Vòng đời đơn thuốc</a:t>
            </a:r>
            <a:endParaRPr/>
          </a:p>
        </p:txBody>
      </p:sp>
      <p:pic>
        <p:nvPicPr>
          <p:cNvPr id="543" name="Google Shape;5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2817" y="1504950"/>
            <a:ext cx="3931367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28"/>
          <p:cNvSpPr/>
          <p:nvPr/>
        </p:nvSpPr>
        <p:spPr>
          <a:xfrm>
            <a:off x="6477000" y="1790700"/>
            <a:ext cx="5048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Các trạng thái chính</a:t>
            </a:r>
            <a:endParaRPr/>
          </a:p>
        </p:txBody>
      </p:sp>
      <p:sp>
        <p:nvSpPr>
          <p:cNvPr id="545" name="Google Shape;545;p28"/>
          <p:cNvSpPr/>
          <p:nvPr/>
        </p:nvSpPr>
        <p:spPr>
          <a:xfrm>
            <a:off x="6477000" y="2400300"/>
            <a:ext cx="5000625" cy="290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Nháp: cho phép sửa dòng thuốc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Hiệu lực: sinh lịch cữ sau xác nhận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Bị thay thế: hủy các cữ tương lai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Hết hạn: qua ngày hẹn tái khám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Đã hủy: người chăm sóc hủy đơn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9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552" name="Google Shape;552;p29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3" name="Google Shape;553;p29"/>
          <p:cNvSpPr/>
          <p:nvPr/>
        </p:nvSpPr>
        <p:spPr>
          <a:xfrm>
            <a:off x="552450" y="857250"/>
            <a:ext cx="11049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Biểu đồ Use Case tổng quát</a:t>
            </a:r>
            <a:endParaRPr/>
          </a:p>
        </p:txBody>
      </p:sp>
      <p:pic>
        <p:nvPicPr>
          <p:cNvPr id="554" name="Google Shape;55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1837" y="1476375"/>
            <a:ext cx="3538077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9"/>
          <p:cNvSpPr/>
          <p:nvPr/>
        </p:nvSpPr>
        <p:spPr>
          <a:xfrm>
            <a:off x="6191250" y="1809750"/>
            <a:ext cx="5429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Các tác nhân trong hệ thống</a:t>
            </a:r>
            <a:endParaRPr/>
          </a:p>
        </p:txBody>
      </p:sp>
      <p:sp>
        <p:nvSpPr>
          <p:cNvPr id="556" name="Google Shape;556;p29"/>
          <p:cNvSpPr/>
          <p:nvPr/>
        </p:nvSpPr>
        <p:spPr>
          <a:xfrm>
            <a:off x="6191250" y="2447925"/>
            <a:ext cx="5429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Người chăm sóc</a:t>
            </a:r>
            <a:endParaRPr/>
          </a:p>
        </p:txBody>
      </p:sp>
      <p:sp>
        <p:nvSpPr>
          <p:cNvPr id="557" name="Google Shape;557;p29"/>
          <p:cNvSpPr/>
          <p:nvPr/>
        </p:nvSpPr>
        <p:spPr>
          <a:xfrm>
            <a:off x="6191250" y="2857500"/>
            <a:ext cx="54292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Quản lý hồ sơ, đơn thuốc,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theo dõi và xuất báo cáo</a:t>
            </a:r>
            <a:endParaRPr/>
          </a:p>
        </p:txBody>
      </p:sp>
      <p:sp>
        <p:nvSpPr>
          <p:cNvPr id="558" name="Google Shape;558;p29"/>
          <p:cNvSpPr/>
          <p:nvPr/>
        </p:nvSpPr>
        <p:spPr>
          <a:xfrm>
            <a:off x="6191250" y="3905250"/>
            <a:ext cx="5429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Bệnh nhân và người nhà</a:t>
            </a:r>
            <a:endParaRPr/>
          </a:p>
        </p:txBody>
      </p:sp>
      <p:sp>
        <p:nvSpPr>
          <p:cNvPr id="559" name="Google Shape;559;p29"/>
          <p:cNvSpPr/>
          <p:nvPr/>
        </p:nvSpPr>
        <p:spPr>
          <a:xfrm>
            <a:off x="6191250" y="4314825"/>
            <a:ext cx="5429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Xác nhận đã uống và xác nhận hộ</a:t>
            </a:r>
            <a:endParaRPr/>
          </a:p>
        </p:txBody>
      </p:sp>
      <p:sp>
        <p:nvSpPr>
          <p:cNvPr id="560" name="Google Shape;560;p29"/>
          <p:cNvSpPr/>
          <p:nvPr/>
        </p:nvSpPr>
        <p:spPr>
          <a:xfrm>
            <a:off x="6191250" y="5029200"/>
            <a:ext cx="5429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Bộ lập lịch</a:t>
            </a:r>
            <a:endParaRPr/>
          </a:p>
        </p:txBody>
      </p:sp>
      <p:sp>
        <p:nvSpPr>
          <p:cNvPr id="561" name="Google Shape;561;p29"/>
          <p:cNvSpPr/>
          <p:nvPr/>
        </p:nvSpPr>
        <p:spPr>
          <a:xfrm>
            <a:off x="6191250" y="5438775"/>
            <a:ext cx="5429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Phát nhắc, phát hiện bỏ lỡ, nhắc tái khám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0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568" name="Google Shape;568;p30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9" name="Google Shape;569;p30"/>
          <p:cNvSpPr/>
          <p:nvPr/>
        </p:nvSpPr>
        <p:spPr>
          <a:xfrm>
            <a:off x="552450" y="857250"/>
            <a:ext cx="11049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Danh sách use case: UC-01 đến UC-06</a:t>
            </a:r>
            <a:endParaRPr/>
          </a:p>
        </p:txBody>
      </p:sp>
      <p:graphicFrame>
        <p:nvGraphicFramePr>
          <p:cNvPr id="570" name="Google Shape;570;p30"/>
          <p:cNvGraphicFramePr/>
          <p:nvPr/>
        </p:nvGraphicFramePr>
        <p:xfrm>
          <a:off x="55245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{C2B2021D-710C-4BFB-8419-6B682146831D}</a:tableStyleId>
              </a:tblPr>
              <a:tblGrid>
                <a:gridCol w="1095375"/>
                <a:gridCol w="4381500"/>
                <a:gridCol w="2714625"/>
                <a:gridCol w="2857500"/>
              </a:tblGrid>
              <a:tr h="59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Mã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Tên use case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Tác nhân chính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Đăng ký, đăng nhập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Người chăm sóc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Tạo hồ sơ bệnh nhân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Người chăm sóc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Ghép nối thiết bị bệnh nhân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Người chăm sóc, Bệnh nhân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UC-04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Ủy quyền người nhà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Người chăm sóc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UC-05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Nhập đơn thuốc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Người chăm sóc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FR-04, FR-05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UC-06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Xác nhận đơn thuốc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Người chăm sóc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FR-06, FR-07, FR-08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1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577" name="Google Shape;577;p31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8" name="Google Shape;578;p31"/>
          <p:cNvSpPr/>
          <p:nvPr/>
        </p:nvSpPr>
        <p:spPr>
          <a:xfrm>
            <a:off x="552450" y="857250"/>
            <a:ext cx="11049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Danh sách use case: UC-07 đến UC-13</a:t>
            </a:r>
            <a:endParaRPr/>
          </a:p>
        </p:txBody>
      </p:sp>
      <p:graphicFrame>
        <p:nvGraphicFramePr>
          <p:cNvPr id="579" name="Google Shape;579;p31"/>
          <p:cNvGraphicFramePr/>
          <p:nvPr/>
        </p:nvGraphicFramePr>
        <p:xfrm>
          <a:off x="55245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{C2B2021D-710C-4BFB-8419-6B682146831D}</a:tableStyleId>
              </a:tblPr>
              <a:tblGrid>
                <a:gridCol w="1095375"/>
                <a:gridCol w="4381500"/>
                <a:gridCol w="2714625"/>
                <a:gridCol w="2857500"/>
              </a:tblGrid>
              <a:tr h="52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Mã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Tên use case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Tác nhân chính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UC-07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Xác nhận đã uống thuốc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Bệnh nhân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FR-11, FR-13,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FR-14, FR-15</a:t>
                      </a:r>
                      <a:endParaRPr b="0" sz="18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UC-08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Xác nhận hộ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Người nhà sống cùng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FR-13, FR-15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UC-09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Theo dõi tổng quan tuân thủ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Người chăm sóc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FR-19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UC-10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Phát nhắc và phát hiện cữ bỏ lỡ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Bộ lập lịch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FR-09, FR-10, FR-12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UC-11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Ghi nhận chỉ số xét nghiệm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Người chăm sóc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FR-16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UC-12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Nhắc lịch tái khám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Bộ lập lịch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FR-17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UC-13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Xuất báo cáo PDF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Người chăm sóc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FR-20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2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586" name="Google Shape;586;p32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7" name="Google Shape;587;p32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SRS v1.0 và ví dụ truy vết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2"/>
          <p:cNvSpPr/>
          <p:nvPr/>
        </p:nvSpPr>
        <p:spPr>
          <a:xfrm>
            <a:off x="548640" y="1600200"/>
            <a:ext cx="2606040" cy="173736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2"/>
          <p:cNvSpPr/>
          <p:nvPr/>
        </p:nvSpPr>
        <p:spPr>
          <a:xfrm>
            <a:off x="548640" y="169164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2"/>
          <p:cNvSpPr/>
          <p:nvPr/>
        </p:nvSpPr>
        <p:spPr>
          <a:xfrm>
            <a:off x="640080" y="260604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use 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2"/>
          <p:cNvSpPr/>
          <p:nvPr/>
        </p:nvSpPr>
        <p:spPr>
          <a:xfrm>
            <a:off x="3383280" y="1600200"/>
            <a:ext cx="2606040" cy="173736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2"/>
          <p:cNvSpPr/>
          <p:nvPr/>
        </p:nvSpPr>
        <p:spPr>
          <a:xfrm>
            <a:off x="3383280" y="169164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2"/>
          <p:cNvSpPr/>
          <p:nvPr/>
        </p:nvSpPr>
        <p:spPr>
          <a:xfrm>
            <a:off x="3474720" y="260604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yêu cầu chức năng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2"/>
          <p:cNvSpPr/>
          <p:nvPr/>
        </p:nvSpPr>
        <p:spPr>
          <a:xfrm>
            <a:off x="6217920" y="1600200"/>
            <a:ext cx="2606040" cy="173736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2"/>
          <p:cNvSpPr/>
          <p:nvPr/>
        </p:nvSpPr>
        <p:spPr>
          <a:xfrm>
            <a:off x="6217920" y="169164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2"/>
          <p:cNvSpPr/>
          <p:nvPr/>
        </p:nvSpPr>
        <p:spPr>
          <a:xfrm>
            <a:off x="6309359" y="260604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yêu cầu phi chức năng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2"/>
          <p:cNvSpPr/>
          <p:nvPr/>
        </p:nvSpPr>
        <p:spPr>
          <a:xfrm>
            <a:off x="9052560" y="1600200"/>
            <a:ext cx="2606040" cy="173736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2"/>
          <p:cNvSpPr/>
          <p:nvPr/>
        </p:nvSpPr>
        <p:spPr>
          <a:xfrm>
            <a:off x="9052560" y="169164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2"/>
          <p:cNvSpPr/>
          <p:nvPr/>
        </p:nvSpPr>
        <p:spPr>
          <a:xfrm>
            <a:off x="9144000" y="260604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ràng buộc nghiệp vụ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2"/>
          <p:cNvSpPr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Ma trận truy vết (RTM)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2"/>
          <p:cNvSpPr/>
          <p:nvPr/>
        </p:nvSpPr>
        <p:spPr>
          <a:xfrm>
            <a:off x="548640" y="4251960"/>
            <a:ext cx="1188720" cy="777240"/>
          </a:xfrm>
          <a:prstGeom prst="roundRect">
            <a:avLst>
              <a:gd fmla="val 25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2"/>
          <p:cNvSpPr/>
          <p:nvPr/>
        </p:nvSpPr>
        <p:spPr>
          <a:xfrm>
            <a:off x="548640" y="507492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Vấn đề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2"/>
          <p:cNvSpPr/>
          <p:nvPr/>
        </p:nvSpPr>
        <p:spPr>
          <a:xfrm>
            <a:off x="1764792" y="4507992"/>
            <a:ext cx="16459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2"/>
          <p:cNvSpPr/>
          <p:nvPr/>
        </p:nvSpPr>
        <p:spPr>
          <a:xfrm>
            <a:off x="1956815" y="4251960"/>
            <a:ext cx="1371600" cy="777240"/>
          </a:xfrm>
          <a:prstGeom prst="roundRect">
            <a:avLst>
              <a:gd fmla="val 25000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E0E1F"/>
                </a:solidFill>
                <a:latin typeface="Arial"/>
                <a:ea typeface="Arial"/>
                <a:cs typeface="Arial"/>
                <a:sym typeface="Arial"/>
              </a:rPr>
              <a:t>US-01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2"/>
          <p:cNvSpPr/>
          <p:nvPr/>
        </p:nvSpPr>
        <p:spPr>
          <a:xfrm>
            <a:off x="1956815" y="50749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User story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2"/>
          <p:cNvSpPr/>
          <p:nvPr/>
        </p:nvSpPr>
        <p:spPr>
          <a:xfrm>
            <a:off x="3355847" y="4507992"/>
            <a:ext cx="16459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2"/>
          <p:cNvSpPr/>
          <p:nvPr/>
        </p:nvSpPr>
        <p:spPr>
          <a:xfrm>
            <a:off x="3547872" y="4251960"/>
            <a:ext cx="1371600" cy="777240"/>
          </a:xfrm>
          <a:prstGeom prst="roundRect">
            <a:avLst>
              <a:gd fmla="val 25000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E0E1F"/>
                </a:solidFill>
                <a:latin typeface="Arial"/>
                <a:ea typeface="Arial"/>
                <a:cs typeface="Arial"/>
                <a:sym typeface="Arial"/>
              </a:rPr>
              <a:t>FR-04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2"/>
          <p:cNvSpPr/>
          <p:nvPr/>
        </p:nvSpPr>
        <p:spPr>
          <a:xfrm>
            <a:off x="3547872" y="50749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Yêu cầu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2"/>
          <p:cNvSpPr/>
          <p:nvPr/>
        </p:nvSpPr>
        <p:spPr>
          <a:xfrm>
            <a:off x="4946904" y="4507992"/>
            <a:ext cx="16459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2"/>
          <p:cNvSpPr/>
          <p:nvPr/>
        </p:nvSpPr>
        <p:spPr>
          <a:xfrm>
            <a:off x="5138928" y="4251960"/>
            <a:ext cx="1371600" cy="777240"/>
          </a:xfrm>
          <a:prstGeom prst="roundRect">
            <a:avLst>
              <a:gd fmla="val 25000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E0E1F"/>
                </a:solidFill>
                <a:latin typeface="Arial"/>
                <a:ea typeface="Arial"/>
                <a:cs typeface="Arial"/>
                <a:sym typeface="Arial"/>
              </a:rPr>
              <a:t>UC-05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2"/>
          <p:cNvSpPr/>
          <p:nvPr/>
        </p:nvSpPr>
        <p:spPr>
          <a:xfrm>
            <a:off x="5138928" y="50749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Use 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2"/>
          <p:cNvSpPr/>
          <p:nvPr/>
        </p:nvSpPr>
        <p:spPr>
          <a:xfrm>
            <a:off x="6537960" y="4507992"/>
            <a:ext cx="16459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2"/>
          <p:cNvSpPr/>
          <p:nvPr/>
        </p:nvSpPr>
        <p:spPr>
          <a:xfrm>
            <a:off x="6729984" y="4251960"/>
            <a:ext cx="2651760" cy="777240"/>
          </a:xfrm>
          <a:prstGeom prst="roundRect">
            <a:avLst>
              <a:gd fmla="val 25000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2"/>
              <a:buFont typeface="Arial"/>
              <a:buNone/>
            </a:pPr>
            <a:r>
              <a:rPr b="1" i="0" lang="en-US" sz="1402" u="none" cap="none" strike="noStrike">
                <a:solidFill>
                  <a:srgbClr val="8E0E1F"/>
                </a:solidFill>
                <a:latin typeface="Arial"/>
                <a:ea typeface="Arial"/>
                <a:cs typeface="Arial"/>
                <a:sym typeface="Arial"/>
              </a:rPr>
              <a:t>POST /patients/{id}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2"/>
              <a:buFont typeface="Arial"/>
              <a:buNone/>
            </a:pPr>
            <a:r>
              <a:rPr b="1" i="0" lang="en-US" sz="1402" u="none" cap="none" strike="noStrike">
                <a:solidFill>
                  <a:srgbClr val="8E0E1F"/>
                </a:solidFill>
                <a:latin typeface="Arial"/>
                <a:ea typeface="Arial"/>
                <a:cs typeface="Arial"/>
                <a:sym typeface="Arial"/>
              </a:rPr>
              <a:t>/prescriptions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2"/>
          <p:cNvSpPr/>
          <p:nvPr/>
        </p:nvSpPr>
        <p:spPr>
          <a:xfrm>
            <a:off x="6729984" y="50749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2"/>
          <p:cNvSpPr/>
          <p:nvPr/>
        </p:nvSpPr>
        <p:spPr>
          <a:xfrm>
            <a:off x="9409176" y="4507992"/>
            <a:ext cx="16459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2"/>
          <p:cNvSpPr/>
          <p:nvPr/>
        </p:nvSpPr>
        <p:spPr>
          <a:xfrm>
            <a:off x="9601200" y="4251960"/>
            <a:ext cx="2103120" cy="777240"/>
          </a:xfrm>
          <a:prstGeom prst="roundRect">
            <a:avLst>
              <a:gd fmla="val 25000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E0E1F"/>
                </a:solidFill>
                <a:latin typeface="Arial"/>
                <a:ea typeface="Arial"/>
                <a:cs typeface="Arial"/>
                <a:sym typeface="Arial"/>
              </a:rPr>
              <a:t>prescriptions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2"/>
          <p:cNvSpPr/>
          <p:nvPr/>
        </p:nvSpPr>
        <p:spPr>
          <a:xfrm>
            <a:off x="9601200" y="5074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Bảng dự kiến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3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624" name="Google Shape;624;p33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5" name="Google Shape;625;p33"/>
          <p:cNvSpPr/>
          <p:nvPr/>
        </p:nvSpPr>
        <p:spPr>
          <a:xfrm>
            <a:off x="552450" y="933450"/>
            <a:ext cx="110680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Truy vết từ mục tiêu tới kịch bản nghiệm thu</a:t>
            </a:r>
            <a:endParaRPr/>
          </a:p>
        </p:txBody>
      </p:sp>
      <p:graphicFrame>
        <p:nvGraphicFramePr>
          <p:cNvPr id="626" name="Google Shape;626;p33"/>
          <p:cNvGraphicFramePr/>
          <p:nvPr/>
        </p:nvGraphicFramePr>
        <p:xfrm>
          <a:off x="552450" y="17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{C2B2021D-710C-4BFB-8419-6B682146831D}</a:tableStyleId>
              </a:tblPr>
              <a:tblGrid>
                <a:gridCol w="2857500"/>
                <a:gridCol w="8191500"/>
              </a:tblGrid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Mắt xích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Ví dụ luồng xác nhận đã uống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Mục tiêu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BIZ-04 giảm thao tác cho bệnh nhân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Story và FR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US-09, FR-11, FR-14, FR-15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case và module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UC-07, Backend Tuân thủ, Mobile App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và dữ liệu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 /doses/{doseId}/confirmations, dose_confirmations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Kịch bản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TC-20 bình thường, TC-21 lặp, TC-22 muộn, TC-23 offline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4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633" name="Google Shape;633;p34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4" name="Google Shape;634;p34"/>
          <p:cNvSpPr/>
          <p:nvPr/>
        </p:nvSpPr>
        <p:spPr>
          <a:xfrm>
            <a:off x="552450" y="838200"/>
            <a:ext cx="11049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Yêu cầu phi chức năng có cách kiểm chứng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5" name="Google Shape;635;p34"/>
          <p:cNvGraphicFramePr/>
          <p:nvPr/>
        </p:nvGraphicFramePr>
        <p:xfrm>
          <a:off x="552450" y="168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{16F96D23-8194-4481-A8BB-374A04B768A3}</a:tableStyleId>
              </a:tblPr>
              <a:tblGrid>
                <a:gridCol w="2190750"/>
                <a:gridCol w="6000750"/>
                <a:gridCol w="2857500"/>
              </a:tblGrid>
              <a:tr h="6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Yêu cầu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Mục tiêu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Kiểm chứng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C00000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Khả dụng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thao tác, chữ ≥ 20sp, vùng chạm ≥ 48dp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Thử với người dùng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Hiệu năng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Gửi nhắc trong 60 giây từ mốc giờ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Đo độ trễ Worker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Hiệu năng API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p95 &lt; 500ms với 100 người đồng thời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Kiểm thử tải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Bảo mật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HTTPS, token thiết bị thu hồi được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Rà soát và kiểm thử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6" name="Google Shape;636;p34"/>
          <p:cNvSpPr/>
          <p:nvPr/>
        </p:nvSpPr>
        <p:spPr>
          <a:xfrm>
            <a:off x="552450" y="5287825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=&gt; Đây là mục tiêu của SRS. Nhóm sẽ kiểm chứng trong quá trình triển khai.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5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4. Phân tích &amp; đặc tả SRS</a:t>
            </a:r>
            <a:endParaRPr/>
          </a:p>
        </p:txBody>
      </p:sp>
      <p:sp>
        <p:nvSpPr>
          <p:cNvPr id="643" name="Google Shape;643;p35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4" name="Google Shape;644;p35"/>
          <p:cNvSpPr/>
          <p:nvPr/>
        </p:nvSpPr>
        <p:spPr>
          <a:xfrm>
            <a:off x="552450" y="933450"/>
            <a:ext cx="110680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Các chỉ tiêu chất lượng bổ sung</a:t>
            </a:r>
            <a:endParaRPr/>
          </a:p>
        </p:txBody>
      </p:sp>
      <p:graphicFrame>
        <p:nvGraphicFramePr>
          <p:cNvPr id="645" name="Google Shape;645;p35"/>
          <p:cNvGraphicFramePr/>
          <p:nvPr/>
        </p:nvGraphicFramePr>
        <p:xfrm>
          <a:off x="55245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{C2B2021D-710C-4BFB-8419-6B682146831D}</a:tableStyleId>
              </a:tblPr>
              <a:tblGrid>
                <a:gridCol w="1571625"/>
                <a:gridCol w="5905500"/>
                <a:gridCol w="3571875"/>
              </a:tblGrid>
              <a:tr h="88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NFR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Mục tiêu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Kiểm chứng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88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NFR-10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Mã hóa token thiết bị và push token bằng AES-256 khi lưu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Rà soát schema, kiểm thử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8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NFR-11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Rule Engine xử lý một sự kiện cữ thuốc dưới 100 ms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Benchmark trong CI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88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NFR-08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Độ phủ unit test Rule Engine tối thiểu 80%, CI kiểm tra lint, schema và OpenAPI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Báo cáo coverage, CI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6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5. Kiến trúc, API &amp; kế hoạch</a:t>
            </a:r>
            <a:endParaRPr/>
          </a:p>
        </p:txBody>
      </p:sp>
      <p:sp>
        <p:nvSpPr>
          <p:cNvPr id="652" name="Google Shape;652;p36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3" name="Google Shape;653;p36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C1: không tích hợp hệ thống bệnh viện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4" name="Google Shape;65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00" y="1514475"/>
            <a:ext cx="7905750" cy="4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36"/>
          <p:cNvSpPr/>
          <p:nvPr/>
        </p:nvSpPr>
        <p:spPr>
          <a:xfrm>
            <a:off x="552450" y="57721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7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5. Kiến trúc, API &amp; kế hoạch</a:t>
            </a:r>
            <a:endParaRPr/>
          </a:p>
        </p:txBody>
      </p:sp>
      <p:sp>
        <p:nvSpPr>
          <p:cNvPr id="662" name="Google Shape;662;p37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3" name="Google Shape;663;p37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C2: một backend, một worker riêng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4" name="Google Shape;66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227" y="1463040"/>
            <a:ext cx="3790505" cy="457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5" name="Google Shape;665;p37"/>
          <p:cNvGraphicFramePr/>
          <p:nvPr/>
        </p:nvGraphicFramePr>
        <p:xfrm>
          <a:off x="5067300" y="164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{16F96D23-8194-4481-A8BB-374A04B768A3}</a:tableStyleId>
              </a:tblPr>
              <a:tblGrid>
                <a:gridCol w="2266950"/>
                <a:gridCol w="4286250"/>
              </a:tblGrid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1" lang="en-US" sz="1702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Container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1" lang="en-US" sz="1702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Trách nhiệm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C00000"/>
                    </a:solidFill>
                  </a:tcPr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 / Mobile App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Trang tổng quan / nhắc và xác nhận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Gateway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Định tuyến, token, TLS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 API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Nghiệp vụ và Rule Engine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Worker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Sinh cữ thu</a:t>
                      </a:r>
                      <a:r>
                        <a:rPr lang="en-US" sz="1702" u="none" cap="none" strike="noStrike">
                          <a:solidFill>
                            <a:srgbClr val="1F1F1F"/>
                          </a:solidFill>
                        </a:rPr>
                        <a:t>ốc</a:t>
                      </a: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phát nhắc thu</a:t>
                      </a:r>
                      <a:r>
                        <a:rPr lang="en-US" sz="1702" u="none" cap="none" strike="noStrike">
                          <a:solidFill>
                            <a:srgbClr val="1F1F1F"/>
                          </a:solidFill>
                        </a:rPr>
                        <a:t>ốc</a:t>
                      </a: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dựng PDF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Service (Sprint 3)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Chuẩn hóa tên thuốc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PostgreSQL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Dữ liệu nghiệp vụ và nhật ký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Redis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Phiên, danh mục, số liệu tổng hợp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FFFFF"/>
                    </a:solidFill>
                  </a:tcPr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RabbitMQ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b="0" lang="en-US" sz="1702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Hàng đợi Backend và Worker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8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5. Kiến trúc, API &amp; kế hoạch</a:t>
            </a:r>
            <a:endParaRPr/>
          </a:p>
        </p:txBody>
      </p:sp>
      <p:sp>
        <p:nvSpPr>
          <p:cNvPr id="672" name="Google Shape;672;p38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3" name="Google Shape;673;p38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Đặc tả OpenAPI 3.0.3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8"/>
          <p:cNvSpPr/>
          <p:nvPr/>
        </p:nvSpPr>
        <p:spPr>
          <a:xfrm>
            <a:off x="548640" y="1600200"/>
            <a:ext cx="3474720" cy="160020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8"/>
          <p:cNvSpPr/>
          <p:nvPr/>
        </p:nvSpPr>
        <p:spPr>
          <a:xfrm>
            <a:off x="548640" y="164592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8"/>
          <p:cNvSpPr/>
          <p:nvPr/>
        </p:nvSpPr>
        <p:spPr>
          <a:xfrm>
            <a:off x="548640" y="26060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đường dẫn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8"/>
          <p:cNvSpPr/>
          <p:nvPr/>
        </p:nvSpPr>
        <p:spPr>
          <a:xfrm>
            <a:off x="4297679" y="1600200"/>
            <a:ext cx="3474720" cy="160020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38"/>
          <p:cNvSpPr/>
          <p:nvPr/>
        </p:nvSpPr>
        <p:spPr>
          <a:xfrm>
            <a:off x="4297679" y="164592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8"/>
          <p:cNvSpPr/>
          <p:nvPr/>
        </p:nvSpPr>
        <p:spPr>
          <a:xfrm>
            <a:off x="4297679" y="26060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nhóm tài nguyên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38"/>
          <p:cNvSpPr/>
          <p:nvPr/>
        </p:nvSpPr>
        <p:spPr>
          <a:xfrm>
            <a:off x="8046719" y="1600200"/>
            <a:ext cx="3474720" cy="160020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8"/>
          <p:cNvSpPr/>
          <p:nvPr/>
        </p:nvSpPr>
        <p:spPr>
          <a:xfrm>
            <a:off x="8046719" y="164592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8"/>
          <p:cNvSpPr/>
          <p:nvPr/>
        </p:nvSpPr>
        <p:spPr>
          <a:xfrm>
            <a:off x="8046719" y="26060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cơ chế xác thực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8"/>
          <p:cNvSpPr/>
          <p:nvPr/>
        </p:nvSpPr>
        <p:spPr>
          <a:xfrm>
            <a:off x="548640" y="361188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4" name="Google Shape;68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574" y="3772814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38"/>
          <p:cNvSpPr/>
          <p:nvPr/>
        </p:nvSpPr>
        <p:spPr>
          <a:xfrm>
            <a:off x="1463040" y="361188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caregiverAuth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JWT, Web App người con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8"/>
          <p:cNvSpPr/>
          <p:nvPr/>
        </p:nvSpPr>
        <p:spPr>
          <a:xfrm>
            <a:off x="6217920" y="361188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7" name="Google Shape;68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8854" y="3772814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38"/>
          <p:cNvSpPr/>
          <p:nvPr/>
        </p:nvSpPr>
        <p:spPr>
          <a:xfrm>
            <a:off x="7132320" y="361188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deviceAuth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Token thiết bị, không mật khẩu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8"/>
          <p:cNvSpPr/>
          <p:nvPr/>
        </p:nvSpPr>
        <p:spPr>
          <a:xfrm>
            <a:off x="548640" y="4810125"/>
            <a:ext cx="11064240" cy="714375"/>
          </a:xfrm>
          <a:prstGeom prst="roundRect">
            <a:avLst>
              <a:gd fmla="val 25000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8"/>
              <a:buFont typeface="Arial"/>
              <a:buNone/>
            </a:pPr>
            <a:r>
              <a:rPr b="1" i="0" lang="en-US" sz="1800" u="none" cap="none" strike="noStrike">
                <a:solidFill>
                  <a:srgbClr val="8E0E1F"/>
                </a:solidFill>
                <a:latin typeface="Arial"/>
                <a:ea typeface="Arial"/>
                <a:cs typeface="Arial"/>
                <a:sym typeface="Arial"/>
              </a:rPr>
              <a:t>Tiền tố /api/v1. Xác nhận đơn và dựng PDF xử lý bất đồng bộ.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9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5. Kiến trúc, API &amp; kế hoạch</a:t>
            </a:r>
            <a:endParaRPr/>
          </a:p>
        </p:txBody>
      </p:sp>
      <p:sp>
        <p:nvSpPr>
          <p:cNvPr id="696" name="Google Shape;696;p39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7" name="Google Shape;697;p39"/>
          <p:cNvSpPr/>
          <p:nvPr/>
        </p:nvSpPr>
        <p:spPr>
          <a:xfrm>
            <a:off x="552450" y="933450"/>
            <a:ext cx="110680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Scrum và tiêu chí đưa story vào nghiệm thu</a:t>
            </a:r>
            <a:endParaRPr/>
          </a:p>
        </p:txBody>
      </p:sp>
      <p:sp>
        <p:nvSpPr>
          <p:cNvPr id="698" name="Google Shape;698;p39"/>
          <p:cNvSpPr/>
          <p:nvPr/>
        </p:nvSpPr>
        <p:spPr>
          <a:xfrm>
            <a:off x="552450" y="1809750"/>
            <a:ext cx="52863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Definition of Ready</a:t>
            </a:r>
            <a:endParaRPr/>
          </a:p>
        </p:txBody>
      </p:sp>
      <p:sp>
        <p:nvSpPr>
          <p:cNvPr id="699" name="Google Shape;699;p39"/>
          <p:cNvSpPr/>
          <p:nvPr/>
        </p:nvSpPr>
        <p:spPr>
          <a:xfrm>
            <a:off x="552450" y="2428875"/>
            <a:ext cx="523875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Story rõ nhu cầu và lợi ích</a:t>
            </a:r>
            <a:endParaRPr b="0" i="0" sz="195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Có Gherkin chuẩn và ngoại lệ</a:t>
            </a:r>
            <a:endParaRPr b="0" i="0" sz="195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Truy vết FR, UC và BIZ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Đã ước lượng bằng story point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Phụ thuộc đã xong hoặc được lên lịch</a:t>
            </a:r>
            <a:endParaRPr b="0" i="0" sz="195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Endpoint đã có trong OpenAPI</a:t>
            </a:r>
            <a:endParaRPr b="0" i="0" sz="195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9"/>
          <p:cNvSpPr/>
          <p:nvPr/>
        </p:nvSpPr>
        <p:spPr>
          <a:xfrm>
            <a:off x="6477000" y="1809750"/>
            <a:ext cx="52863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Definition of Done</a:t>
            </a:r>
            <a:endParaRPr/>
          </a:p>
        </p:txBody>
      </p:sp>
      <p:sp>
        <p:nvSpPr>
          <p:cNvPr id="701" name="Google Shape;701;p39"/>
          <p:cNvSpPr/>
          <p:nvPr/>
        </p:nvSpPr>
        <p:spPr>
          <a:xfrm>
            <a:off x="6477000" y="2428875"/>
            <a:ext cx="523875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PR có thành viên khác review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Kịch bản và unit test đạt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CI xanh, Rule Engine coverage ≥ 80%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Nhật ký đúng và không lộ định danh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Tài liệu đồng bộ, demo chạy được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0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5. Kiến trúc, API &amp; kế hoạch</a:t>
            </a:r>
            <a:endParaRPr/>
          </a:p>
        </p:txBody>
      </p:sp>
      <p:sp>
        <p:nvSpPr>
          <p:cNvPr id="708" name="Google Shape;708;p40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9" name="Google Shape;709;p40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Lộ trình nội bộ trước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0"/>
          <p:cNvSpPr/>
          <p:nvPr/>
        </p:nvSpPr>
        <p:spPr>
          <a:xfrm>
            <a:off x="1097280" y="2788920"/>
            <a:ext cx="9966960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0"/>
          <p:cNvSpPr/>
          <p:nvPr/>
        </p:nvSpPr>
        <p:spPr>
          <a:xfrm>
            <a:off x="1207007" y="2487168"/>
            <a:ext cx="685800" cy="6858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0"/>
          <p:cNvSpPr/>
          <p:nvPr/>
        </p:nvSpPr>
        <p:spPr>
          <a:xfrm>
            <a:off x="548640" y="3383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Sprint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0"/>
          <p:cNvSpPr/>
          <p:nvPr/>
        </p:nvSpPr>
        <p:spPr>
          <a:xfrm>
            <a:off x="548640" y="37947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Tuần 2–3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0"/>
          <p:cNvSpPr/>
          <p:nvPr/>
        </p:nvSpPr>
        <p:spPr>
          <a:xfrm>
            <a:off x="594360" y="4297680"/>
            <a:ext cx="1920240" cy="100584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Đặc tả, thiết kế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0"/>
          <p:cNvSpPr/>
          <p:nvPr/>
        </p:nvSpPr>
        <p:spPr>
          <a:xfrm>
            <a:off x="3447288" y="2487168"/>
            <a:ext cx="685800" cy="6858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0"/>
          <p:cNvSpPr/>
          <p:nvPr/>
        </p:nvSpPr>
        <p:spPr>
          <a:xfrm>
            <a:off x="2788920" y="3383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Sprint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0"/>
          <p:cNvSpPr/>
          <p:nvPr/>
        </p:nvSpPr>
        <p:spPr>
          <a:xfrm>
            <a:off x="2788920" y="37947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Tuần 4–6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0"/>
          <p:cNvSpPr/>
          <p:nvPr/>
        </p:nvSpPr>
        <p:spPr>
          <a:xfrm>
            <a:off x="2834640" y="4297680"/>
            <a:ext cx="1920240" cy="1005840"/>
          </a:xfrm>
          <a:prstGeom prst="roundRect">
            <a:avLst>
              <a:gd fmla="val 12000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Chức năng lõi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0"/>
          <p:cNvSpPr/>
          <p:nvPr/>
        </p:nvSpPr>
        <p:spPr>
          <a:xfrm>
            <a:off x="5687568" y="2487168"/>
            <a:ext cx="685800" cy="6858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40"/>
          <p:cNvSpPr/>
          <p:nvPr/>
        </p:nvSpPr>
        <p:spPr>
          <a:xfrm>
            <a:off x="5029200" y="3383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Sprint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0"/>
          <p:cNvSpPr/>
          <p:nvPr/>
        </p:nvSpPr>
        <p:spPr>
          <a:xfrm>
            <a:off x="5029200" y="37947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Tuần 7–8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0"/>
          <p:cNvSpPr/>
          <p:nvPr/>
        </p:nvSpPr>
        <p:spPr>
          <a:xfrm>
            <a:off x="5074920" y="4297680"/>
            <a:ext cx="1920240" cy="100584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AI chuẩn hóa tên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Xác nhận hộ</a:t>
            </a:r>
            <a:endParaRPr/>
          </a:p>
        </p:txBody>
      </p:sp>
      <p:sp>
        <p:nvSpPr>
          <p:cNvPr id="723" name="Google Shape;723;p40"/>
          <p:cNvSpPr/>
          <p:nvPr/>
        </p:nvSpPr>
        <p:spPr>
          <a:xfrm>
            <a:off x="7927848" y="2487168"/>
            <a:ext cx="685800" cy="6858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0"/>
          <p:cNvSpPr/>
          <p:nvPr/>
        </p:nvSpPr>
        <p:spPr>
          <a:xfrm>
            <a:off x="7269480" y="3383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Sprint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0"/>
          <p:cNvSpPr/>
          <p:nvPr/>
        </p:nvSpPr>
        <p:spPr>
          <a:xfrm>
            <a:off x="7269480" y="37947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Tuần 9–10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0"/>
          <p:cNvSpPr/>
          <p:nvPr/>
        </p:nvSpPr>
        <p:spPr>
          <a:xfrm>
            <a:off x="7315200" y="4297680"/>
            <a:ext cx="1920240" cy="100584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PDF, chỉ số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Nhắc tái khám</a:t>
            </a:r>
            <a:endParaRPr/>
          </a:p>
        </p:txBody>
      </p:sp>
      <p:sp>
        <p:nvSpPr>
          <p:cNvPr id="727" name="Google Shape;727;p40"/>
          <p:cNvSpPr/>
          <p:nvPr/>
        </p:nvSpPr>
        <p:spPr>
          <a:xfrm>
            <a:off x="10168128" y="2487168"/>
            <a:ext cx="685800" cy="6858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0"/>
          <p:cNvSpPr/>
          <p:nvPr/>
        </p:nvSpPr>
        <p:spPr>
          <a:xfrm>
            <a:off x="9509760" y="3383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Sprint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0"/>
          <p:cNvSpPr/>
          <p:nvPr/>
        </p:nvSpPr>
        <p:spPr>
          <a:xfrm>
            <a:off x="9509760" y="37947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Tuần 11–12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0"/>
          <p:cNvSpPr/>
          <p:nvPr/>
        </p:nvSpPr>
        <p:spPr>
          <a:xfrm>
            <a:off x="9555480" y="4297680"/>
            <a:ext cx="1920240" cy="1005840"/>
          </a:xfrm>
          <a:prstGeom prst="roundRect">
            <a:avLst>
              <a:gd fmla="val 12000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Kiểm thử, bảo vệ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1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5. Kiến trúc, API &amp; kế hoạch</a:t>
            </a:r>
            <a:endParaRPr/>
          </a:p>
        </p:txBody>
      </p:sp>
      <p:sp>
        <p:nvSpPr>
          <p:cNvPr id="737" name="Google Shape;737;p41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b="1" i="0" sz="12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1"/>
          <p:cNvSpPr/>
          <p:nvPr/>
        </p:nvSpPr>
        <p:spPr>
          <a:xfrm>
            <a:off x="552450" y="904875"/>
            <a:ext cx="11049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Kế hoạch tuần 8–11</a:t>
            </a:r>
            <a:endParaRPr/>
          </a:p>
        </p:txBody>
      </p:sp>
      <p:graphicFrame>
        <p:nvGraphicFramePr>
          <p:cNvPr id="739" name="Google Shape;739;p41"/>
          <p:cNvGraphicFramePr/>
          <p:nvPr/>
        </p:nvGraphicFramePr>
        <p:xfrm>
          <a:off x="552450" y="176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{C2B2021D-710C-4BFB-8419-6B682146831D}</a:tableStyleId>
              </a:tblPr>
              <a:tblGrid>
                <a:gridCol w="952500"/>
                <a:gridCol w="6143625"/>
                <a:gridCol w="3952875"/>
              </a:tblGrid>
              <a:tr h="72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Tuần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Công việc trọng tâm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Đầu ra cần bàn giao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Luồng lõi, xác nhận hộ; đánh giá AI theo phạm vi đã chọn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Demo; lỗi còn mở; chốt phạm vi AI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Xuất PDF 30 ngày; đối chiếu người và thời điểm xác nhận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 mẫu; kiểm thử US-05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Chỉ số xét nghiệm, lịch tái khám; tích hợp phân hệ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Demo US-15, US-16; test tích hợp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đầu cuối: offline, gửi lặp, thu hồi quyền, thay đơn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RTM có trạng thái; lỗi ưu tiên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2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5. Kiến trúc, API &amp; kế hoạch</a:t>
            </a:r>
            <a:endParaRPr/>
          </a:p>
        </p:txBody>
      </p:sp>
      <p:sp>
        <p:nvSpPr>
          <p:cNvPr id="746" name="Google Shape;746;p42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  <a:endParaRPr b="1" i="0" sz="12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2"/>
          <p:cNvSpPr/>
          <p:nvPr/>
        </p:nvSpPr>
        <p:spPr>
          <a:xfrm>
            <a:off x="552450" y="904875"/>
            <a:ext cx="11049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Kế hoạch tuần 12–15</a:t>
            </a:r>
            <a:endParaRPr/>
          </a:p>
        </p:txBody>
      </p:sp>
      <p:graphicFrame>
        <p:nvGraphicFramePr>
          <p:cNvPr id="748" name="Google Shape;748;p42"/>
          <p:cNvGraphicFramePr/>
          <p:nvPr/>
        </p:nvGraphicFramePr>
        <p:xfrm>
          <a:off x="552450" y="176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{C2B2021D-710C-4BFB-8419-6B682146831D}</a:tableStyleId>
              </a:tblPr>
              <a:tblGrid>
                <a:gridCol w="952500"/>
                <a:gridCol w="6143625"/>
                <a:gridCol w="3952875"/>
              </a:tblGrid>
              <a:tr h="72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Tuần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Công việc trọng tâm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Đầu ra cần bàn giao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Đo coverage, tải, độ trễ, bảo mật và phục hồi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 NFR; chỉ tiêu đạt/chưa đạt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Sửa lỗi, test hồi quy; đồng bộ đặc tả và hướng dẫn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Bản ứng viên; Test Report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Thử cài đặt; tổng duyệt; chốt phiên bản và phân công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Gói bàn giao; slide; kịch bản demo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BÁO CÁO CUỐI KỲ: nộp, trình bày, demo và phản biện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Word, slide, mã; biên bản tổng kết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3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5. Kiến trúc, API &amp; kế hoạch</a:t>
            </a:r>
            <a:endParaRPr/>
          </a:p>
        </p:txBody>
      </p:sp>
      <p:sp>
        <p:nvSpPr>
          <p:cNvPr id="755" name="Google Shape;755;p43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6" name="Google Shape;756;p43"/>
          <p:cNvSpPr/>
          <p:nvPr/>
        </p:nvSpPr>
        <p:spPr>
          <a:xfrm>
            <a:off x="552450" y="933450"/>
            <a:ext cx="110680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Kế hoạch bổ sung</a:t>
            </a:r>
            <a:endParaRPr b="1" i="0" sz="300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57" name="Google Shape;757;p43"/>
          <p:cNvGraphicFramePr/>
          <p:nvPr/>
        </p:nvGraphicFramePr>
        <p:xfrm>
          <a:off x="55245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{C2B2021D-710C-4BFB-8419-6B682146831D}</a:tableStyleId>
              </a:tblPr>
              <a:tblGrid>
                <a:gridCol w="1809750"/>
                <a:gridCol w="6096000"/>
                <a:gridCol w="3143250"/>
              </a:tblGrid>
              <a:tr h="77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Phụ trách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Công việc</a:t>
                      </a:r>
                      <a:endParaRPr b="1" sz="1725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Bằng chứng bàn giao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Phúc Bình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ERD 3NF, từ điển, DDL; OpenAPI và Gateway mock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ERD, schema, spec, commit và log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Đức Trí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SRS, Gap Matrix, RTM; phân rã UC theo vai trò; chốt lịch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SRS, RTM, .feature và biên bản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Tuấn Tài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Class, 3 Sequence Diagram; UI flow và kế hoạch test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Nguồn sơ đồ, UI flow, Test Plan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Cả nhóm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RACI, review PR, CI; báo cáo test; chốt phạm vi bàn giao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Backlog, PR, CI log, Test Report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4"/>
          <p:cNvSpPr txBox="1"/>
          <p:nvPr>
            <p:ph type="title"/>
          </p:nvPr>
        </p:nvSpPr>
        <p:spPr>
          <a:xfrm>
            <a:off x="338736" y="112543"/>
            <a:ext cx="115146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5. Kiến trúc, API &amp; kế hoạch</a:t>
            </a:r>
            <a:endParaRPr/>
          </a:p>
        </p:txBody>
      </p:sp>
      <p:sp>
        <p:nvSpPr>
          <p:cNvPr id="764" name="Google Shape;764;p44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5" name="Google Shape;765;p44"/>
          <p:cNvSpPr/>
          <p:nvPr/>
        </p:nvSpPr>
        <p:spPr>
          <a:xfrm>
            <a:off x="418200" y="930350"/>
            <a:ext cx="102945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Rủi ro và biện pháp giảm thiểu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66" name="Google Shape;766;p44"/>
          <p:cNvGraphicFramePr/>
          <p:nvPr/>
        </p:nvGraphicFramePr>
        <p:xfrm>
          <a:off x="552450" y="176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{C2B2021D-710C-4BFB-8419-6B682146831D}</a:tableStyleId>
              </a:tblPr>
              <a:tblGrid>
                <a:gridCol w="3810000"/>
                <a:gridCol w="7239000"/>
              </a:tblGrid>
              <a:tr h="627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Rủi ro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Biện pháp giảm thiểu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627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 thiếu bằng chứng, AI thiếu cơ sở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Thu thập ít nhất 2 cặp đơn qua 2 đợt khám trước Sprint 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7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Ngưỡng bỏ lỡ, cách tính muộn chưa rõ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Cho phép cấu hình; hỏi bác sĩ hoặc dược sĩ trước cuối Sprint 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627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Người chăm sóc ngại nhập đơn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Gợi ý tên; cân nhắc sao chép đơn cũ và yêu cầu xác nhận lại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7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Nhắc nhở không tới thiết bị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Thử trên đúng loại điện thoại bệnh nhân dùng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627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2 quá tải với 11 story Must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Ước lượng story point, xếp US-06 trước US-12, điều chỉnh phạm vi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45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5. Kiến trúc, API &amp; kế hoạch</a:t>
            </a:r>
            <a:endParaRPr/>
          </a:p>
        </p:txBody>
      </p:sp>
      <p:sp>
        <p:nvSpPr>
          <p:cNvPr id="773" name="Google Shape;773;p45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 b="1" i="0" sz="12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5"/>
          <p:cNvSpPr/>
          <p:nvPr/>
        </p:nvSpPr>
        <p:spPr>
          <a:xfrm>
            <a:off x="552450" y="904875"/>
            <a:ext cx="11049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5"/>
              <a:buFont typeface="Arial"/>
              <a:buNone/>
            </a:pPr>
            <a:r>
              <a:rPr b="1" i="0" lang="en-US" sz="29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UML và dữ liệu cần bàn giao</a:t>
            </a:r>
            <a:endParaRPr/>
          </a:p>
        </p:txBody>
      </p:sp>
      <p:graphicFrame>
        <p:nvGraphicFramePr>
          <p:cNvPr id="775" name="Google Shape;775;p45"/>
          <p:cNvGraphicFramePr/>
          <p:nvPr/>
        </p:nvGraphicFramePr>
        <p:xfrm>
          <a:off x="552450" y="176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{C2B2021D-710C-4BFB-8419-6B682146831D}</a:tableStyleId>
              </a:tblPr>
              <a:tblGrid>
                <a:gridCol w="2667000"/>
                <a:gridCol w="8382000"/>
              </a:tblGrid>
              <a:tr h="5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Đầu ra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Tiêu chí cụ thể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 Diagram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Thuộc tính, kiểu, phương thức, bội số và quan hệ nghiệp vụ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Sequence 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Xác nhận/thay đơn: giao dịch, hủy cữ cũ, sinh cữ mới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Sequence 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Xác nhận đã uống: offline gửi lại, bấm lặp, muộn, xác nhận hộ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Sequence 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Nhắc và quá hạn: retry, tránh gửi trùng, quyền người nhà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ERD và DDL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Giải thích 3NF; PK/FK, CHECK, index; tạo DB sạch có log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6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5. Kiến trúc, API &amp; kế hoạch</a:t>
            </a:r>
            <a:endParaRPr/>
          </a:p>
        </p:txBody>
      </p:sp>
      <p:sp>
        <p:nvSpPr>
          <p:cNvPr id="782" name="Google Shape;782;p46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b="1" i="0" sz="12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6"/>
          <p:cNvSpPr/>
          <p:nvPr/>
        </p:nvSpPr>
        <p:spPr>
          <a:xfrm>
            <a:off x="552450" y="904875"/>
            <a:ext cx="11049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5"/>
              <a:buFont typeface="Arial"/>
              <a:buNone/>
            </a:pPr>
            <a:r>
              <a:rPr b="1" i="0" lang="en-US" sz="29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Tệp bàn giao và bằng chứng nghiệm thu</a:t>
            </a:r>
            <a:endParaRPr/>
          </a:p>
        </p:txBody>
      </p:sp>
      <p:graphicFrame>
        <p:nvGraphicFramePr>
          <p:cNvPr id="784" name="Google Shape;784;p46"/>
          <p:cNvGraphicFramePr/>
          <p:nvPr/>
        </p:nvGraphicFramePr>
        <p:xfrm>
          <a:off x="552450" y="176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{C2B2021D-710C-4BFB-8419-6B682146831D}</a:tableStyleId>
              </a:tblPr>
              <a:tblGrid>
                <a:gridCol w="5429250"/>
                <a:gridCol w="5619750"/>
              </a:tblGrid>
              <a:tr h="6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Tệp hoặc thư mục đề xuất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Bằng chứng cần có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docs/SRS_v1.0.md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Đồng bộ FR/NFR, UC và phạm vi sản phẩm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docs/architecture/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Ảnh + nguồn chỉnh sửa C4, DFD và UML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database/schema.sql hoặc migrations/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ERD, từ điển, seed giả lập; log tạo DB sạch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docs/api/openapi.yaml + Gateway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Validate, Swagger UI; routing mock/stub chạy được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RTM, tests và CI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Truy vết 100% yêu cầu đã chọn; trạng thái test; log/commit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85" name="Google Shape;785;p46"/>
          <p:cNvSpPr/>
          <p:nvPr/>
        </p:nvSpPr>
        <p:spPr>
          <a:xfrm>
            <a:off x="552450" y="5572125"/>
            <a:ext cx="11049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7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5. Kiến trúc, API &amp; kế hoạch</a:t>
            </a:r>
            <a:endParaRPr/>
          </a:p>
        </p:txBody>
      </p:sp>
      <p:sp>
        <p:nvSpPr>
          <p:cNvPr id="792" name="Google Shape;792;p47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 b="1" i="0" sz="12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7"/>
          <p:cNvSpPr/>
          <p:nvPr/>
        </p:nvSpPr>
        <p:spPr>
          <a:xfrm>
            <a:off x="552450" y="904875"/>
            <a:ext cx="11049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5"/>
              <a:buFont typeface="Arial"/>
              <a:buNone/>
            </a:pPr>
            <a:r>
              <a:rPr b="1" i="0" lang="en-US" sz="29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Phân công và kiểm chứn</a:t>
            </a:r>
            <a:endParaRPr b="1" i="0" sz="2925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94" name="Google Shape;794;p47"/>
          <p:cNvGraphicFramePr/>
          <p:nvPr/>
        </p:nvGraphicFramePr>
        <p:xfrm>
          <a:off x="552450" y="176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{C2B2021D-710C-4BFB-8419-6B682146831D}</a:tableStyleId>
              </a:tblPr>
              <a:tblGrid>
                <a:gridCol w="4286250"/>
                <a:gridCol w="4191000"/>
                <a:gridCol w="2571750"/>
              </a:tblGrid>
              <a:tr h="67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Đầu ra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Thực hiện / chịu trách nhiệm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Review chéo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SRS, Gap Matrix, RTM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Đức Trí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Phúc Bình, Tuấn Tài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C4, API, ERD, DDL, CI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Phúc Bình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Đức Trí, Tuấn Tài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Class, Sequence, UI, Test Plan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Tuấn Tài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Phúc Bình, Đức Trí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8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5. Kiến trúc, API &amp; kế hoạch</a:t>
            </a:r>
            <a:endParaRPr/>
          </a:p>
        </p:txBody>
      </p:sp>
      <p:sp>
        <p:nvSpPr>
          <p:cNvPr id="801" name="Google Shape;801;p48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 b="1" i="0" sz="12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48"/>
          <p:cNvSpPr/>
          <p:nvPr/>
        </p:nvSpPr>
        <p:spPr>
          <a:xfrm>
            <a:off x="552450" y="904875"/>
            <a:ext cx="11049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5"/>
              <a:buFont typeface="Arial"/>
              <a:buNone/>
            </a:pPr>
            <a:r>
              <a:rPr b="1" i="0" lang="en-US" sz="2925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Kiểm thử và chuyển giao</a:t>
            </a:r>
            <a:endParaRPr/>
          </a:p>
        </p:txBody>
      </p:sp>
      <p:graphicFrame>
        <p:nvGraphicFramePr>
          <p:cNvPr id="803" name="Google Shape;803;p48"/>
          <p:cNvGraphicFramePr/>
          <p:nvPr/>
        </p:nvGraphicFramePr>
        <p:xfrm>
          <a:off x="552450" y="176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{C2B2021D-710C-4BFB-8419-6B682146831D}</a:tableStyleId>
              </a:tblPr>
              <a:tblGrid>
                <a:gridCol w="4095750"/>
                <a:gridCol w="695325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Hồ sơ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Nội dung bắt buộc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Plan / Test Report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Từ Gherkin và RTM; luồng chuẩn/ngoại lệ; Pass, Fail, Not run, Blocked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Coverage và NFR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Công cụ, môi trường, phạm vi đo và log; chưa đo thì chưa công bố đạt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Deployment Guide / User Manual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Cài đặt, cấu hình, DB/seed, chạy, sao lưu và thao tác nghiệp vụ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Review / Retrospective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Phản hồi, quyết định nghiệm thu; cải tiến có người và hạn xử lý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9"/>
          <p:cNvSpPr txBox="1"/>
          <p:nvPr>
            <p:ph type="title"/>
          </p:nvPr>
        </p:nvSpPr>
        <p:spPr>
          <a:xfrm>
            <a:off x="338736" y="112543"/>
            <a:ext cx="115146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6. Tài liệu tham khảo</a:t>
            </a:r>
            <a:endParaRPr/>
          </a:p>
        </p:txBody>
      </p:sp>
      <p:sp>
        <p:nvSpPr>
          <p:cNvPr id="810" name="Google Shape;810;p49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1" name="Google Shape;811;p49"/>
          <p:cNvSpPr/>
          <p:nvPr/>
        </p:nvSpPr>
        <p:spPr>
          <a:xfrm>
            <a:off x="723900" y="977825"/>
            <a:ext cx="11194950" cy="52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01. Dexcom CGM Systems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02. Máy đo đường huyết Freestyle Libre Abbott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03. Tiểu đường tuýp 2 có nên chích insulin không? - Bác sĩ Chuyên khoa 1 - Nguyễn Thu Hà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04. Bệnh tiểu đường type 2: Nguyên nhân, biến chứng và phòng bệnh - Bệnh viện Vinmec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05. HƯỚNG DẪN CHẨN ĐOÁN VÀ ĐIỀU TRỊ ĐÁI THÁO ĐƯỜNG TÍP 2 - BỘ Y TẾ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06. Bệnh viện Hữu Nghị chính thức triển khai bệnh án điện tử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07. IEEE Std 830-1998. IEEE Recommended Practice for Software Requirements Specifications.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08. ISO/IEC/IEEE 29148:2018. Systems and software engineering: Life cycle processes, Requirements engineering.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09. ISO/IEC 25010. Systems and software engineering: Product quality model.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 K. Schwaber, J. Sutherland. The Scrum Guide, 2020.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11. Bộ môn. Kỹ thuật Phần mềm Ứng dụng: Hướng dẫn đồ án môn học.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0"/>
          <p:cNvSpPr/>
          <p:nvPr/>
        </p:nvSpPr>
        <p:spPr>
          <a:xfrm>
            <a:off x="5596619" y="2523609"/>
            <a:ext cx="5422456" cy="971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Lato"/>
              <a:buNone/>
            </a:pPr>
            <a:r>
              <a:rPr b="1" i="0" lang="en-US" sz="45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CẢM ƠN THẦY VÀ CÁC BẠN ĐÃ LẮNG NGHE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50"/>
          <p:cNvSpPr txBox="1"/>
          <p:nvPr>
            <p:ph idx="12" type="sldNum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b="1" i="0" sz="12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9" name="Google Shape;819;p50"/>
          <p:cNvSpPr/>
          <p:nvPr/>
        </p:nvSpPr>
        <p:spPr>
          <a:xfrm>
            <a:off x="5596619" y="5228463"/>
            <a:ext cx="6000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2026-10-12T16:11:11Z</dcterms:created>
  <dc:creator>Walnut Exporter</dc:creator>
</cp:coreProperties>
</file>