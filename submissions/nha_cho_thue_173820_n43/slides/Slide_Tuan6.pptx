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6858000" cx="12192000"/>
  <p:notesSz cx="6858000" cy="9144000"/>
  <p:embeddedFontLst>
    <p:embeddedFont>
      <p:font typeface="Lato"/>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8" roundtripDataSignature="AMtx7miI1q+lsEV2imBZ9EItnYOET6E/q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73378FC-5060-42B1-B4D6-F3DC4F2D5391}">
  <a:tblStyle styleId="{A73378FC-5060-42B1-B4D6-F3DC4F2D539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font" Target="fonts/Lato-regular.fntdata"/><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46" Type="http://schemas.openxmlformats.org/officeDocument/2006/relationships/font" Target="fonts/Lato-italic.fntdata"/><Relationship Id="rId23" Type="http://schemas.openxmlformats.org/officeDocument/2006/relationships/slide" Target="slides/slide18.xml"/><Relationship Id="rId45" Type="http://schemas.openxmlformats.org/officeDocument/2006/relationships/font" Target="fonts/Lato-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48" Type="http://customschemas.google.com/relationships/presentationmetadata" Target="metadata"/><Relationship Id="rId25" Type="http://schemas.openxmlformats.org/officeDocument/2006/relationships/slide" Target="slides/slide20.xml"/><Relationship Id="rId47" Type="http://schemas.openxmlformats.org/officeDocument/2006/relationships/font" Target="fonts/Lato-boldItalic.fnt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 name="Google Shape;7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 name="Google Shape;8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 name="Google Shape;8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 name="Google Shape;9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 name="Google Shape;10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 name="Google Shape;11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 name="Google Shape;12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 name="Google Shape;12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7" name="Google Shape;13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0" name="Google Shape;17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7" name="Google Shape;17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4" name="Google Shape;18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8" name="Google Shape;19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4" name="Google Shape;25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8" name="Google Shape;26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8" name="Google Shape;298;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3" name="Google Shape;313;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0" name="Google Shape;320;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7" name="Google Shape;327;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4" name="Google Shape;334;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 name="Google Shape;34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0" name="Google Shape;370;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 name="Google Shape;377;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 name="Google Shape;391;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8" name="Google Shape;398;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p42"/>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1200" u="none" cap="none" strike="noStrike">
                <a:solidFill>
                  <a:srgbClr val="C00000"/>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42"/>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1200" u="none" cap="none" strike="noStrike">
                <a:solidFill>
                  <a:srgbClr val="C00000"/>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42"/>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43"/>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200" u="none" cap="none" strike="noStrike">
                <a:solidFill>
                  <a:srgbClr val="C00000"/>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 name="Google Shape;17;p43"/>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1200" u="none" cap="none" strike="noStrike">
                <a:solidFill>
                  <a:srgbClr val="C00000"/>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 name="Google Shape;18;p43"/>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19" name="Google Shape;19;p43"/>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 name="Google Shape;20;p43"/>
          <p:cNvSpPr txBox="1"/>
          <p:nvPr>
            <p:ph idx="1" type="body"/>
          </p:nvPr>
        </p:nvSpPr>
        <p:spPr>
          <a:xfrm>
            <a:off x="338736" y="1058844"/>
            <a:ext cx="11514528" cy="4909124"/>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bg>
      <p:bgPr>
        <a:blipFill>
          <a:blip r:embed="rId2">
            <a:alphaModFix/>
          </a:blip>
          <a:stretch>
            <a:fillRect/>
          </a:stretch>
        </a:blipFill>
      </p:bgPr>
    </p:bg>
    <p:spTree>
      <p:nvGrpSpPr>
        <p:cNvPr id="21" name="Shape 21"/>
        <p:cNvGrpSpPr/>
        <p:nvPr/>
      </p:nvGrpSpPr>
      <p:grpSpPr>
        <a:xfrm>
          <a:off x="0" y="0"/>
          <a:ext cx="0" cy="0"/>
          <a:chOff x="0" y="0"/>
          <a:chExt cx="0" cy="0"/>
        </a:xfrm>
      </p:grpSpPr>
      <p:sp>
        <p:nvSpPr>
          <p:cNvPr id="22" name="Google Shape;22;p44"/>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3" name="Google Shape;23;p44"/>
          <p:cNvSpPr txBox="1"/>
          <p:nvPr>
            <p:ph idx="1" type="body"/>
          </p:nvPr>
        </p:nvSpPr>
        <p:spPr>
          <a:xfrm>
            <a:off x="337539" y="1032510"/>
            <a:ext cx="11515725" cy="493871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 name="Google Shape;24;p44"/>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200" u="none" cap="none" strike="noStrike">
                <a:solidFill>
                  <a:srgbClr val="C00000"/>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5" name="Google Shape;25;p44"/>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1200" u="none" cap="none" strike="noStrike">
                <a:solidFill>
                  <a:srgbClr val="C00000"/>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6" name="Google Shape;26;p44"/>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mparison">
  <p:cSld name="2_Comparison">
    <p:bg>
      <p:bgPr>
        <a:blipFill>
          <a:blip r:embed="rId2">
            <a:alphaModFix/>
          </a:blip>
          <a:stretch>
            <a:fillRect/>
          </a:stretch>
        </a:blipFill>
      </p:bgPr>
    </p:bg>
    <p:spTree>
      <p:nvGrpSpPr>
        <p:cNvPr id="27" name="Shape 27"/>
        <p:cNvGrpSpPr/>
        <p:nvPr/>
      </p:nvGrpSpPr>
      <p:grpSpPr>
        <a:xfrm>
          <a:off x="0" y="0"/>
          <a:ext cx="0" cy="0"/>
          <a:chOff x="0" y="0"/>
          <a:chExt cx="0" cy="0"/>
        </a:xfrm>
      </p:grpSpPr>
      <p:sp>
        <p:nvSpPr>
          <p:cNvPr id="28" name="Google Shape;28;p45"/>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 name="Google Shape;29;p45"/>
          <p:cNvSpPr txBox="1"/>
          <p:nvPr>
            <p:ph idx="1" type="body"/>
          </p:nvPr>
        </p:nvSpPr>
        <p:spPr>
          <a:xfrm>
            <a:off x="337539" y="1032510"/>
            <a:ext cx="11515725" cy="493871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 name="Google Shape;30;p45"/>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200" u="none" cap="none" strike="noStrike">
                <a:solidFill>
                  <a:srgbClr val="C00000"/>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1" name="Google Shape;31;p45"/>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1200" u="none" cap="none" strike="noStrike">
                <a:solidFill>
                  <a:srgbClr val="C00000"/>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2" name="Google Shape;32;p45"/>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bg>
      <p:bgPr>
        <a:blipFill>
          <a:blip r:embed="rId2">
            <a:alphaModFix/>
          </a:blip>
          <a:stretch>
            <a:fillRect/>
          </a:stretch>
        </a:blipFill>
      </p:bgPr>
    </p:bg>
    <p:spTree>
      <p:nvGrpSpPr>
        <p:cNvPr id="33" name="Shape 33"/>
        <p:cNvGrpSpPr/>
        <p:nvPr/>
      </p:nvGrpSpPr>
      <p:grpSpPr>
        <a:xfrm>
          <a:off x="0" y="0"/>
          <a:ext cx="0" cy="0"/>
          <a:chOff x="0" y="0"/>
          <a:chExt cx="0" cy="0"/>
        </a:xfrm>
      </p:grpSpPr>
      <p:sp>
        <p:nvSpPr>
          <p:cNvPr id="34" name="Google Shape;34;p46"/>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200" u="none" cap="none" strike="noStrike">
                <a:solidFill>
                  <a:srgbClr val="C00000"/>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5" name="Google Shape;35;p46"/>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1200" u="none" cap="none" strike="noStrike">
                <a:solidFill>
                  <a:srgbClr val="C00000"/>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6" name="Google Shape;36;p46"/>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37" name="Google Shape;37;p46"/>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8" name="Google Shape;38;p46"/>
          <p:cNvSpPr/>
          <p:nvPr>
            <p:ph idx="2" type="chart"/>
          </p:nvPr>
        </p:nvSpPr>
        <p:spPr>
          <a:xfrm>
            <a:off x="338736" y="1406525"/>
            <a:ext cx="5757264" cy="4670425"/>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9" name="Google Shape;39;p46"/>
          <p:cNvSpPr/>
          <p:nvPr>
            <p:ph idx="3" type="tbl"/>
          </p:nvPr>
        </p:nvSpPr>
        <p:spPr>
          <a:xfrm>
            <a:off x="6210300" y="1392239"/>
            <a:ext cx="5592763" cy="468471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bg>
      <p:bgPr>
        <a:blipFill>
          <a:blip r:embed="rId2">
            <a:alphaModFix/>
          </a:blip>
          <a:stretch>
            <a:fillRect/>
          </a:stretch>
        </a:blipFill>
      </p:bgPr>
    </p:bg>
    <p:spTree>
      <p:nvGrpSpPr>
        <p:cNvPr id="40" name="Shape 40"/>
        <p:cNvGrpSpPr/>
        <p:nvPr/>
      </p:nvGrpSpPr>
      <p:grpSpPr>
        <a:xfrm>
          <a:off x="0" y="0"/>
          <a:ext cx="0" cy="0"/>
          <a:chOff x="0" y="0"/>
          <a:chExt cx="0" cy="0"/>
        </a:xfrm>
      </p:grpSpPr>
      <p:sp>
        <p:nvSpPr>
          <p:cNvPr id="41" name="Google Shape;41;p47"/>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200" u="none" cap="none" strike="noStrike">
                <a:solidFill>
                  <a:srgbClr val="C00000"/>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2" name="Google Shape;42;p47"/>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1200" u="none" cap="none" strike="noStrike">
                <a:solidFill>
                  <a:srgbClr val="C00000"/>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3" name="Google Shape;43;p47"/>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44" name="Google Shape;44;p47"/>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5" name="Google Shape;45;p47"/>
          <p:cNvSpPr/>
          <p:nvPr>
            <p:ph idx="2" type="chart"/>
          </p:nvPr>
        </p:nvSpPr>
        <p:spPr>
          <a:xfrm>
            <a:off x="330201" y="1406769"/>
            <a:ext cx="5765800" cy="4655894"/>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6" name="Google Shape;46;p47"/>
          <p:cNvSpPr/>
          <p:nvPr>
            <p:ph idx="3" type="pic"/>
          </p:nvPr>
        </p:nvSpPr>
        <p:spPr>
          <a:xfrm>
            <a:off x="6238875" y="1414463"/>
            <a:ext cx="5445125" cy="4656137"/>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bg>
      <p:bgPr>
        <a:blipFill>
          <a:blip r:embed="rId2">
            <a:alphaModFix/>
          </a:blip>
          <a:stretch>
            <a:fillRect/>
          </a:stretch>
        </a:blipFill>
      </p:bgPr>
    </p:bg>
    <p:spTree>
      <p:nvGrpSpPr>
        <p:cNvPr id="47" name="Shape 47"/>
        <p:cNvGrpSpPr/>
        <p:nvPr/>
      </p:nvGrpSpPr>
      <p:grpSpPr>
        <a:xfrm>
          <a:off x="0" y="0"/>
          <a:ext cx="0" cy="0"/>
          <a:chOff x="0" y="0"/>
          <a:chExt cx="0" cy="0"/>
        </a:xfrm>
      </p:grpSpPr>
      <p:sp>
        <p:nvSpPr>
          <p:cNvPr id="48" name="Google Shape;48;p48"/>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200" u="none" cap="none" strike="noStrike">
                <a:solidFill>
                  <a:srgbClr val="C00000"/>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9" name="Google Shape;49;p48"/>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1200" u="none" cap="none" strike="noStrike">
                <a:solidFill>
                  <a:srgbClr val="C00000"/>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0" name="Google Shape;50;p48"/>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51" name="Google Shape;51;p48"/>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2" name="Google Shape;52;p48"/>
          <p:cNvSpPr/>
          <p:nvPr>
            <p:ph idx="2" type="chart"/>
          </p:nvPr>
        </p:nvSpPr>
        <p:spPr>
          <a:xfrm>
            <a:off x="330201" y="1406769"/>
            <a:ext cx="5765800" cy="4655894"/>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3" name="Google Shape;53;p48"/>
          <p:cNvSpPr/>
          <p:nvPr>
            <p:ph idx="3" type="pic"/>
          </p:nvPr>
        </p:nvSpPr>
        <p:spPr>
          <a:xfrm>
            <a:off x="6238875" y="1414463"/>
            <a:ext cx="5445125" cy="4656137"/>
          </a:xfrm>
          <a:prstGeom prst="rect">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wo Content">
  <p:cSld name="2_Two Content">
    <p:bg>
      <p:bgPr>
        <a:blipFill>
          <a:blip r:embed="rId2">
            <a:alphaModFix/>
          </a:blip>
          <a:stretch>
            <a:fillRect/>
          </a:stretch>
        </a:blipFill>
      </p:bgPr>
    </p:bg>
    <p:spTree>
      <p:nvGrpSpPr>
        <p:cNvPr id="54" name="Shape 54"/>
        <p:cNvGrpSpPr/>
        <p:nvPr/>
      </p:nvGrpSpPr>
      <p:grpSpPr>
        <a:xfrm>
          <a:off x="0" y="0"/>
          <a:ext cx="0" cy="0"/>
          <a:chOff x="0" y="0"/>
          <a:chExt cx="0" cy="0"/>
        </a:xfrm>
      </p:grpSpPr>
      <p:sp>
        <p:nvSpPr>
          <p:cNvPr id="55" name="Google Shape;55;p49"/>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200" u="none" cap="none" strike="noStrike">
                <a:solidFill>
                  <a:srgbClr val="C00000"/>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6" name="Google Shape;56;p49"/>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1200" u="none" cap="none" strike="noStrike">
                <a:solidFill>
                  <a:srgbClr val="C00000"/>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7" name="Google Shape;57;p49"/>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58" name="Google Shape;58;p49"/>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9" name="Google Shape;59;p49"/>
          <p:cNvSpPr/>
          <p:nvPr>
            <p:ph idx="2" type="chart"/>
          </p:nvPr>
        </p:nvSpPr>
        <p:spPr>
          <a:xfrm>
            <a:off x="330201" y="1406769"/>
            <a:ext cx="5765800" cy="4655894"/>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0" name="Google Shape;60;p49"/>
          <p:cNvSpPr/>
          <p:nvPr>
            <p:ph idx="3" type="pic"/>
          </p:nvPr>
        </p:nvSpPr>
        <p:spPr>
          <a:xfrm>
            <a:off x="6238875" y="1414463"/>
            <a:ext cx="5445125" cy="4656137"/>
          </a:xfrm>
          <a:prstGeom prst="rect">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mparison">
  <p:cSld name="1_Comparison">
    <p:bg>
      <p:bgPr>
        <a:blipFill>
          <a:blip r:embed="rId2">
            <a:alphaModFix/>
          </a:blip>
          <a:stretch>
            <a:fillRect/>
          </a:stretch>
        </a:blipFill>
      </p:bgPr>
    </p:bg>
    <p:spTree>
      <p:nvGrpSpPr>
        <p:cNvPr id="61" name="Shape 61"/>
        <p:cNvGrpSpPr/>
        <p:nvPr/>
      </p:nvGrpSpPr>
      <p:grpSpPr>
        <a:xfrm>
          <a:off x="0" y="0"/>
          <a:ext cx="0" cy="0"/>
          <a:chOff x="0" y="0"/>
          <a:chExt cx="0" cy="0"/>
        </a:xfrm>
      </p:grpSpPr>
      <p:sp>
        <p:nvSpPr>
          <p:cNvPr id="62" name="Google Shape;62;p50"/>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3" name="Google Shape;63;p50"/>
          <p:cNvSpPr txBox="1"/>
          <p:nvPr>
            <p:ph idx="1" type="body"/>
          </p:nvPr>
        </p:nvSpPr>
        <p:spPr>
          <a:xfrm>
            <a:off x="337539" y="1032510"/>
            <a:ext cx="11515725" cy="493871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4" name="Google Shape;64;p50"/>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200" u="none" cap="none" strike="noStrike">
                <a:solidFill>
                  <a:srgbClr val="C00000"/>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5" name="Google Shape;65;p50"/>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1200" u="none" cap="none" strike="noStrike">
                <a:solidFill>
                  <a:srgbClr val="C00000"/>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6" name="Google Shape;66;p50"/>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bg>
      <p:bgPr>
        <a:blipFill>
          <a:blip r:embed="rId2">
            <a:alphaModFix/>
          </a:blip>
          <a:stretch>
            <a:fillRect/>
          </a:stretch>
        </a:blipFill>
      </p:bgPr>
    </p:bg>
    <p:spTree>
      <p:nvGrpSpPr>
        <p:cNvPr id="67" name="Shape 67"/>
        <p:cNvGrpSpPr/>
        <p:nvPr/>
      </p:nvGrpSpPr>
      <p:grpSpPr>
        <a:xfrm>
          <a:off x="0" y="0"/>
          <a:ext cx="0" cy="0"/>
          <a:chOff x="0" y="0"/>
          <a:chExt cx="0" cy="0"/>
        </a:xfrm>
      </p:grpSpPr>
      <p:sp>
        <p:nvSpPr>
          <p:cNvPr id="68" name="Google Shape;68;p51"/>
          <p:cNvSpPr txBox="1"/>
          <p:nvPr>
            <p:ph idx="10" type="dt"/>
          </p:nvPr>
        </p:nvSpPr>
        <p:spPr>
          <a:xfrm>
            <a:off x="838200" y="6492875"/>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200" u="none" cap="none" strike="noStrike">
                <a:solidFill>
                  <a:schemeClr val="lt1"/>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51"/>
          <p:cNvSpPr txBox="1"/>
          <p:nvPr>
            <p:ph idx="11" type="ftr"/>
          </p:nvPr>
        </p:nvSpPr>
        <p:spPr>
          <a:xfrm>
            <a:off x="4038600" y="6492875"/>
            <a:ext cx="4114800" cy="3651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1200" u="none" cap="none" strike="noStrike">
                <a:solidFill>
                  <a:srgbClr val="C00000"/>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51"/>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200"/>
              <a:buFont typeface="Arial"/>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7.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1.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 Id="rId3" Type="http://schemas.openxmlformats.org/officeDocument/2006/relationships/image" Target="../media/image2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 Id="rId3" Type="http://schemas.openxmlformats.org/officeDocument/2006/relationships/image" Target="../media/image16.pn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 Id="rId3" Type="http://schemas.openxmlformats.org/officeDocument/2006/relationships/image" Target="../media/image17.png"/><Relationship Id="rId4" Type="http://schemas.openxmlformats.org/officeDocument/2006/relationships/image" Target="../media/image4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 Id="rId3"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Relationship Id="rId3" Type="http://schemas.openxmlformats.org/officeDocument/2006/relationships/image" Target="../media/image32.png"/><Relationship Id="rId4" Type="http://schemas.openxmlformats.org/officeDocument/2006/relationships/image" Target="../media/image3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6.xml"/><Relationship Id="rId3"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7.xml"/><Relationship Id="rId3" Type="http://schemas.openxmlformats.org/officeDocument/2006/relationships/image" Target="../media/image2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3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9.xml"/><Relationship Id="rId3" Type="http://schemas.openxmlformats.org/officeDocument/2006/relationships/image" Target="../media/image3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0.xml"/><Relationship Id="rId3" Type="http://schemas.openxmlformats.org/officeDocument/2006/relationships/image" Target="../media/image2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1.xml"/><Relationship Id="rId3" Type="http://schemas.openxmlformats.org/officeDocument/2006/relationships/image" Target="../media/image2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2.xml"/><Relationship Id="rId3" Type="http://schemas.openxmlformats.org/officeDocument/2006/relationships/image" Target="../media/image38.png"/><Relationship Id="rId4" Type="http://schemas.openxmlformats.org/officeDocument/2006/relationships/image" Target="../media/image3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3.xml"/><Relationship Id="rId3" Type="http://schemas.openxmlformats.org/officeDocument/2006/relationships/image" Target="../media/image3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4.xml"/><Relationship Id="rId3" Type="http://schemas.openxmlformats.org/officeDocument/2006/relationships/image" Target="../media/image4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5.xml"/><Relationship Id="rId3" Type="http://schemas.openxmlformats.org/officeDocument/2006/relationships/image" Target="../media/image3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6.xml"/><Relationship Id="rId3" Type="http://schemas.openxmlformats.org/officeDocument/2006/relationships/image" Target="../media/image4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7.xml"/><Relationship Id="rId3" Type="http://schemas.openxmlformats.org/officeDocument/2006/relationships/hyperlink" Target="https://fptshop.com.vn/tin-tuc/danh-gia/phan-mem-quan-ly-nha-tro-172485" TargetMode="External"/><Relationship Id="rId4" Type="http://schemas.openxmlformats.org/officeDocument/2006/relationships/hyperlink" Target="https://fossbk-spec.github.io/ktpmud-book/ch02_yeu_cau_thiet_ke_c4" TargetMode="External"/><Relationship Id="rId5" Type="http://schemas.openxmlformats.org/officeDocument/2006/relationships/hyperlink" Target="https://fossbk-spec.github.io/ktpmud-book/ch01_tong_quan_sdlc"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pic>
        <p:nvPicPr>
          <p:cNvPr id="75" name="Google Shape;75;p2"/>
          <p:cNvPicPr preferRelativeResize="0"/>
          <p:nvPr/>
        </p:nvPicPr>
        <p:blipFill rotWithShape="1">
          <a:blip r:embed="rId3">
            <a:alphaModFix/>
          </a:blip>
          <a:srcRect b="0" l="0" r="0" t="0"/>
          <a:stretch/>
        </p:blipFill>
        <p:spPr>
          <a:xfrm>
            <a:off x="386634" y="331380"/>
            <a:ext cx="3174367" cy="952975"/>
          </a:xfrm>
          <a:prstGeom prst="rect">
            <a:avLst/>
          </a:prstGeom>
          <a:noFill/>
          <a:ln>
            <a:noFill/>
          </a:ln>
        </p:spPr>
      </p:pic>
      <p:sp>
        <p:nvSpPr>
          <p:cNvPr id="76" name="Google Shape;76;p2"/>
          <p:cNvSpPr txBox="1"/>
          <p:nvPr/>
        </p:nvSpPr>
        <p:spPr>
          <a:xfrm>
            <a:off x="386625" y="1824325"/>
            <a:ext cx="10107300" cy="16233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b="1" i="0" lang="en-US" sz="4000" u="none" cap="none" strike="noStrike">
                <a:solidFill>
                  <a:srgbClr val="C00000"/>
                </a:solidFill>
                <a:latin typeface="Arial"/>
                <a:ea typeface="Arial"/>
                <a:cs typeface="Arial"/>
                <a:sym typeface="Arial"/>
              </a:rPr>
              <a:t>BÁO CÁO QUÁ TRÌNH TUẦN </a:t>
            </a:r>
            <a:r>
              <a:rPr b="1" lang="en-US" sz="4000">
                <a:solidFill>
                  <a:srgbClr val="C00000"/>
                </a:solidFill>
              </a:rPr>
              <a:t>6</a:t>
            </a:r>
            <a:br>
              <a:rPr b="1" i="0" lang="en-US" sz="4000" u="none" cap="none" strike="noStrike">
                <a:solidFill>
                  <a:srgbClr val="C00000"/>
                </a:solidFill>
                <a:latin typeface="Arial"/>
                <a:ea typeface="Arial"/>
                <a:cs typeface="Arial"/>
                <a:sym typeface="Arial"/>
              </a:rPr>
            </a:br>
            <a:r>
              <a:rPr b="1" i="0" lang="en-US" sz="4000" u="none" cap="none" strike="noStrike">
                <a:solidFill>
                  <a:srgbClr val="C00000"/>
                </a:solidFill>
                <a:latin typeface="Arial"/>
                <a:ea typeface="Arial"/>
                <a:cs typeface="Arial"/>
                <a:sym typeface="Arial"/>
              </a:rPr>
              <a:t>ĐỀ TÀI:</a:t>
            </a:r>
            <a:r>
              <a:rPr b="1" i="0" lang="en-US" sz="4000" u="none" cap="none" strike="noStrike">
                <a:solidFill>
                  <a:srgbClr val="C00000"/>
                </a:solidFill>
                <a:latin typeface="Lato"/>
                <a:ea typeface="Lato"/>
                <a:cs typeface="Lato"/>
                <a:sym typeface="Lato"/>
              </a:rPr>
              <a:t> </a:t>
            </a:r>
            <a:r>
              <a:rPr b="1" i="0" lang="en-US" sz="4000" u="none" cap="none" strike="noStrike">
                <a:solidFill>
                  <a:srgbClr val="C00000"/>
                </a:solidFill>
                <a:latin typeface="Arial"/>
                <a:ea typeface="Arial"/>
                <a:cs typeface="Arial"/>
                <a:sym typeface="Arial"/>
              </a:rPr>
              <a:t>Xây dựng phần mềm quản lý nhà cho thuê tại Nhà 57 Giảng Võ</a:t>
            </a:r>
            <a:endParaRPr b="1" i="0" sz="4000" u="none" cap="none" strike="noStrike">
              <a:solidFill>
                <a:srgbClr val="C00000"/>
              </a:solidFill>
              <a:latin typeface="Arial"/>
              <a:ea typeface="Arial"/>
              <a:cs typeface="Arial"/>
              <a:sym typeface="Arial"/>
            </a:endParaRPr>
          </a:p>
        </p:txBody>
      </p:sp>
      <p:sp>
        <p:nvSpPr>
          <p:cNvPr id="77" name="Google Shape;77;p2"/>
          <p:cNvSpPr txBox="1"/>
          <p:nvPr/>
        </p:nvSpPr>
        <p:spPr>
          <a:xfrm>
            <a:off x="386634" y="4137574"/>
            <a:ext cx="7342500" cy="8487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C00000"/>
              </a:buClr>
              <a:buSzPts val="2800"/>
              <a:buFont typeface="Lato"/>
              <a:buNone/>
            </a:pPr>
            <a:r>
              <a:rPr b="0" i="0" lang="en-US" sz="2800" u="none" cap="none" strike="noStrike">
                <a:solidFill>
                  <a:srgbClr val="C00000"/>
                </a:solidFill>
                <a:latin typeface="Arial"/>
                <a:ea typeface="Arial"/>
                <a:cs typeface="Arial"/>
                <a:sym typeface="Arial"/>
              </a:rPr>
              <a:t>GVHD: TS Hoàng Quang Huy</a:t>
            </a:r>
            <a:endParaRPr b="0" i="0" sz="2800" u="none" cap="none" strike="noStrike">
              <a:solidFill>
                <a:srgbClr val="C00000"/>
              </a:solidFill>
              <a:latin typeface="Arial"/>
              <a:ea typeface="Arial"/>
              <a:cs typeface="Arial"/>
              <a:sym typeface="Arial"/>
            </a:endParaRPr>
          </a:p>
          <a:p>
            <a:pPr indent="0" lvl="0" marL="0" marR="0" rtl="0" algn="l">
              <a:lnSpc>
                <a:spcPct val="90000"/>
              </a:lnSpc>
              <a:spcBef>
                <a:spcPts val="0"/>
              </a:spcBef>
              <a:spcAft>
                <a:spcPts val="0"/>
              </a:spcAft>
              <a:buClr>
                <a:srgbClr val="C00000"/>
              </a:buClr>
              <a:buSzPts val="2800"/>
              <a:buFont typeface="Lato"/>
              <a:buNone/>
            </a:pPr>
            <a:r>
              <a:rPr b="0" i="0" lang="en-US" sz="2800" u="none" cap="none" strike="noStrike">
                <a:solidFill>
                  <a:srgbClr val="C00000"/>
                </a:solidFill>
                <a:latin typeface="Arial"/>
                <a:ea typeface="Arial"/>
                <a:cs typeface="Arial"/>
                <a:sym typeface="Arial"/>
              </a:rPr>
              <a:t>Mã học phần: ET3260</a:t>
            </a:r>
            <a:endParaRPr b="0" i="0" sz="2800" u="none" cap="none" strike="noStrike">
              <a:solidFill>
                <a:srgbClr val="C00000"/>
              </a:solidFill>
              <a:latin typeface="Arial"/>
              <a:ea typeface="Arial"/>
              <a:cs typeface="Arial"/>
              <a:sym typeface="Arial"/>
            </a:endParaRPr>
          </a:p>
          <a:p>
            <a:pPr indent="0" lvl="0" marL="0" marR="0" rtl="0" algn="l">
              <a:lnSpc>
                <a:spcPct val="90000"/>
              </a:lnSpc>
              <a:spcBef>
                <a:spcPts val="0"/>
              </a:spcBef>
              <a:spcAft>
                <a:spcPts val="0"/>
              </a:spcAft>
              <a:buClr>
                <a:srgbClr val="C00000"/>
              </a:buClr>
              <a:buSzPts val="2800"/>
              <a:buFont typeface="Lato"/>
              <a:buNone/>
            </a:pPr>
            <a:r>
              <a:rPr b="0" i="0" lang="en-US" sz="2800" u="none" cap="none" strike="noStrike">
                <a:solidFill>
                  <a:srgbClr val="C00000"/>
                </a:solidFill>
                <a:latin typeface="Arial"/>
                <a:ea typeface="Arial"/>
                <a:cs typeface="Arial"/>
                <a:sym typeface="Arial"/>
              </a:rPr>
              <a:t>Mã lớp: 173820</a:t>
            </a:r>
            <a:br>
              <a:rPr b="0" i="0" lang="en-US" sz="2800" u="none" cap="none" strike="noStrike">
                <a:solidFill>
                  <a:srgbClr val="C00000"/>
                </a:solidFill>
                <a:latin typeface="Arial"/>
                <a:ea typeface="Arial"/>
                <a:cs typeface="Arial"/>
                <a:sym typeface="Arial"/>
              </a:rPr>
            </a:br>
            <a:r>
              <a:rPr b="0" i="0" lang="en-US" sz="2800" u="none" cap="none" strike="noStrike">
                <a:solidFill>
                  <a:srgbClr val="C00000"/>
                </a:solidFill>
                <a:latin typeface="Arial"/>
                <a:ea typeface="Arial"/>
                <a:cs typeface="Arial"/>
                <a:sym typeface="Arial"/>
              </a:rPr>
              <a:t>Nhóm thực hiện: Nhóm 43</a:t>
            </a:r>
            <a:endParaRPr b="0" i="0" sz="1400" u="none" cap="none" strike="noStrike">
              <a:solidFill>
                <a:srgbClr val="000000"/>
              </a:solidFill>
              <a:latin typeface="Arial"/>
              <a:ea typeface="Arial"/>
              <a:cs typeface="Arial"/>
              <a:sym typeface="Arial"/>
            </a:endParaRPr>
          </a:p>
        </p:txBody>
      </p:sp>
      <p:sp>
        <p:nvSpPr>
          <p:cNvPr id="78" name="Google Shape;78;p2"/>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3"/>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en-US">
                <a:latin typeface="Arial"/>
                <a:ea typeface="Arial"/>
                <a:cs typeface="Arial"/>
                <a:sym typeface="Arial"/>
              </a:rPr>
              <a:t>MỤC LỤC</a:t>
            </a:r>
            <a:endParaRPr>
              <a:latin typeface="Arial"/>
              <a:ea typeface="Arial"/>
              <a:cs typeface="Arial"/>
              <a:sym typeface="Arial"/>
            </a:endParaRPr>
          </a:p>
        </p:txBody>
      </p:sp>
      <p:sp>
        <p:nvSpPr>
          <p:cNvPr id="84" name="Google Shape;84;p3"/>
          <p:cNvSpPr txBox="1"/>
          <p:nvPr>
            <p:ph idx="1" type="body"/>
          </p:nvPr>
        </p:nvSpPr>
        <p:spPr>
          <a:xfrm>
            <a:off x="338736" y="1058844"/>
            <a:ext cx="11514528" cy="4909124"/>
          </a:xfrm>
          <a:prstGeom prst="rect">
            <a:avLst/>
          </a:prstGeom>
          <a:noFill/>
          <a:ln>
            <a:noFill/>
          </a:ln>
        </p:spPr>
        <p:txBody>
          <a:bodyPr anchorCtr="0" anchor="t" bIns="45700" lIns="91425" spcFirstLastPara="1" rIns="91425" wrap="square" tIns="45700">
            <a:noAutofit/>
          </a:bodyPr>
          <a:lstStyle/>
          <a:p>
            <a:pPr indent="-50800" lvl="0" marL="228600" rtl="0" algn="l">
              <a:lnSpc>
                <a:spcPct val="90000"/>
              </a:lnSpc>
              <a:spcBef>
                <a:spcPts val="0"/>
              </a:spcBef>
              <a:spcAft>
                <a:spcPts val="0"/>
              </a:spcAft>
              <a:buClr>
                <a:schemeClr val="dk1"/>
              </a:buClr>
              <a:buSzPts val="2800"/>
              <a:buNone/>
            </a:pPr>
            <a:r>
              <a:rPr lang="en-US">
                <a:latin typeface="Arial"/>
                <a:ea typeface="Arial"/>
                <a:cs typeface="Arial"/>
                <a:sym typeface="Arial"/>
              </a:rPr>
              <a:t>1. Giới thiệu thành viên &amp; Phân công nhiệm vụ</a:t>
            </a:r>
            <a:endParaRPr>
              <a:latin typeface="Arial"/>
              <a:ea typeface="Arial"/>
              <a:cs typeface="Arial"/>
              <a:sym typeface="Arial"/>
            </a:endParaRPr>
          </a:p>
          <a:p>
            <a:pPr indent="-50800" lvl="0" marL="228600" rtl="0" algn="l">
              <a:lnSpc>
                <a:spcPct val="90000"/>
              </a:lnSpc>
              <a:spcBef>
                <a:spcPts val="0"/>
              </a:spcBef>
              <a:spcAft>
                <a:spcPts val="0"/>
              </a:spcAft>
              <a:buClr>
                <a:schemeClr val="dk1"/>
              </a:buClr>
              <a:buSzPts val="2800"/>
              <a:buNone/>
            </a:pPr>
            <a:r>
              <a:rPr lang="en-US">
                <a:latin typeface="Arial"/>
                <a:ea typeface="Arial"/>
                <a:cs typeface="Arial"/>
                <a:sym typeface="Arial"/>
              </a:rPr>
              <a:t>2. Giới thiệu đề tài</a:t>
            </a:r>
            <a:endParaRPr>
              <a:latin typeface="Arial"/>
              <a:ea typeface="Arial"/>
              <a:cs typeface="Arial"/>
              <a:sym typeface="Arial"/>
            </a:endParaRPr>
          </a:p>
          <a:p>
            <a:pPr indent="-50800" lvl="0" marL="228600" rtl="0" algn="l">
              <a:lnSpc>
                <a:spcPct val="90000"/>
              </a:lnSpc>
              <a:spcBef>
                <a:spcPts val="0"/>
              </a:spcBef>
              <a:spcAft>
                <a:spcPts val="0"/>
              </a:spcAft>
              <a:buClr>
                <a:schemeClr val="dk1"/>
              </a:buClr>
              <a:buSzPts val="2800"/>
              <a:buNone/>
            </a:pPr>
            <a:r>
              <a:rPr lang="en-US">
                <a:latin typeface="Arial"/>
                <a:ea typeface="Arial"/>
                <a:cs typeface="Arial"/>
                <a:sym typeface="Arial"/>
              </a:rPr>
              <a:t>3. Timeline dự kiến</a:t>
            </a:r>
            <a:endParaRPr>
              <a:latin typeface="Arial"/>
              <a:ea typeface="Arial"/>
              <a:cs typeface="Arial"/>
              <a:sym typeface="Arial"/>
            </a:endParaRPr>
          </a:p>
          <a:p>
            <a:pPr indent="-50800" lvl="0" marL="228600" rtl="0" algn="l">
              <a:lnSpc>
                <a:spcPct val="90000"/>
              </a:lnSpc>
              <a:spcBef>
                <a:spcPts val="0"/>
              </a:spcBef>
              <a:spcAft>
                <a:spcPts val="0"/>
              </a:spcAft>
              <a:buClr>
                <a:schemeClr val="dk1"/>
              </a:buClr>
              <a:buSzPts val="2800"/>
              <a:buNone/>
            </a:pPr>
            <a:r>
              <a:rPr lang="en-US">
                <a:latin typeface="Arial"/>
                <a:ea typeface="Arial"/>
                <a:cs typeface="Arial"/>
                <a:sym typeface="Arial"/>
              </a:rPr>
              <a:t>4. Biểu đồ</a:t>
            </a:r>
            <a:endParaRPr>
              <a:latin typeface="Arial"/>
              <a:ea typeface="Arial"/>
              <a:cs typeface="Arial"/>
              <a:sym typeface="Arial"/>
            </a:endParaRPr>
          </a:p>
        </p:txBody>
      </p:sp>
      <p:sp>
        <p:nvSpPr>
          <p:cNvPr id="85" name="Google Shape;85;p3"/>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4"/>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en-US">
                <a:latin typeface="Arial"/>
                <a:ea typeface="Arial"/>
                <a:cs typeface="Arial"/>
                <a:sym typeface="Arial"/>
              </a:rPr>
              <a:t>MỤC LỤC</a:t>
            </a:r>
            <a:endParaRPr>
              <a:latin typeface="Arial"/>
              <a:ea typeface="Arial"/>
              <a:cs typeface="Arial"/>
              <a:sym typeface="Arial"/>
            </a:endParaRPr>
          </a:p>
        </p:txBody>
      </p:sp>
      <p:sp>
        <p:nvSpPr>
          <p:cNvPr id="91" name="Google Shape;91;p4"/>
          <p:cNvSpPr txBox="1"/>
          <p:nvPr>
            <p:ph idx="1" type="body"/>
          </p:nvPr>
        </p:nvSpPr>
        <p:spPr>
          <a:xfrm>
            <a:off x="338736" y="1058844"/>
            <a:ext cx="11514600" cy="4909200"/>
          </a:xfrm>
          <a:prstGeom prst="rect">
            <a:avLst/>
          </a:prstGeom>
          <a:noFill/>
          <a:ln>
            <a:noFill/>
          </a:ln>
        </p:spPr>
        <p:txBody>
          <a:bodyPr anchorCtr="0" anchor="t" bIns="45700" lIns="91425" spcFirstLastPara="1" rIns="91425" wrap="square" tIns="45700">
            <a:noAutofit/>
          </a:bodyPr>
          <a:lstStyle/>
          <a:p>
            <a:pPr indent="-50800" lvl="0" marL="228600" rtl="0" algn="l">
              <a:lnSpc>
                <a:spcPct val="90000"/>
              </a:lnSpc>
              <a:spcBef>
                <a:spcPts val="0"/>
              </a:spcBef>
              <a:spcAft>
                <a:spcPts val="0"/>
              </a:spcAft>
              <a:buClr>
                <a:schemeClr val="dk1"/>
              </a:buClr>
              <a:buSzPts val="2800"/>
              <a:buNone/>
            </a:pPr>
            <a:r>
              <a:rPr lang="en-US">
                <a:solidFill>
                  <a:srgbClr val="FF0000"/>
                </a:solidFill>
                <a:latin typeface="Arial"/>
                <a:ea typeface="Arial"/>
                <a:cs typeface="Arial"/>
                <a:sym typeface="Arial"/>
              </a:rPr>
              <a:t>1. Giới thiệu thành viên &amp; Phân công nhiệm vụ</a:t>
            </a:r>
            <a:endParaRPr>
              <a:solidFill>
                <a:srgbClr val="FF0000"/>
              </a:solidFill>
              <a:latin typeface="Arial"/>
              <a:ea typeface="Arial"/>
              <a:cs typeface="Arial"/>
              <a:sym typeface="Arial"/>
            </a:endParaRPr>
          </a:p>
          <a:p>
            <a:pPr indent="0" lvl="0" marL="177800" rtl="0" algn="l">
              <a:lnSpc>
                <a:spcPct val="90000"/>
              </a:lnSpc>
              <a:spcBef>
                <a:spcPts val="0"/>
              </a:spcBef>
              <a:spcAft>
                <a:spcPts val="0"/>
              </a:spcAft>
              <a:buClr>
                <a:schemeClr val="dk1"/>
              </a:buClr>
              <a:buSzPts val="2800"/>
              <a:buNone/>
            </a:pPr>
            <a:r>
              <a:rPr lang="en-US">
                <a:latin typeface="Arial"/>
                <a:ea typeface="Arial"/>
                <a:cs typeface="Arial"/>
                <a:sym typeface="Arial"/>
              </a:rPr>
              <a:t>2. Giới thiệu đề tài</a:t>
            </a:r>
            <a:endParaRPr>
              <a:latin typeface="Arial"/>
              <a:ea typeface="Arial"/>
              <a:cs typeface="Arial"/>
              <a:sym typeface="Arial"/>
            </a:endParaRPr>
          </a:p>
          <a:p>
            <a:pPr indent="-50800" lvl="0" marL="228600" rtl="0" algn="l">
              <a:lnSpc>
                <a:spcPct val="90000"/>
              </a:lnSpc>
              <a:spcBef>
                <a:spcPts val="0"/>
              </a:spcBef>
              <a:spcAft>
                <a:spcPts val="0"/>
              </a:spcAft>
              <a:buClr>
                <a:schemeClr val="dk1"/>
              </a:buClr>
              <a:buSzPts val="2800"/>
              <a:buNone/>
            </a:pPr>
            <a:r>
              <a:rPr lang="en-US">
                <a:latin typeface="Arial"/>
                <a:ea typeface="Arial"/>
                <a:cs typeface="Arial"/>
                <a:sym typeface="Arial"/>
              </a:rPr>
              <a:t>3. Timeline dự kiến</a:t>
            </a:r>
            <a:endParaRPr>
              <a:latin typeface="Arial"/>
              <a:ea typeface="Arial"/>
              <a:cs typeface="Arial"/>
              <a:sym typeface="Arial"/>
            </a:endParaRPr>
          </a:p>
          <a:p>
            <a:pPr indent="-50800" lvl="0" marL="228600" rtl="0" algn="l">
              <a:lnSpc>
                <a:spcPct val="90000"/>
              </a:lnSpc>
              <a:spcBef>
                <a:spcPts val="0"/>
              </a:spcBef>
              <a:spcAft>
                <a:spcPts val="0"/>
              </a:spcAft>
              <a:buClr>
                <a:schemeClr val="dk1"/>
              </a:buClr>
              <a:buSzPts val="2800"/>
              <a:buNone/>
            </a:pPr>
            <a:r>
              <a:rPr lang="en-US">
                <a:latin typeface="Arial"/>
                <a:ea typeface="Arial"/>
                <a:cs typeface="Arial"/>
                <a:sym typeface="Arial"/>
              </a:rPr>
              <a:t>4. Biểu đồ</a:t>
            </a:r>
            <a:endParaRPr>
              <a:latin typeface="Arial"/>
              <a:ea typeface="Arial"/>
              <a:cs typeface="Arial"/>
              <a:sym typeface="Arial"/>
            </a:endParaRPr>
          </a:p>
        </p:txBody>
      </p:sp>
      <p:sp>
        <p:nvSpPr>
          <p:cNvPr id="92" name="Google Shape;92;p4"/>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5"/>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en-US">
                <a:latin typeface="Arial"/>
                <a:ea typeface="Arial"/>
                <a:cs typeface="Arial"/>
                <a:sym typeface="Arial"/>
              </a:rPr>
              <a:t>1. Giới thiệu thành viên &amp; Phân công nhiệm vụ</a:t>
            </a:r>
            <a:endParaRPr>
              <a:latin typeface="Arial"/>
              <a:ea typeface="Arial"/>
              <a:cs typeface="Arial"/>
              <a:sym typeface="Arial"/>
            </a:endParaRPr>
          </a:p>
        </p:txBody>
      </p:sp>
      <p:sp>
        <p:nvSpPr>
          <p:cNvPr id="98" name="Google Shape;98;p5"/>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99" name="Google Shape;99;p5"/>
          <p:cNvSpPr txBox="1"/>
          <p:nvPr/>
        </p:nvSpPr>
        <p:spPr>
          <a:xfrm>
            <a:off x="6728878" y="1509828"/>
            <a:ext cx="3453600" cy="843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1"/>
              </a:buClr>
              <a:buSzPts val="3000"/>
              <a:buFont typeface="Lato"/>
              <a:buNone/>
            </a:pPr>
            <a:r>
              <a:rPr b="1" i="0" lang="en-US" sz="2400" u="none" cap="none" strike="noStrike">
                <a:solidFill>
                  <a:schemeClr val="dk1"/>
                </a:solidFill>
                <a:latin typeface="Times New Roman"/>
                <a:ea typeface="Times New Roman"/>
                <a:cs typeface="Times New Roman"/>
                <a:sym typeface="Times New Roman"/>
              </a:rPr>
              <a:t>Hoàng Nhật Minh</a:t>
            </a:r>
            <a:endParaRPr/>
          </a:p>
        </p:txBody>
      </p:sp>
      <p:sp>
        <p:nvSpPr>
          <p:cNvPr id="100" name="Google Shape;100;p5"/>
          <p:cNvSpPr txBox="1"/>
          <p:nvPr/>
        </p:nvSpPr>
        <p:spPr>
          <a:xfrm>
            <a:off x="6729528" y="2412928"/>
            <a:ext cx="3452400" cy="168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400"/>
              <a:buFont typeface="Arial"/>
              <a:buNone/>
            </a:pPr>
            <a:r>
              <a:rPr b="0" i="0" lang="en-US" sz="2400" u="none" cap="none" strike="noStrike">
                <a:solidFill>
                  <a:schemeClr val="dk1"/>
                </a:solidFill>
                <a:latin typeface="Times New Roman"/>
                <a:ea typeface="Times New Roman"/>
                <a:cs typeface="Times New Roman"/>
                <a:sym typeface="Times New Roman"/>
              </a:rPr>
              <a:t>STT: 43</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400"/>
              <a:buFont typeface="Arial"/>
              <a:buNone/>
            </a:pPr>
            <a:r>
              <a:rPr b="0" i="0" lang="en-US" sz="2400" u="none" cap="none" strike="noStrike">
                <a:solidFill>
                  <a:schemeClr val="dk1"/>
                </a:solidFill>
                <a:latin typeface="Times New Roman"/>
                <a:ea typeface="Times New Roman"/>
                <a:cs typeface="Times New Roman"/>
                <a:sym typeface="Times New Roman"/>
              </a:rPr>
              <a:t>MSSV: 202414266</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400"/>
              <a:buFont typeface="Arial"/>
              <a:buNone/>
            </a:pPr>
            <a:r>
              <a:rPr b="0" i="0" lang="en-US" sz="2400" u="none" cap="none" strike="noStrike">
                <a:solidFill>
                  <a:schemeClr val="dk1"/>
                </a:solidFill>
                <a:latin typeface="Times New Roman"/>
                <a:ea typeface="Times New Roman"/>
                <a:cs typeface="Times New Roman"/>
                <a:sym typeface="Times New Roman"/>
              </a:rPr>
              <a:t>Lớp: Điện tử 06 K69</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400"/>
              <a:buFont typeface="Arial"/>
              <a:buNone/>
            </a:pPr>
            <a:r>
              <a:rPr b="0" i="0" lang="en-US" sz="2400" u="none" cap="none" strike="noStrike">
                <a:solidFill>
                  <a:schemeClr val="dk1"/>
                </a:solidFill>
                <a:latin typeface="Times New Roman"/>
                <a:ea typeface="Times New Roman"/>
                <a:cs typeface="Times New Roman"/>
                <a:sym typeface="Times New Roman"/>
              </a:rPr>
              <a:t>Định hướng: Xử lý tín hiệu &amp; đa phương tiện, viễn thông, ...</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400"/>
              <a:buFont typeface="Arial"/>
              <a:buNone/>
            </a:pPr>
            <a:r>
              <a:rPr b="0" i="0" lang="en-US" sz="2400" u="none" cap="none" strike="noStrike">
                <a:solidFill>
                  <a:schemeClr val="dk1"/>
                </a:solidFill>
                <a:latin typeface="Times New Roman"/>
                <a:ea typeface="Times New Roman"/>
                <a:cs typeface="Times New Roman"/>
                <a:sym typeface="Times New Roman"/>
              </a:rPr>
              <a:t>Nhiệm vụ: Thiết kế sản phẩm, làm powerpoint, viết báo cáo</a:t>
            </a:r>
            <a:endParaRPr/>
          </a:p>
        </p:txBody>
      </p:sp>
      <p:pic>
        <p:nvPicPr>
          <p:cNvPr id="101" name="Google Shape;101;p5"/>
          <p:cNvPicPr preferRelativeResize="0"/>
          <p:nvPr/>
        </p:nvPicPr>
        <p:blipFill rotWithShape="1">
          <a:blip r:embed="rId3">
            <a:alphaModFix/>
          </a:blip>
          <a:srcRect b="0" l="0" r="0" t="0"/>
          <a:stretch/>
        </p:blipFill>
        <p:spPr>
          <a:xfrm>
            <a:off x="2354471" y="1622981"/>
            <a:ext cx="2417531" cy="3731075"/>
          </a:xfrm>
          <a:prstGeom prst="rect">
            <a:avLst/>
          </a:prstGeom>
          <a:noFill/>
          <a:ln>
            <a:noFill/>
          </a:ln>
        </p:spPr>
      </p:pic>
      <p:pic>
        <p:nvPicPr>
          <p:cNvPr id="102" name="Google Shape;102;p5"/>
          <p:cNvPicPr preferRelativeResize="0"/>
          <p:nvPr/>
        </p:nvPicPr>
        <p:blipFill rotWithShape="1">
          <a:blip r:embed="rId4">
            <a:alphaModFix/>
          </a:blip>
          <a:srcRect b="0" l="0" r="0" t="0"/>
          <a:stretch/>
        </p:blipFill>
        <p:spPr>
          <a:xfrm>
            <a:off x="2442140" y="1754804"/>
            <a:ext cx="2240652" cy="334839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6"/>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en-US">
                <a:latin typeface="Arial"/>
                <a:ea typeface="Arial"/>
                <a:cs typeface="Arial"/>
                <a:sym typeface="Arial"/>
              </a:rPr>
              <a:t>1. Giới thiệu thành viên &amp; Phân công nhiệm vụ</a:t>
            </a:r>
            <a:endParaRPr>
              <a:latin typeface="Arial"/>
              <a:ea typeface="Arial"/>
              <a:cs typeface="Arial"/>
              <a:sym typeface="Arial"/>
            </a:endParaRPr>
          </a:p>
        </p:txBody>
      </p:sp>
      <p:sp>
        <p:nvSpPr>
          <p:cNvPr id="108" name="Google Shape;108;p6"/>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09" name="Google Shape;109;p6"/>
          <p:cNvSpPr txBox="1"/>
          <p:nvPr/>
        </p:nvSpPr>
        <p:spPr>
          <a:xfrm>
            <a:off x="2139838" y="1508456"/>
            <a:ext cx="3264300" cy="594732"/>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lt1"/>
              </a:buClr>
              <a:buSzPts val="3000"/>
              <a:buFont typeface="Lato"/>
              <a:buNone/>
            </a:pPr>
            <a:r>
              <a:rPr b="1" i="0" lang="en-US" sz="2400" u="none" cap="none" strike="noStrike">
                <a:solidFill>
                  <a:schemeClr val="dk1"/>
                </a:solidFill>
                <a:latin typeface="Arial"/>
                <a:ea typeface="Arial"/>
                <a:cs typeface="Arial"/>
                <a:sym typeface="Arial"/>
              </a:rPr>
              <a:t>Lê Minh Sơn</a:t>
            </a:r>
            <a:endParaRPr/>
          </a:p>
        </p:txBody>
      </p:sp>
      <p:sp>
        <p:nvSpPr>
          <p:cNvPr id="110" name="Google Shape;110;p6"/>
          <p:cNvSpPr txBox="1"/>
          <p:nvPr/>
        </p:nvSpPr>
        <p:spPr>
          <a:xfrm>
            <a:off x="2139838" y="2214699"/>
            <a:ext cx="3264300" cy="1833801"/>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Arial"/>
              <a:buNone/>
            </a:pPr>
            <a:r>
              <a:rPr b="0" i="0" lang="en-US" sz="2400" u="none" cap="none" strike="noStrike">
                <a:solidFill>
                  <a:schemeClr val="dk1"/>
                </a:solidFill>
                <a:latin typeface="Arial"/>
                <a:ea typeface="Arial"/>
                <a:cs typeface="Arial"/>
                <a:sym typeface="Arial"/>
              </a:rPr>
              <a:t>STT: 47</a:t>
            </a:r>
            <a:endParaRPr b="0" i="0" sz="2400" u="none" cap="none" strike="noStrike">
              <a:solidFill>
                <a:schemeClr val="dk1"/>
              </a:solidFill>
              <a:latin typeface="Lato"/>
              <a:ea typeface="Lato"/>
              <a:cs typeface="Lato"/>
              <a:sym typeface="Lato"/>
            </a:endParaRPr>
          </a:p>
          <a:p>
            <a:pPr indent="0" lvl="0" marL="0" marR="0" rtl="0" algn="l">
              <a:lnSpc>
                <a:spcPct val="100000"/>
              </a:lnSpc>
              <a:spcBef>
                <a:spcPts val="0"/>
              </a:spcBef>
              <a:spcAft>
                <a:spcPts val="0"/>
              </a:spcAft>
              <a:buClr>
                <a:schemeClr val="dk1"/>
              </a:buClr>
              <a:buSzPts val="1200"/>
              <a:buFont typeface="Arial"/>
              <a:buNone/>
            </a:pPr>
            <a:r>
              <a:rPr b="0" i="0" lang="en-US" sz="2400" u="none" cap="none" strike="noStrike">
                <a:solidFill>
                  <a:schemeClr val="dk1"/>
                </a:solidFill>
                <a:latin typeface="Arial"/>
                <a:ea typeface="Arial"/>
                <a:cs typeface="Arial"/>
                <a:sym typeface="Arial"/>
              </a:rPr>
              <a:t>MSSV: 202414351</a:t>
            </a:r>
            <a:endParaRPr b="0" i="0" sz="2400" u="none" cap="none" strike="noStrike">
              <a:solidFill>
                <a:schemeClr val="dk1"/>
              </a:solidFill>
              <a:latin typeface="Lato"/>
              <a:ea typeface="Lato"/>
              <a:cs typeface="Lato"/>
              <a:sym typeface="Lato"/>
            </a:endParaRPr>
          </a:p>
          <a:p>
            <a:pPr indent="0" lvl="0" marL="0" marR="0" rtl="0" algn="l">
              <a:lnSpc>
                <a:spcPct val="100000"/>
              </a:lnSpc>
              <a:spcBef>
                <a:spcPts val="0"/>
              </a:spcBef>
              <a:spcAft>
                <a:spcPts val="0"/>
              </a:spcAft>
              <a:buClr>
                <a:schemeClr val="dk1"/>
              </a:buClr>
              <a:buSzPts val="1200"/>
              <a:buFont typeface="Arial"/>
              <a:buNone/>
            </a:pPr>
            <a:r>
              <a:rPr b="0" i="0" lang="en-US" sz="2400" u="none" cap="none" strike="noStrike">
                <a:solidFill>
                  <a:schemeClr val="dk1"/>
                </a:solidFill>
                <a:latin typeface="Arial"/>
                <a:ea typeface="Arial"/>
                <a:cs typeface="Arial"/>
                <a:sym typeface="Arial"/>
              </a:rPr>
              <a:t>Lớp: Điện tử 07 K69</a:t>
            </a:r>
            <a:endParaRPr b="0" i="0" sz="2400" u="none" cap="none" strike="noStrike">
              <a:solidFill>
                <a:schemeClr val="dk1"/>
              </a:solidFill>
              <a:latin typeface="Lato"/>
              <a:ea typeface="Lato"/>
              <a:cs typeface="Lato"/>
              <a:sym typeface="Lato"/>
            </a:endParaRPr>
          </a:p>
          <a:p>
            <a:pPr indent="0" lvl="0" marL="0" marR="0" rtl="0" algn="l">
              <a:lnSpc>
                <a:spcPct val="100000"/>
              </a:lnSpc>
              <a:spcBef>
                <a:spcPts val="0"/>
              </a:spcBef>
              <a:spcAft>
                <a:spcPts val="0"/>
              </a:spcAft>
              <a:buClr>
                <a:schemeClr val="dk1"/>
              </a:buClr>
              <a:buSzPts val="1200"/>
              <a:buFont typeface="Arial"/>
              <a:buNone/>
            </a:pPr>
            <a:r>
              <a:rPr b="0" i="0" lang="en-US" sz="2400" u="none" cap="none" strike="noStrike">
                <a:solidFill>
                  <a:schemeClr val="dk1"/>
                </a:solidFill>
                <a:latin typeface="Arial"/>
                <a:ea typeface="Arial"/>
                <a:cs typeface="Arial"/>
                <a:sym typeface="Arial"/>
              </a:rPr>
              <a:t>Định hướng: Analog IC</a:t>
            </a:r>
            <a:endParaRPr b="0" i="0" sz="2400" u="none" cap="none" strike="noStrike">
              <a:solidFill>
                <a:schemeClr val="dk1"/>
              </a:solidFill>
              <a:latin typeface="Lato"/>
              <a:ea typeface="Lato"/>
              <a:cs typeface="Lato"/>
              <a:sym typeface="Lato"/>
            </a:endParaRPr>
          </a:p>
          <a:p>
            <a:pPr indent="0" lvl="0" marL="0" marR="0" rtl="0" algn="l">
              <a:lnSpc>
                <a:spcPct val="100000"/>
              </a:lnSpc>
              <a:spcBef>
                <a:spcPts val="0"/>
              </a:spcBef>
              <a:spcAft>
                <a:spcPts val="0"/>
              </a:spcAft>
              <a:buClr>
                <a:schemeClr val="dk1"/>
              </a:buClr>
              <a:buSzPts val="1200"/>
              <a:buFont typeface="Arial"/>
              <a:buNone/>
            </a:pPr>
            <a:r>
              <a:rPr b="0" i="0" lang="en-US" sz="2400" u="none" cap="none" strike="noStrike">
                <a:solidFill>
                  <a:schemeClr val="dk1"/>
                </a:solidFill>
                <a:latin typeface="Arial"/>
                <a:ea typeface="Arial"/>
                <a:cs typeface="Arial"/>
                <a:sym typeface="Arial"/>
              </a:rPr>
              <a:t>Nhiệm vụ: Thiết kế sản phẩm, làm powerpoint, viết báo cáo</a:t>
            </a:r>
            <a:endParaRPr/>
          </a:p>
        </p:txBody>
      </p:sp>
      <p:pic>
        <p:nvPicPr>
          <p:cNvPr id="111" name="Google Shape;111;p6"/>
          <p:cNvPicPr preferRelativeResize="0"/>
          <p:nvPr/>
        </p:nvPicPr>
        <p:blipFill rotWithShape="1">
          <a:blip r:embed="rId3">
            <a:alphaModFix/>
          </a:blip>
          <a:srcRect b="0" l="0" r="0" t="0"/>
          <a:stretch/>
        </p:blipFill>
        <p:spPr>
          <a:xfrm>
            <a:off x="7505066" y="1655271"/>
            <a:ext cx="2414225" cy="3731075"/>
          </a:xfrm>
          <a:prstGeom prst="rect">
            <a:avLst/>
          </a:prstGeom>
          <a:noFill/>
          <a:ln>
            <a:noFill/>
          </a:ln>
        </p:spPr>
      </p:pic>
      <p:pic>
        <p:nvPicPr>
          <p:cNvPr id="112" name="Google Shape;112;p6"/>
          <p:cNvPicPr preferRelativeResize="0"/>
          <p:nvPr/>
        </p:nvPicPr>
        <p:blipFill rotWithShape="1">
          <a:blip r:embed="rId4">
            <a:alphaModFix/>
          </a:blip>
          <a:srcRect b="0" l="0" r="0" t="0"/>
          <a:stretch/>
        </p:blipFill>
        <p:spPr>
          <a:xfrm>
            <a:off x="7576731" y="1802086"/>
            <a:ext cx="2255527" cy="333313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7"/>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en-US">
                <a:latin typeface="Arial"/>
                <a:ea typeface="Arial"/>
                <a:cs typeface="Arial"/>
                <a:sym typeface="Arial"/>
              </a:rPr>
              <a:t>MỤC LỤC</a:t>
            </a:r>
            <a:endParaRPr>
              <a:latin typeface="Arial"/>
              <a:ea typeface="Arial"/>
              <a:cs typeface="Arial"/>
              <a:sym typeface="Arial"/>
            </a:endParaRPr>
          </a:p>
        </p:txBody>
      </p:sp>
      <p:sp>
        <p:nvSpPr>
          <p:cNvPr id="118" name="Google Shape;118;p7"/>
          <p:cNvSpPr txBox="1"/>
          <p:nvPr>
            <p:ph idx="1" type="body"/>
          </p:nvPr>
        </p:nvSpPr>
        <p:spPr>
          <a:xfrm>
            <a:off x="338736" y="1058844"/>
            <a:ext cx="11514600" cy="4909200"/>
          </a:xfrm>
          <a:prstGeom prst="rect">
            <a:avLst/>
          </a:prstGeom>
          <a:noFill/>
          <a:ln>
            <a:noFill/>
          </a:ln>
        </p:spPr>
        <p:txBody>
          <a:bodyPr anchorCtr="0" anchor="t" bIns="45700" lIns="91425" spcFirstLastPara="1" rIns="91425" wrap="square" tIns="45700">
            <a:noAutofit/>
          </a:bodyPr>
          <a:lstStyle/>
          <a:p>
            <a:pPr indent="-50800" lvl="0" marL="228600" rtl="0" algn="l">
              <a:lnSpc>
                <a:spcPct val="90000"/>
              </a:lnSpc>
              <a:spcBef>
                <a:spcPts val="0"/>
              </a:spcBef>
              <a:spcAft>
                <a:spcPts val="0"/>
              </a:spcAft>
              <a:buClr>
                <a:schemeClr val="dk1"/>
              </a:buClr>
              <a:buSzPts val="2800"/>
              <a:buNone/>
            </a:pPr>
            <a:r>
              <a:rPr lang="en-US">
                <a:latin typeface="Arial"/>
                <a:ea typeface="Arial"/>
                <a:cs typeface="Arial"/>
                <a:sym typeface="Arial"/>
              </a:rPr>
              <a:t>1. Giới thiệu thành viên &amp; Phân công nhiệm vụ</a:t>
            </a:r>
            <a:endParaRPr>
              <a:latin typeface="Arial"/>
              <a:ea typeface="Arial"/>
              <a:cs typeface="Arial"/>
              <a:sym typeface="Arial"/>
            </a:endParaRPr>
          </a:p>
          <a:p>
            <a:pPr indent="-50800" lvl="0" marL="228600" rtl="0" algn="l">
              <a:lnSpc>
                <a:spcPct val="90000"/>
              </a:lnSpc>
              <a:spcBef>
                <a:spcPts val="0"/>
              </a:spcBef>
              <a:spcAft>
                <a:spcPts val="0"/>
              </a:spcAft>
              <a:buClr>
                <a:schemeClr val="dk1"/>
              </a:buClr>
              <a:buSzPts val="2800"/>
              <a:buNone/>
            </a:pPr>
            <a:r>
              <a:rPr lang="en-US">
                <a:solidFill>
                  <a:srgbClr val="FF0000"/>
                </a:solidFill>
                <a:latin typeface="Arial"/>
                <a:ea typeface="Arial"/>
                <a:cs typeface="Arial"/>
                <a:sym typeface="Arial"/>
              </a:rPr>
              <a:t>2. Giới thiệu đề tài</a:t>
            </a:r>
            <a:endParaRPr>
              <a:solidFill>
                <a:srgbClr val="FF0000"/>
              </a:solidFill>
              <a:latin typeface="Arial"/>
              <a:ea typeface="Arial"/>
              <a:cs typeface="Arial"/>
              <a:sym typeface="Arial"/>
            </a:endParaRPr>
          </a:p>
          <a:p>
            <a:pPr indent="-50800" lvl="0" marL="228600" rtl="0" algn="l">
              <a:lnSpc>
                <a:spcPct val="90000"/>
              </a:lnSpc>
              <a:spcBef>
                <a:spcPts val="0"/>
              </a:spcBef>
              <a:spcAft>
                <a:spcPts val="0"/>
              </a:spcAft>
              <a:buClr>
                <a:schemeClr val="dk1"/>
              </a:buClr>
              <a:buSzPts val="2800"/>
              <a:buNone/>
            </a:pPr>
            <a:r>
              <a:rPr lang="en-US">
                <a:latin typeface="Arial"/>
                <a:ea typeface="Arial"/>
                <a:cs typeface="Arial"/>
                <a:sym typeface="Arial"/>
              </a:rPr>
              <a:t>3. Timeline dự kiến</a:t>
            </a:r>
            <a:endParaRPr>
              <a:latin typeface="Arial"/>
              <a:ea typeface="Arial"/>
              <a:cs typeface="Arial"/>
              <a:sym typeface="Arial"/>
            </a:endParaRPr>
          </a:p>
          <a:p>
            <a:pPr indent="-50800" lvl="0" marL="228600" rtl="0" algn="l">
              <a:lnSpc>
                <a:spcPct val="90000"/>
              </a:lnSpc>
              <a:spcBef>
                <a:spcPts val="0"/>
              </a:spcBef>
              <a:spcAft>
                <a:spcPts val="0"/>
              </a:spcAft>
              <a:buClr>
                <a:schemeClr val="dk1"/>
              </a:buClr>
              <a:buSzPts val="2800"/>
              <a:buNone/>
            </a:pPr>
            <a:r>
              <a:rPr lang="en-US">
                <a:latin typeface="Arial"/>
                <a:ea typeface="Arial"/>
                <a:cs typeface="Arial"/>
                <a:sym typeface="Arial"/>
              </a:rPr>
              <a:t>4. Biểu đồ</a:t>
            </a:r>
            <a:endParaRPr>
              <a:latin typeface="Arial"/>
              <a:ea typeface="Arial"/>
              <a:cs typeface="Arial"/>
              <a:sym typeface="Arial"/>
            </a:endParaRPr>
          </a:p>
        </p:txBody>
      </p:sp>
      <p:sp>
        <p:nvSpPr>
          <p:cNvPr id="119" name="Google Shape;119;p7"/>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8"/>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en-US">
                <a:latin typeface="Arial"/>
                <a:ea typeface="Arial"/>
                <a:cs typeface="Arial"/>
                <a:sym typeface="Arial"/>
              </a:rPr>
              <a:t>2. Giới thiệu đề tài</a:t>
            </a:r>
            <a:endParaRPr>
              <a:latin typeface="Arial"/>
              <a:ea typeface="Arial"/>
              <a:cs typeface="Arial"/>
              <a:sym typeface="Arial"/>
            </a:endParaRPr>
          </a:p>
        </p:txBody>
      </p:sp>
      <p:sp>
        <p:nvSpPr>
          <p:cNvPr id="125" name="Google Shape;125;p8"/>
          <p:cNvSpPr txBox="1"/>
          <p:nvPr>
            <p:ph idx="1" type="body"/>
          </p:nvPr>
        </p:nvSpPr>
        <p:spPr>
          <a:xfrm>
            <a:off x="337539" y="1032510"/>
            <a:ext cx="11515725" cy="493871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latin typeface="Arial"/>
                <a:ea typeface="Arial"/>
                <a:cs typeface="Arial"/>
                <a:sym typeface="Arial"/>
              </a:rPr>
              <a:t> </a:t>
            </a:r>
            <a:r>
              <a:rPr b="1" lang="en-US">
                <a:latin typeface="Arial"/>
                <a:ea typeface="Arial"/>
                <a:cs typeface="Arial"/>
                <a:sym typeface="Arial"/>
              </a:rPr>
              <a:t>a. Đặt vấn đề</a:t>
            </a:r>
            <a:endParaRPr b="1">
              <a:latin typeface="Arial"/>
              <a:ea typeface="Arial"/>
              <a:cs typeface="Arial"/>
              <a:sym typeface="Arial"/>
            </a:endParaRPr>
          </a:p>
          <a:p>
            <a:pPr indent="-406400" lvl="0" marL="457200" rtl="0" algn="l">
              <a:lnSpc>
                <a:spcPct val="90000"/>
              </a:lnSpc>
              <a:spcBef>
                <a:spcPts val="0"/>
              </a:spcBef>
              <a:spcAft>
                <a:spcPts val="0"/>
              </a:spcAft>
              <a:buSzPts val="2800"/>
              <a:buFont typeface="Arial"/>
              <a:buChar char="-"/>
            </a:pPr>
            <a:r>
              <a:rPr lang="en-US">
                <a:latin typeface="Arial"/>
                <a:ea typeface="Arial"/>
                <a:cs typeface="Arial"/>
                <a:sym typeface="Arial"/>
              </a:rPr>
              <a:t>Thực trạng</a:t>
            </a:r>
            <a:endParaRPr>
              <a:latin typeface="Arial"/>
              <a:ea typeface="Arial"/>
              <a:cs typeface="Arial"/>
              <a:sym typeface="Arial"/>
            </a:endParaRPr>
          </a:p>
          <a:p>
            <a:pPr indent="-406400" lvl="0" marL="914400" rtl="0" algn="l">
              <a:lnSpc>
                <a:spcPct val="90000"/>
              </a:lnSpc>
              <a:spcBef>
                <a:spcPts val="0"/>
              </a:spcBef>
              <a:spcAft>
                <a:spcPts val="0"/>
              </a:spcAft>
              <a:buSzPts val="2800"/>
              <a:buFont typeface="Arial"/>
              <a:buChar char="+"/>
            </a:pPr>
            <a:r>
              <a:rPr lang="en-US"/>
              <a:t>Hiện nay, nhu cầu thuê trọ và thuê căn hộ tại các thành phố lớn ngày càng tăng cao do sự gia tăng số lượng sinh viên, người lao động và người dân có nhu cầu sinh sống, học tập và làm việc xa nhà.</a:t>
            </a:r>
            <a:endParaRPr/>
          </a:p>
          <a:p>
            <a:pPr indent="-406400" lvl="0" marL="914400" rtl="0" algn="l">
              <a:lnSpc>
                <a:spcPct val="90000"/>
              </a:lnSpc>
              <a:spcBef>
                <a:spcPts val="0"/>
              </a:spcBef>
              <a:spcAft>
                <a:spcPts val="0"/>
              </a:spcAft>
              <a:buSzPts val="2800"/>
              <a:buFont typeface="Arial"/>
              <a:buChar char="+"/>
            </a:pPr>
            <a:r>
              <a:rPr lang="en-US"/>
              <a:t>Cùng với đó, mô hình nhà trọ, phòng cho thuê và chung cư mini cũng ngày càng phát triển với số lượng phòng và khách thuê lớn. </a:t>
            </a:r>
            <a:endParaRPr/>
          </a:p>
          <a:p>
            <a:pPr indent="0" lvl="0" marL="508000" rtl="0" algn="l">
              <a:lnSpc>
                <a:spcPct val="90000"/>
              </a:lnSpc>
              <a:spcBef>
                <a:spcPts val="0"/>
              </a:spcBef>
              <a:spcAft>
                <a:spcPts val="0"/>
              </a:spcAft>
              <a:buSzPts val="2800"/>
              <a:buNone/>
            </a:pPr>
            <a:r>
              <a:rPr lang="en-US"/>
              <a:t>=&gt; Khi quy mô quản lý tăng lên, việc lưu trữ và cập nhật dữ liệu bằng phương pháp thủ công dễ dẫn đến tình trạng thông tin bị phân tán, khó tra cứu, dễ nhầm lẫn hoặc bỏ sót.</a:t>
            </a:r>
            <a:endParaRPr>
              <a:latin typeface="Arial"/>
              <a:ea typeface="Arial"/>
              <a:cs typeface="Arial"/>
              <a:sym typeface="Arial"/>
            </a:endParaRPr>
          </a:p>
        </p:txBody>
      </p:sp>
      <p:sp>
        <p:nvSpPr>
          <p:cNvPr id="126" name="Google Shape;126;p8"/>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9"/>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en-US">
                <a:latin typeface="Arial"/>
                <a:ea typeface="Arial"/>
                <a:cs typeface="Arial"/>
                <a:sym typeface="Arial"/>
              </a:rPr>
              <a:t>2. Giới thiệu đề tài</a:t>
            </a:r>
            <a:endParaRPr>
              <a:latin typeface="Arial"/>
              <a:ea typeface="Arial"/>
              <a:cs typeface="Arial"/>
              <a:sym typeface="Arial"/>
            </a:endParaRPr>
          </a:p>
        </p:txBody>
      </p:sp>
      <p:sp>
        <p:nvSpPr>
          <p:cNvPr id="132" name="Google Shape;132;p9"/>
          <p:cNvSpPr txBox="1"/>
          <p:nvPr>
            <p:ph idx="1" type="body"/>
          </p:nvPr>
        </p:nvSpPr>
        <p:spPr>
          <a:xfrm>
            <a:off x="337540" y="1032510"/>
            <a:ext cx="6407389" cy="4938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latin typeface="Arial"/>
                <a:ea typeface="Arial"/>
                <a:cs typeface="Arial"/>
                <a:sym typeface="Arial"/>
              </a:rPr>
              <a:t> </a:t>
            </a:r>
            <a:r>
              <a:rPr b="1" lang="en-US">
                <a:latin typeface="Arial"/>
                <a:ea typeface="Arial"/>
                <a:cs typeface="Arial"/>
                <a:sym typeface="Arial"/>
              </a:rPr>
              <a:t>a. Đặt vấn đề:</a:t>
            </a:r>
            <a:endParaRPr b="1">
              <a:latin typeface="Arial"/>
              <a:ea typeface="Arial"/>
              <a:cs typeface="Arial"/>
              <a:sym typeface="Arial"/>
            </a:endParaRPr>
          </a:p>
          <a:p>
            <a:pPr indent="-406400" lvl="0" marL="457200" marR="0" rtl="0" algn="l">
              <a:lnSpc>
                <a:spcPct val="90000"/>
              </a:lnSpc>
              <a:spcBef>
                <a:spcPts val="1000"/>
              </a:spcBef>
              <a:spcAft>
                <a:spcPts val="0"/>
              </a:spcAft>
              <a:buClr>
                <a:schemeClr val="dk1"/>
              </a:buClr>
              <a:buSzPts val="2800"/>
              <a:buFont typeface="Arial"/>
              <a:buChar char="•"/>
            </a:pPr>
            <a:r>
              <a:rPr lang="en-US">
                <a:latin typeface="Times New Roman"/>
                <a:ea typeface="Times New Roman"/>
                <a:cs typeface="Times New Roman"/>
                <a:sym typeface="Times New Roman"/>
              </a:rPr>
              <a:t>Giải pháp (mục tiêu): </a:t>
            </a:r>
            <a:endParaRPr>
              <a:latin typeface="Times New Roman"/>
              <a:ea typeface="Times New Roman"/>
              <a:cs typeface="Times New Roman"/>
              <a:sym typeface="Times New Roman"/>
            </a:endParaRPr>
          </a:p>
          <a:p>
            <a:pPr indent="-406400" lvl="0" marL="457200" rtl="0" algn="l">
              <a:lnSpc>
                <a:spcPct val="90000"/>
              </a:lnSpc>
              <a:spcBef>
                <a:spcPts val="1000"/>
              </a:spcBef>
              <a:spcAft>
                <a:spcPts val="0"/>
              </a:spcAft>
              <a:buSzPts val="2800"/>
              <a:buFont typeface="Times New Roman"/>
              <a:buChar char="-"/>
            </a:pPr>
            <a:r>
              <a:rPr lang="en-US">
                <a:latin typeface="Times New Roman"/>
                <a:ea typeface="Times New Roman"/>
                <a:cs typeface="Times New Roman"/>
                <a:sym typeface="Times New Roman"/>
              </a:rPr>
              <a:t>Xây dựng hệ thống có thể đồng bộ toàn bộ thông tin liên quan đến phòng, khách thuê, hợp đồng, chỉ số điện nước, hóa đơn và thanh toán trên một nền tảng. </a:t>
            </a:r>
            <a:endParaRPr>
              <a:latin typeface="Times New Roman"/>
              <a:ea typeface="Times New Roman"/>
              <a:cs typeface="Times New Roman"/>
              <a:sym typeface="Times New Roman"/>
            </a:endParaRPr>
          </a:p>
          <a:p>
            <a:pPr indent="-406400" lvl="0" marL="457200" rtl="0" algn="l">
              <a:lnSpc>
                <a:spcPct val="90000"/>
              </a:lnSpc>
              <a:spcBef>
                <a:spcPts val="1000"/>
              </a:spcBef>
              <a:spcAft>
                <a:spcPts val="0"/>
              </a:spcAft>
              <a:buSzPts val="2800"/>
              <a:buFont typeface="Times New Roman"/>
              <a:buChar char="-"/>
            </a:pPr>
            <a:r>
              <a:rPr lang="en-US">
                <a:latin typeface="Times New Roman"/>
                <a:ea typeface="Times New Roman"/>
                <a:cs typeface="Times New Roman"/>
                <a:sym typeface="Times New Roman"/>
              </a:rPr>
              <a:t>Đồng thời, phần mềm còn có thể hỗ trợ tìm kiếm, cập nhật, thống kê và theo dõi dữ liệu một cách nhanh chóng, chính xác, góp phần giảm thiểu các công việc thủ công và hạn chế sai sót trong quá trình quản lý.</a:t>
            </a:r>
            <a:endParaRPr>
              <a:latin typeface="Times New Roman"/>
              <a:ea typeface="Times New Roman"/>
              <a:cs typeface="Times New Roman"/>
              <a:sym typeface="Times New Roman"/>
            </a:endParaRPr>
          </a:p>
        </p:txBody>
      </p:sp>
      <p:sp>
        <p:nvSpPr>
          <p:cNvPr id="133" name="Google Shape;133;p9"/>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134" name="Google Shape;134;p9"/>
          <p:cNvPicPr preferRelativeResize="0"/>
          <p:nvPr/>
        </p:nvPicPr>
        <p:blipFill rotWithShape="1">
          <a:blip r:embed="rId3">
            <a:alphaModFix/>
          </a:blip>
          <a:srcRect b="0" l="0" r="0" t="0"/>
          <a:stretch/>
        </p:blipFill>
        <p:spPr>
          <a:xfrm>
            <a:off x="7098890" y="2291776"/>
            <a:ext cx="4611329" cy="28849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0"/>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en-US">
                <a:latin typeface="Arial"/>
                <a:ea typeface="Arial"/>
                <a:cs typeface="Arial"/>
                <a:sym typeface="Arial"/>
              </a:rPr>
              <a:t>2. Giới thiệu đề tài</a:t>
            </a:r>
            <a:endParaRPr>
              <a:latin typeface="Arial"/>
              <a:ea typeface="Arial"/>
              <a:cs typeface="Arial"/>
              <a:sym typeface="Arial"/>
            </a:endParaRPr>
          </a:p>
        </p:txBody>
      </p:sp>
      <p:sp>
        <p:nvSpPr>
          <p:cNvPr id="140" name="Google Shape;140;p10"/>
          <p:cNvSpPr txBox="1"/>
          <p:nvPr>
            <p:ph idx="1" type="body"/>
          </p:nvPr>
        </p:nvSpPr>
        <p:spPr>
          <a:xfrm>
            <a:off x="337539" y="1032510"/>
            <a:ext cx="11515800" cy="4938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latin typeface="Arial"/>
                <a:ea typeface="Arial"/>
                <a:cs typeface="Arial"/>
                <a:sym typeface="Arial"/>
              </a:rPr>
              <a:t> </a:t>
            </a:r>
            <a:r>
              <a:rPr b="1" lang="en-US">
                <a:latin typeface="Arial"/>
                <a:ea typeface="Arial"/>
                <a:cs typeface="Arial"/>
                <a:sym typeface="Arial"/>
              </a:rPr>
              <a:t>b. Đối tượng sử dụng:</a:t>
            </a:r>
            <a:endParaRPr b="1">
              <a:latin typeface="Arial"/>
              <a:ea typeface="Arial"/>
              <a:cs typeface="Arial"/>
              <a:sym typeface="Arial"/>
            </a:endParaRPr>
          </a:p>
          <a:p>
            <a:pPr indent="0" lvl="0" marL="0" rtl="0" algn="l">
              <a:lnSpc>
                <a:spcPct val="90000"/>
              </a:lnSpc>
              <a:spcBef>
                <a:spcPts val="0"/>
              </a:spcBef>
              <a:spcAft>
                <a:spcPts val="0"/>
              </a:spcAft>
              <a:buSzPts val="2800"/>
              <a:buNone/>
            </a:pPr>
            <a:r>
              <a:t/>
            </a:r>
            <a:endParaRPr>
              <a:latin typeface="Arial"/>
              <a:ea typeface="Arial"/>
              <a:cs typeface="Arial"/>
              <a:sym typeface="Arial"/>
            </a:endParaRPr>
          </a:p>
        </p:txBody>
      </p:sp>
      <p:sp>
        <p:nvSpPr>
          <p:cNvPr id="141" name="Google Shape;141;p10"/>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42" name="Google Shape;142;p10"/>
          <p:cNvSpPr txBox="1"/>
          <p:nvPr/>
        </p:nvSpPr>
        <p:spPr>
          <a:xfrm>
            <a:off x="7032821" y="3236426"/>
            <a:ext cx="2906700" cy="1304700"/>
          </a:xfrm>
          <a:prstGeom prst="rect">
            <a:avLst/>
          </a:prstGeom>
          <a:noFill/>
          <a:ln>
            <a:noFill/>
          </a:ln>
        </p:spPr>
        <p:txBody>
          <a:bodyPr anchorCtr="0" anchor="t" bIns="91425" lIns="91425" spcFirstLastPara="1" rIns="91425" wrap="square" tIns="91425">
            <a:noAutofit/>
          </a:bodyPr>
          <a:lstStyle/>
          <a:p>
            <a:pPr indent="-304800" lvl="0" marL="457200" marR="0" rtl="0" algn="ctr">
              <a:lnSpc>
                <a:spcPct val="100000"/>
              </a:lnSpc>
              <a:spcBef>
                <a:spcPts val="0"/>
              </a:spcBef>
              <a:spcAft>
                <a:spcPts val="0"/>
              </a:spcAft>
              <a:buClr>
                <a:schemeClr val="dk1"/>
              </a:buClr>
              <a:buSzPts val="1200"/>
              <a:buFont typeface="Arial"/>
              <a:buNone/>
            </a:pPr>
            <a:r>
              <a:rPr b="0" i="0" lang="en-US" sz="1800" u="none" cap="none" strike="noStrike">
                <a:solidFill>
                  <a:schemeClr val="dk1"/>
                </a:solidFill>
                <a:latin typeface="Arial"/>
                <a:ea typeface="Arial"/>
                <a:cs typeface="Arial"/>
                <a:sym typeface="Arial"/>
              </a:rPr>
              <a:t>Xem thông tin phòng.</a:t>
            </a:r>
            <a:endParaRPr b="0" i="0" sz="1800" u="none" cap="none" strike="noStrike">
              <a:solidFill>
                <a:schemeClr val="dk1"/>
              </a:solidFill>
              <a:latin typeface="Arial"/>
              <a:ea typeface="Arial"/>
              <a:cs typeface="Arial"/>
              <a:sym typeface="Arial"/>
            </a:endParaRPr>
          </a:p>
          <a:p>
            <a:pPr indent="-304800" lvl="0" marL="457200" marR="0" rtl="0" algn="ctr">
              <a:lnSpc>
                <a:spcPct val="100000"/>
              </a:lnSpc>
              <a:spcBef>
                <a:spcPts val="0"/>
              </a:spcBef>
              <a:spcAft>
                <a:spcPts val="0"/>
              </a:spcAft>
              <a:buClr>
                <a:schemeClr val="dk1"/>
              </a:buClr>
              <a:buSzPts val="1200"/>
              <a:buFont typeface="Arial"/>
              <a:buNone/>
            </a:pPr>
            <a:r>
              <a:rPr b="0" i="0" lang="en-US" sz="1800" u="none" cap="none" strike="noStrike">
                <a:solidFill>
                  <a:schemeClr val="dk1"/>
                </a:solidFill>
                <a:latin typeface="Arial"/>
                <a:ea typeface="Arial"/>
                <a:cs typeface="Arial"/>
                <a:sym typeface="Arial"/>
              </a:rPr>
              <a:t>Xem hợp đồng.</a:t>
            </a:r>
            <a:endParaRPr b="0" i="0" sz="1800" u="none" cap="none" strike="noStrike">
              <a:solidFill>
                <a:schemeClr val="dk1"/>
              </a:solidFill>
              <a:latin typeface="Arial"/>
              <a:ea typeface="Arial"/>
              <a:cs typeface="Arial"/>
              <a:sym typeface="Arial"/>
            </a:endParaRPr>
          </a:p>
          <a:p>
            <a:pPr indent="-304800" lvl="0" marL="457200" marR="0" rtl="0" algn="ctr">
              <a:lnSpc>
                <a:spcPct val="100000"/>
              </a:lnSpc>
              <a:spcBef>
                <a:spcPts val="0"/>
              </a:spcBef>
              <a:spcAft>
                <a:spcPts val="0"/>
              </a:spcAft>
              <a:buClr>
                <a:schemeClr val="dk1"/>
              </a:buClr>
              <a:buSzPts val="1200"/>
              <a:buFont typeface="Arial"/>
              <a:buNone/>
            </a:pPr>
            <a:r>
              <a:rPr b="0" i="0" lang="en-US" sz="1800" u="none" cap="none" strike="noStrike">
                <a:solidFill>
                  <a:schemeClr val="dk1"/>
                </a:solidFill>
                <a:latin typeface="Arial"/>
                <a:ea typeface="Arial"/>
                <a:cs typeface="Arial"/>
                <a:sym typeface="Arial"/>
              </a:rPr>
              <a:t>Xem hóa đơn.</a:t>
            </a:r>
            <a:endParaRPr b="0" i="0" sz="1800" u="none" cap="none" strike="noStrike">
              <a:solidFill>
                <a:schemeClr val="dk1"/>
              </a:solidFill>
              <a:latin typeface="Arial"/>
              <a:ea typeface="Arial"/>
              <a:cs typeface="Arial"/>
              <a:sym typeface="Arial"/>
            </a:endParaRPr>
          </a:p>
          <a:p>
            <a:pPr indent="-304800" lvl="0" marL="457200" marR="0" rtl="0" algn="ctr">
              <a:lnSpc>
                <a:spcPct val="100000"/>
              </a:lnSpc>
              <a:spcBef>
                <a:spcPts val="0"/>
              </a:spcBef>
              <a:spcAft>
                <a:spcPts val="0"/>
              </a:spcAft>
              <a:buClr>
                <a:schemeClr val="dk1"/>
              </a:buClr>
              <a:buSzPts val="1200"/>
              <a:buFont typeface="Arial"/>
              <a:buNone/>
            </a:pPr>
            <a:r>
              <a:rPr b="0" i="0" lang="en-US" sz="1800" u="none" cap="none" strike="noStrike">
                <a:solidFill>
                  <a:schemeClr val="dk1"/>
                </a:solidFill>
                <a:latin typeface="Arial"/>
                <a:ea typeface="Arial"/>
                <a:cs typeface="Arial"/>
                <a:sym typeface="Arial"/>
              </a:rPr>
              <a:t>Xem số điện, nước.</a:t>
            </a:r>
            <a:endParaRPr b="0" i="0" sz="1800" u="none" cap="none" strike="noStrike">
              <a:solidFill>
                <a:schemeClr val="dk1"/>
              </a:solidFill>
              <a:latin typeface="Arial"/>
              <a:ea typeface="Arial"/>
              <a:cs typeface="Arial"/>
              <a:sym typeface="Arial"/>
            </a:endParaRPr>
          </a:p>
          <a:p>
            <a:pPr indent="-304800" lvl="0" marL="457200" marR="0" rtl="0" algn="ctr">
              <a:lnSpc>
                <a:spcPct val="100000"/>
              </a:lnSpc>
              <a:spcBef>
                <a:spcPts val="0"/>
              </a:spcBef>
              <a:spcAft>
                <a:spcPts val="0"/>
              </a:spcAft>
              <a:buClr>
                <a:schemeClr val="dk1"/>
              </a:buClr>
              <a:buSzPts val="1200"/>
              <a:buFont typeface="Arial"/>
              <a:buNone/>
            </a:pPr>
            <a:r>
              <a:rPr b="0" i="0" lang="en-US" sz="1800" u="none" cap="none" strike="noStrike">
                <a:solidFill>
                  <a:schemeClr val="dk1"/>
                </a:solidFill>
                <a:latin typeface="Arial"/>
                <a:ea typeface="Arial"/>
                <a:cs typeface="Arial"/>
                <a:sym typeface="Arial"/>
              </a:rPr>
              <a:t>Xem lịch sử thanh toán.</a:t>
            </a:r>
            <a:endParaRPr b="0" i="0" sz="1800" u="none" cap="none" strike="noStrike">
              <a:solidFill>
                <a:schemeClr val="dk1"/>
              </a:solidFill>
              <a:latin typeface="Arial"/>
              <a:ea typeface="Arial"/>
              <a:cs typeface="Arial"/>
              <a:sym typeface="Arial"/>
            </a:endParaRPr>
          </a:p>
          <a:p>
            <a:pPr indent="-304800" lvl="0" marL="457200" marR="0" rtl="0" algn="ctr">
              <a:lnSpc>
                <a:spcPct val="100000"/>
              </a:lnSpc>
              <a:spcBef>
                <a:spcPts val="0"/>
              </a:spcBef>
              <a:spcAft>
                <a:spcPts val="0"/>
              </a:spcAft>
              <a:buClr>
                <a:schemeClr val="dk1"/>
              </a:buClr>
              <a:buSzPts val="1200"/>
              <a:buFont typeface="Arial"/>
              <a:buNone/>
            </a:pPr>
            <a:r>
              <a:rPr b="0" i="0" lang="en-US" sz="1800" u="none" cap="none" strike="noStrike">
                <a:solidFill>
                  <a:schemeClr val="dk1"/>
                </a:solidFill>
                <a:latin typeface="Arial"/>
                <a:ea typeface="Arial"/>
                <a:cs typeface="Arial"/>
                <a:sym typeface="Arial"/>
              </a:rPr>
              <a:t>Gửi yêu cầu sửa chữa.</a:t>
            </a:r>
            <a:endParaRPr b="0" i="0" sz="1800" u="none" cap="none" strike="noStrike">
              <a:solidFill>
                <a:schemeClr val="dk1"/>
              </a:solidFill>
              <a:latin typeface="Arial"/>
              <a:ea typeface="Arial"/>
              <a:cs typeface="Arial"/>
              <a:sym typeface="Arial"/>
            </a:endParaRPr>
          </a:p>
          <a:p>
            <a:pPr indent="-304800" lvl="0" marL="457200" marR="0" rtl="0" algn="ctr">
              <a:lnSpc>
                <a:spcPct val="100000"/>
              </a:lnSpc>
              <a:spcBef>
                <a:spcPts val="0"/>
              </a:spcBef>
              <a:spcAft>
                <a:spcPts val="0"/>
              </a:spcAft>
              <a:buClr>
                <a:schemeClr val="dk1"/>
              </a:buClr>
              <a:buSzPts val="1200"/>
              <a:buFont typeface="Arial"/>
              <a:buNone/>
            </a:pPr>
            <a:r>
              <a:rPr b="0" i="0" lang="en-US" sz="1800" u="none" cap="none" strike="noStrike">
                <a:solidFill>
                  <a:schemeClr val="dk1"/>
                </a:solidFill>
                <a:latin typeface="Arial"/>
                <a:ea typeface="Arial"/>
                <a:cs typeface="Arial"/>
                <a:sym typeface="Arial"/>
              </a:rPr>
              <a:t>Nhận thông báo từ chủ trọ.</a:t>
            </a:r>
            <a:endParaRPr b="0" i="0" sz="1800" u="none" cap="none" strike="noStrike">
              <a:solidFill>
                <a:schemeClr val="dk1"/>
              </a:solidFill>
              <a:latin typeface="Arial"/>
              <a:ea typeface="Arial"/>
              <a:cs typeface="Arial"/>
              <a:sym typeface="Arial"/>
            </a:endParaRPr>
          </a:p>
        </p:txBody>
      </p:sp>
      <p:sp>
        <p:nvSpPr>
          <p:cNvPr id="143" name="Google Shape;143;p10"/>
          <p:cNvSpPr txBox="1"/>
          <p:nvPr/>
        </p:nvSpPr>
        <p:spPr>
          <a:xfrm>
            <a:off x="1791082" y="3236824"/>
            <a:ext cx="3484904" cy="1717800"/>
          </a:xfrm>
          <a:prstGeom prst="rect">
            <a:avLst/>
          </a:prstGeom>
          <a:noFill/>
          <a:ln>
            <a:noFill/>
          </a:ln>
        </p:spPr>
        <p:txBody>
          <a:bodyPr anchorCtr="0" anchor="t" bIns="91425" lIns="91425" spcFirstLastPara="1" rIns="91425" wrap="square" tIns="91425">
            <a:noAutofit/>
          </a:bodyPr>
          <a:lstStyle/>
          <a:p>
            <a:pPr indent="-304800" lvl="0" marL="457200" marR="0" rtl="0" algn="ctr">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Quản lý khu nhà trọ.</a:t>
            </a:r>
            <a:endParaRPr/>
          </a:p>
          <a:p>
            <a:pPr indent="-304800" lvl="0" marL="457200" marR="0" rtl="0" algn="ctr">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Quản lý phòng.</a:t>
            </a:r>
            <a:endParaRPr/>
          </a:p>
          <a:p>
            <a:pPr indent="-304800" lvl="0" marL="457200" marR="0" rtl="0" algn="ctr">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Quản lý người thuê.</a:t>
            </a:r>
            <a:endParaRPr/>
          </a:p>
          <a:p>
            <a:pPr indent="-304800" lvl="0" marL="457200" marR="0" rtl="0" algn="ctr">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Quản lý hợp đồng.</a:t>
            </a:r>
            <a:endParaRPr/>
          </a:p>
          <a:p>
            <a:pPr indent="-304800" lvl="0" marL="457200" marR="0" rtl="0" algn="ctr">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Thiết lập giá thuê và các loại phí.</a:t>
            </a:r>
            <a:endParaRPr/>
          </a:p>
          <a:p>
            <a:pPr indent="-304800" lvl="0" marL="457200" marR="0" rtl="0" algn="ctr">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Xem và xác nhận thanh toán.</a:t>
            </a:r>
            <a:endParaRPr/>
          </a:p>
          <a:p>
            <a:pPr indent="-304800" lvl="0" marL="457200" marR="0" rtl="0" algn="ctr">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Quản lý người dùng hệ thống.</a:t>
            </a:r>
            <a:endParaRPr/>
          </a:p>
          <a:p>
            <a:pPr indent="-304800" lvl="0" marL="457200" marR="0" rtl="0" algn="ctr">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Xem báo cáo, thống kê.</a:t>
            </a:r>
            <a:endParaRPr/>
          </a:p>
        </p:txBody>
      </p:sp>
      <p:sp>
        <p:nvSpPr>
          <p:cNvPr id="144" name="Google Shape;144;p10"/>
          <p:cNvSpPr txBox="1"/>
          <p:nvPr/>
        </p:nvSpPr>
        <p:spPr>
          <a:xfrm>
            <a:off x="2079584" y="2865595"/>
            <a:ext cx="2907900" cy="4845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b="1" i="0" lang="en-US" sz="2400" u="none" cap="none" strike="noStrike">
                <a:solidFill>
                  <a:srgbClr val="000000"/>
                </a:solidFill>
                <a:latin typeface="Times New Roman"/>
                <a:ea typeface="Times New Roman"/>
                <a:cs typeface="Times New Roman"/>
                <a:sym typeface="Times New Roman"/>
              </a:rPr>
              <a:t>Chủ trọ</a:t>
            </a:r>
            <a:endParaRPr b="1" i="0" sz="2400" u="none" cap="none" strike="noStrike">
              <a:solidFill>
                <a:srgbClr val="000000"/>
              </a:solidFill>
              <a:latin typeface="Times New Roman"/>
              <a:ea typeface="Times New Roman"/>
              <a:cs typeface="Times New Roman"/>
              <a:sym typeface="Times New Roman"/>
            </a:endParaRPr>
          </a:p>
        </p:txBody>
      </p:sp>
      <p:sp>
        <p:nvSpPr>
          <p:cNvPr id="145" name="Google Shape;145;p10"/>
          <p:cNvSpPr txBox="1"/>
          <p:nvPr/>
        </p:nvSpPr>
        <p:spPr>
          <a:xfrm>
            <a:off x="7061588" y="2887414"/>
            <a:ext cx="2906700" cy="4845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Người thuê</a:t>
            </a:r>
            <a:endParaRPr/>
          </a:p>
        </p:txBody>
      </p:sp>
      <p:sp>
        <p:nvSpPr>
          <p:cNvPr id="146" name="Google Shape;146;p10"/>
          <p:cNvSpPr/>
          <p:nvPr/>
        </p:nvSpPr>
        <p:spPr>
          <a:xfrm>
            <a:off x="3169944" y="2007153"/>
            <a:ext cx="727200" cy="7272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10"/>
          <p:cNvSpPr/>
          <p:nvPr/>
        </p:nvSpPr>
        <p:spPr>
          <a:xfrm>
            <a:off x="8122585" y="2007156"/>
            <a:ext cx="727200" cy="7272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800" u="none" cap="none" strike="noStrike">
              <a:solidFill>
                <a:srgbClr val="000000"/>
              </a:solidFill>
              <a:latin typeface="Arial"/>
              <a:ea typeface="Arial"/>
              <a:cs typeface="Arial"/>
              <a:sym typeface="Arial"/>
            </a:endParaRPr>
          </a:p>
        </p:txBody>
      </p:sp>
      <p:sp>
        <p:nvSpPr>
          <p:cNvPr id="148" name="Google Shape;148;p10"/>
          <p:cNvSpPr/>
          <p:nvPr/>
        </p:nvSpPr>
        <p:spPr>
          <a:xfrm>
            <a:off x="3304934" y="2142157"/>
            <a:ext cx="457202" cy="457191"/>
          </a:xfrm>
          <a:custGeom>
            <a:rect b="b" l="l" r="r" t="t"/>
            <a:pathLst>
              <a:path extrusionOk="0" h="11573" w="11574">
                <a:moveTo>
                  <a:pt x="10680" y="333"/>
                </a:moveTo>
                <a:cubicBezTo>
                  <a:pt x="10990" y="333"/>
                  <a:pt x="11228" y="583"/>
                  <a:pt x="11228" y="881"/>
                </a:cubicBezTo>
                <a:lnTo>
                  <a:pt x="11228" y="5620"/>
                </a:lnTo>
                <a:lnTo>
                  <a:pt x="11037" y="5620"/>
                </a:lnTo>
                <a:cubicBezTo>
                  <a:pt x="10954" y="5620"/>
                  <a:pt x="10871" y="5691"/>
                  <a:pt x="10871" y="5787"/>
                </a:cubicBezTo>
                <a:cubicBezTo>
                  <a:pt x="10871" y="5870"/>
                  <a:pt x="10954" y="5953"/>
                  <a:pt x="11037" y="5953"/>
                </a:cubicBezTo>
                <a:lnTo>
                  <a:pt x="11228" y="5953"/>
                </a:lnTo>
                <a:lnTo>
                  <a:pt x="11228" y="10680"/>
                </a:lnTo>
                <a:cubicBezTo>
                  <a:pt x="11228" y="10990"/>
                  <a:pt x="10978" y="11228"/>
                  <a:pt x="10680" y="11228"/>
                </a:cubicBezTo>
                <a:lnTo>
                  <a:pt x="5953" y="11228"/>
                </a:lnTo>
                <a:lnTo>
                  <a:pt x="5953" y="9406"/>
                </a:lnTo>
                <a:cubicBezTo>
                  <a:pt x="5953" y="9108"/>
                  <a:pt x="5715" y="8870"/>
                  <a:pt x="5418" y="8870"/>
                </a:cubicBezTo>
                <a:lnTo>
                  <a:pt x="5060" y="8870"/>
                </a:lnTo>
                <a:cubicBezTo>
                  <a:pt x="4834" y="8870"/>
                  <a:pt x="4644" y="8954"/>
                  <a:pt x="4525" y="9108"/>
                </a:cubicBezTo>
                <a:cubicBezTo>
                  <a:pt x="4358" y="9299"/>
                  <a:pt x="4132" y="9406"/>
                  <a:pt x="3882" y="9406"/>
                </a:cubicBezTo>
                <a:cubicBezTo>
                  <a:pt x="3632" y="9406"/>
                  <a:pt x="3382" y="9287"/>
                  <a:pt x="3239" y="9085"/>
                </a:cubicBezTo>
                <a:cubicBezTo>
                  <a:pt x="3072" y="8894"/>
                  <a:pt x="3013" y="8644"/>
                  <a:pt x="3072" y="8394"/>
                </a:cubicBezTo>
                <a:cubicBezTo>
                  <a:pt x="3132" y="8073"/>
                  <a:pt x="3405" y="7822"/>
                  <a:pt x="3727" y="7751"/>
                </a:cubicBezTo>
                <a:cubicBezTo>
                  <a:pt x="3781" y="7740"/>
                  <a:pt x="3835" y="7735"/>
                  <a:pt x="3889" y="7735"/>
                </a:cubicBezTo>
                <a:cubicBezTo>
                  <a:pt x="4129" y="7735"/>
                  <a:pt x="4357" y="7842"/>
                  <a:pt x="4513" y="8037"/>
                </a:cubicBezTo>
                <a:cubicBezTo>
                  <a:pt x="4656" y="8192"/>
                  <a:pt x="4846" y="8287"/>
                  <a:pt x="5049" y="8287"/>
                </a:cubicBezTo>
                <a:lnTo>
                  <a:pt x="5430" y="8287"/>
                </a:lnTo>
                <a:cubicBezTo>
                  <a:pt x="5727" y="8287"/>
                  <a:pt x="5965" y="8049"/>
                  <a:pt x="5965" y="7751"/>
                </a:cubicBezTo>
                <a:lnTo>
                  <a:pt x="5965" y="5917"/>
                </a:lnTo>
                <a:lnTo>
                  <a:pt x="7799" y="5917"/>
                </a:lnTo>
                <a:cubicBezTo>
                  <a:pt x="7894" y="5917"/>
                  <a:pt x="7989" y="6001"/>
                  <a:pt x="7989" y="6108"/>
                </a:cubicBezTo>
                <a:lnTo>
                  <a:pt x="7989" y="6477"/>
                </a:lnTo>
                <a:cubicBezTo>
                  <a:pt x="7989" y="6584"/>
                  <a:pt x="7942" y="6691"/>
                  <a:pt x="7858" y="6763"/>
                </a:cubicBezTo>
                <a:cubicBezTo>
                  <a:pt x="7525" y="7037"/>
                  <a:pt x="7382" y="7453"/>
                  <a:pt x="7454" y="7882"/>
                </a:cubicBezTo>
                <a:cubicBezTo>
                  <a:pt x="7537" y="8346"/>
                  <a:pt x="7894" y="8704"/>
                  <a:pt x="8347" y="8799"/>
                </a:cubicBezTo>
                <a:cubicBezTo>
                  <a:pt x="8430" y="8823"/>
                  <a:pt x="8513" y="8835"/>
                  <a:pt x="8597" y="8835"/>
                </a:cubicBezTo>
                <a:cubicBezTo>
                  <a:pt x="8870" y="8835"/>
                  <a:pt x="9120" y="8739"/>
                  <a:pt x="9347" y="8561"/>
                </a:cubicBezTo>
                <a:cubicBezTo>
                  <a:pt x="9609" y="8346"/>
                  <a:pt x="9775" y="8013"/>
                  <a:pt x="9775" y="7656"/>
                </a:cubicBezTo>
                <a:cubicBezTo>
                  <a:pt x="9775" y="7311"/>
                  <a:pt x="9621" y="6977"/>
                  <a:pt x="9347" y="6751"/>
                </a:cubicBezTo>
                <a:cubicBezTo>
                  <a:pt x="9263" y="6691"/>
                  <a:pt x="9228" y="6584"/>
                  <a:pt x="9228" y="6465"/>
                </a:cubicBezTo>
                <a:lnTo>
                  <a:pt x="9228" y="6108"/>
                </a:lnTo>
                <a:cubicBezTo>
                  <a:pt x="9228" y="6001"/>
                  <a:pt x="9311" y="5917"/>
                  <a:pt x="9418" y="5917"/>
                </a:cubicBezTo>
                <a:lnTo>
                  <a:pt x="10323" y="5917"/>
                </a:lnTo>
                <a:cubicBezTo>
                  <a:pt x="10418" y="5917"/>
                  <a:pt x="10490" y="5846"/>
                  <a:pt x="10490" y="5751"/>
                </a:cubicBezTo>
                <a:cubicBezTo>
                  <a:pt x="10490" y="5667"/>
                  <a:pt x="10418" y="5584"/>
                  <a:pt x="10323" y="5584"/>
                </a:cubicBezTo>
                <a:lnTo>
                  <a:pt x="9418" y="5584"/>
                </a:lnTo>
                <a:cubicBezTo>
                  <a:pt x="9120" y="5584"/>
                  <a:pt x="8882" y="5822"/>
                  <a:pt x="8882" y="6120"/>
                </a:cubicBezTo>
                <a:lnTo>
                  <a:pt x="8882" y="6477"/>
                </a:lnTo>
                <a:cubicBezTo>
                  <a:pt x="8882" y="6703"/>
                  <a:pt x="8966" y="6894"/>
                  <a:pt x="9120" y="7013"/>
                </a:cubicBezTo>
                <a:cubicBezTo>
                  <a:pt x="9311" y="7180"/>
                  <a:pt x="9418" y="7406"/>
                  <a:pt x="9418" y="7656"/>
                </a:cubicBezTo>
                <a:cubicBezTo>
                  <a:pt x="9418" y="7906"/>
                  <a:pt x="9299" y="8144"/>
                  <a:pt x="9109" y="8299"/>
                </a:cubicBezTo>
                <a:cubicBezTo>
                  <a:pt x="8957" y="8423"/>
                  <a:pt x="8780" y="8488"/>
                  <a:pt x="8595" y="8488"/>
                </a:cubicBezTo>
                <a:cubicBezTo>
                  <a:pt x="8533" y="8488"/>
                  <a:pt x="8469" y="8480"/>
                  <a:pt x="8406" y="8465"/>
                </a:cubicBezTo>
                <a:cubicBezTo>
                  <a:pt x="8097" y="8406"/>
                  <a:pt x="7835" y="8132"/>
                  <a:pt x="7763" y="7811"/>
                </a:cubicBezTo>
                <a:cubicBezTo>
                  <a:pt x="7704" y="7513"/>
                  <a:pt x="7811" y="7215"/>
                  <a:pt x="8049" y="7013"/>
                </a:cubicBezTo>
                <a:cubicBezTo>
                  <a:pt x="8216" y="6882"/>
                  <a:pt x="8299" y="6691"/>
                  <a:pt x="8299" y="6477"/>
                </a:cubicBezTo>
                <a:lnTo>
                  <a:pt x="8299" y="6108"/>
                </a:lnTo>
                <a:cubicBezTo>
                  <a:pt x="8299" y="5810"/>
                  <a:pt x="8061" y="5572"/>
                  <a:pt x="7763" y="5572"/>
                </a:cubicBezTo>
                <a:lnTo>
                  <a:pt x="5953" y="5572"/>
                </a:lnTo>
                <a:lnTo>
                  <a:pt x="5953" y="3739"/>
                </a:lnTo>
                <a:cubicBezTo>
                  <a:pt x="5953" y="3643"/>
                  <a:pt x="6037" y="3548"/>
                  <a:pt x="6144" y="3548"/>
                </a:cubicBezTo>
                <a:lnTo>
                  <a:pt x="6513" y="3548"/>
                </a:lnTo>
                <a:cubicBezTo>
                  <a:pt x="6620" y="3548"/>
                  <a:pt x="6727" y="3596"/>
                  <a:pt x="6799" y="3679"/>
                </a:cubicBezTo>
                <a:cubicBezTo>
                  <a:pt x="7017" y="3956"/>
                  <a:pt x="7342" y="4102"/>
                  <a:pt x="7698" y="4102"/>
                </a:cubicBezTo>
                <a:cubicBezTo>
                  <a:pt x="7770" y="4102"/>
                  <a:pt x="7844" y="4096"/>
                  <a:pt x="7918" y="4084"/>
                </a:cubicBezTo>
                <a:cubicBezTo>
                  <a:pt x="8370" y="4001"/>
                  <a:pt x="8728" y="3643"/>
                  <a:pt x="8835" y="3191"/>
                </a:cubicBezTo>
                <a:cubicBezTo>
                  <a:pt x="8906" y="2834"/>
                  <a:pt x="8823" y="2477"/>
                  <a:pt x="8597" y="2215"/>
                </a:cubicBezTo>
                <a:cubicBezTo>
                  <a:pt x="8370" y="1941"/>
                  <a:pt x="8049" y="1774"/>
                  <a:pt x="7692" y="1774"/>
                </a:cubicBezTo>
                <a:cubicBezTo>
                  <a:pt x="7346" y="1774"/>
                  <a:pt x="7001" y="1929"/>
                  <a:pt x="6775" y="2215"/>
                </a:cubicBezTo>
                <a:cubicBezTo>
                  <a:pt x="6715" y="2286"/>
                  <a:pt x="6620" y="2334"/>
                  <a:pt x="6501" y="2334"/>
                </a:cubicBezTo>
                <a:lnTo>
                  <a:pt x="6144" y="2334"/>
                </a:lnTo>
                <a:cubicBezTo>
                  <a:pt x="6037" y="2334"/>
                  <a:pt x="5941" y="2238"/>
                  <a:pt x="5941" y="2131"/>
                </a:cubicBezTo>
                <a:lnTo>
                  <a:pt x="5941" y="1226"/>
                </a:lnTo>
                <a:cubicBezTo>
                  <a:pt x="5941" y="1143"/>
                  <a:pt x="5870" y="1060"/>
                  <a:pt x="5787" y="1060"/>
                </a:cubicBezTo>
                <a:cubicBezTo>
                  <a:pt x="5691" y="1060"/>
                  <a:pt x="5620" y="1143"/>
                  <a:pt x="5620" y="1226"/>
                </a:cubicBezTo>
                <a:lnTo>
                  <a:pt x="5620" y="2131"/>
                </a:lnTo>
                <a:cubicBezTo>
                  <a:pt x="5620" y="2429"/>
                  <a:pt x="5858" y="2667"/>
                  <a:pt x="6156" y="2667"/>
                </a:cubicBezTo>
                <a:lnTo>
                  <a:pt x="6513" y="2667"/>
                </a:lnTo>
                <a:cubicBezTo>
                  <a:pt x="6739" y="2667"/>
                  <a:pt x="6930" y="2584"/>
                  <a:pt x="7049" y="2429"/>
                </a:cubicBezTo>
                <a:cubicBezTo>
                  <a:pt x="7215" y="2238"/>
                  <a:pt x="7430" y="2131"/>
                  <a:pt x="7692" y="2131"/>
                </a:cubicBezTo>
                <a:cubicBezTo>
                  <a:pt x="7942" y="2131"/>
                  <a:pt x="8180" y="2250"/>
                  <a:pt x="8323" y="2453"/>
                </a:cubicBezTo>
                <a:cubicBezTo>
                  <a:pt x="8489" y="2643"/>
                  <a:pt x="8549" y="2893"/>
                  <a:pt x="8489" y="3143"/>
                </a:cubicBezTo>
                <a:cubicBezTo>
                  <a:pt x="8430" y="3465"/>
                  <a:pt x="8168" y="3715"/>
                  <a:pt x="7835" y="3786"/>
                </a:cubicBezTo>
                <a:cubicBezTo>
                  <a:pt x="7780" y="3797"/>
                  <a:pt x="7726" y="3802"/>
                  <a:pt x="7673" y="3802"/>
                </a:cubicBezTo>
                <a:cubicBezTo>
                  <a:pt x="7432" y="3802"/>
                  <a:pt x="7205" y="3695"/>
                  <a:pt x="7049" y="3501"/>
                </a:cubicBezTo>
                <a:cubicBezTo>
                  <a:pt x="6918" y="3346"/>
                  <a:pt x="6727" y="3250"/>
                  <a:pt x="6513" y="3250"/>
                </a:cubicBezTo>
                <a:lnTo>
                  <a:pt x="6144" y="3250"/>
                </a:lnTo>
                <a:cubicBezTo>
                  <a:pt x="5846" y="3250"/>
                  <a:pt x="5608" y="3489"/>
                  <a:pt x="5608" y="3786"/>
                </a:cubicBezTo>
                <a:lnTo>
                  <a:pt x="5608" y="5620"/>
                </a:lnTo>
                <a:lnTo>
                  <a:pt x="3775" y="5620"/>
                </a:lnTo>
                <a:cubicBezTo>
                  <a:pt x="3667" y="5620"/>
                  <a:pt x="3584" y="5525"/>
                  <a:pt x="3584" y="5429"/>
                </a:cubicBezTo>
                <a:lnTo>
                  <a:pt x="3584" y="5048"/>
                </a:lnTo>
                <a:cubicBezTo>
                  <a:pt x="3584" y="4953"/>
                  <a:pt x="3620" y="4846"/>
                  <a:pt x="3715" y="4774"/>
                </a:cubicBezTo>
                <a:cubicBezTo>
                  <a:pt x="4036" y="4501"/>
                  <a:pt x="4191" y="4084"/>
                  <a:pt x="4120" y="3655"/>
                </a:cubicBezTo>
                <a:cubicBezTo>
                  <a:pt x="4025" y="3191"/>
                  <a:pt x="3667" y="2834"/>
                  <a:pt x="3227" y="2727"/>
                </a:cubicBezTo>
                <a:cubicBezTo>
                  <a:pt x="3148" y="2711"/>
                  <a:pt x="3069" y="2703"/>
                  <a:pt x="2991" y="2703"/>
                </a:cubicBezTo>
                <a:cubicBezTo>
                  <a:pt x="2716" y="2703"/>
                  <a:pt x="2452" y="2798"/>
                  <a:pt x="2239" y="2965"/>
                </a:cubicBezTo>
                <a:cubicBezTo>
                  <a:pt x="1977" y="3191"/>
                  <a:pt x="1810" y="3524"/>
                  <a:pt x="1810" y="3882"/>
                </a:cubicBezTo>
                <a:cubicBezTo>
                  <a:pt x="1810" y="4215"/>
                  <a:pt x="1953" y="4560"/>
                  <a:pt x="2239" y="4786"/>
                </a:cubicBezTo>
                <a:cubicBezTo>
                  <a:pt x="2310" y="4846"/>
                  <a:pt x="2358" y="4953"/>
                  <a:pt x="2358" y="5072"/>
                </a:cubicBezTo>
                <a:lnTo>
                  <a:pt x="2358" y="5429"/>
                </a:lnTo>
                <a:cubicBezTo>
                  <a:pt x="2358" y="5525"/>
                  <a:pt x="2274" y="5620"/>
                  <a:pt x="2167" y="5620"/>
                </a:cubicBezTo>
                <a:lnTo>
                  <a:pt x="334" y="5620"/>
                </a:lnTo>
                <a:lnTo>
                  <a:pt x="334" y="881"/>
                </a:lnTo>
                <a:cubicBezTo>
                  <a:pt x="334" y="572"/>
                  <a:pt x="584" y="333"/>
                  <a:pt x="881" y="333"/>
                </a:cubicBezTo>
                <a:lnTo>
                  <a:pt x="5620" y="333"/>
                </a:lnTo>
                <a:lnTo>
                  <a:pt x="5620" y="524"/>
                </a:lnTo>
                <a:cubicBezTo>
                  <a:pt x="5620" y="619"/>
                  <a:pt x="5691" y="691"/>
                  <a:pt x="5787" y="691"/>
                </a:cubicBezTo>
                <a:cubicBezTo>
                  <a:pt x="5870" y="691"/>
                  <a:pt x="5941" y="619"/>
                  <a:pt x="5941" y="524"/>
                </a:cubicBezTo>
                <a:lnTo>
                  <a:pt x="5941" y="333"/>
                </a:lnTo>
                <a:close/>
                <a:moveTo>
                  <a:pt x="2976" y="3061"/>
                </a:moveTo>
                <a:cubicBezTo>
                  <a:pt x="3040" y="3061"/>
                  <a:pt x="3104" y="3069"/>
                  <a:pt x="3167" y="3084"/>
                </a:cubicBezTo>
                <a:cubicBezTo>
                  <a:pt x="3477" y="3143"/>
                  <a:pt x="3727" y="3417"/>
                  <a:pt x="3810" y="3739"/>
                </a:cubicBezTo>
                <a:cubicBezTo>
                  <a:pt x="3870" y="4036"/>
                  <a:pt x="3763" y="4334"/>
                  <a:pt x="3525" y="4536"/>
                </a:cubicBezTo>
                <a:cubicBezTo>
                  <a:pt x="3358" y="4667"/>
                  <a:pt x="3274" y="4858"/>
                  <a:pt x="3274" y="5072"/>
                </a:cubicBezTo>
                <a:lnTo>
                  <a:pt x="3274" y="5441"/>
                </a:lnTo>
                <a:cubicBezTo>
                  <a:pt x="3274" y="5739"/>
                  <a:pt x="3513" y="5977"/>
                  <a:pt x="3810" y="5977"/>
                </a:cubicBezTo>
                <a:lnTo>
                  <a:pt x="5632" y="5977"/>
                </a:lnTo>
                <a:lnTo>
                  <a:pt x="5632" y="7811"/>
                </a:lnTo>
                <a:cubicBezTo>
                  <a:pt x="5632" y="7918"/>
                  <a:pt x="5549" y="8001"/>
                  <a:pt x="5441" y="8001"/>
                </a:cubicBezTo>
                <a:lnTo>
                  <a:pt x="5072" y="8001"/>
                </a:lnTo>
                <a:cubicBezTo>
                  <a:pt x="4965" y="8001"/>
                  <a:pt x="4858" y="7953"/>
                  <a:pt x="4787" y="7870"/>
                </a:cubicBezTo>
                <a:cubicBezTo>
                  <a:pt x="4569" y="7593"/>
                  <a:pt x="4244" y="7447"/>
                  <a:pt x="3887" y="7447"/>
                </a:cubicBezTo>
                <a:cubicBezTo>
                  <a:pt x="3815" y="7447"/>
                  <a:pt x="3741" y="7453"/>
                  <a:pt x="3667" y="7465"/>
                </a:cubicBezTo>
                <a:cubicBezTo>
                  <a:pt x="3215" y="7561"/>
                  <a:pt x="2858" y="7918"/>
                  <a:pt x="2751" y="8358"/>
                </a:cubicBezTo>
                <a:cubicBezTo>
                  <a:pt x="2679" y="8715"/>
                  <a:pt x="2763" y="9073"/>
                  <a:pt x="2989" y="9346"/>
                </a:cubicBezTo>
                <a:cubicBezTo>
                  <a:pt x="3215" y="9608"/>
                  <a:pt x="3536" y="9775"/>
                  <a:pt x="3894" y="9775"/>
                </a:cubicBezTo>
                <a:cubicBezTo>
                  <a:pt x="4239" y="9775"/>
                  <a:pt x="4584" y="9620"/>
                  <a:pt x="4798" y="9346"/>
                </a:cubicBezTo>
                <a:cubicBezTo>
                  <a:pt x="4858" y="9263"/>
                  <a:pt x="4965" y="9227"/>
                  <a:pt x="5084" y="9227"/>
                </a:cubicBezTo>
                <a:lnTo>
                  <a:pt x="5441" y="9227"/>
                </a:lnTo>
                <a:cubicBezTo>
                  <a:pt x="5549" y="9227"/>
                  <a:pt x="5632" y="9311"/>
                  <a:pt x="5632" y="9418"/>
                </a:cubicBezTo>
                <a:lnTo>
                  <a:pt x="5632" y="11251"/>
                </a:lnTo>
                <a:lnTo>
                  <a:pt x="869" y="11251"/>
                </a:lnTo>
                <a:cubicBezTo>
                  <a:pt x="560" y="11251"/>
                  <a:pt x="322" y="10990"/>
                  <a:pt x="322" y="10692"/>
                </a:cubicBezTo>
                <a:lnTo>
                  <a:pt x="322" y="5965"/>
                </a:lnTo>
                <a:lnTo>
                  <a:pt x="2155" y="5965"/>
                </a:lnTo>
                <a:cubicBezTo>
                  <a:pt x="2453" y="5965"/>
                  <a:pt x="2691" y="5727"/>
                  <a:pt x="2691" y="5429"/>
                </a:cubicBezTo>
                <a:lnTo>
                  <a:pt x="2691" y="5072"/>
                </a:lnTo>
                <a:cubicBezTo>
                  <a:pt x="2691" y="4846"/>
                  <a:pt x="2596" y="4655"/>
                  <a:pt x="2453" y="4536"/>
                </a:cubicBezTo>
                <a:cubicBezTo>
                  <a:pt x="2262" y="4370"/>
                  <a:pt x="2155" y="4143"/>
                  <a:pt x="2155" y="3893"/>
                </a:cubicBezTo>
                <a:cubicBezTo>
                  <a:pt x="2155" y="3643"/>
                  <a:pt x="2274" y="3405"/>
                  <a:pt x="2465" y="3250"/>
                </a:cubicBezTo>
                <a:cubicBezTo>
                  <a:pt x="2607" y="3126"/>
                  <a:pt x="2789" y="3061"/>
                  <a:pt x="2976" y="3061"/>
                </a:cubicBezTo>
                <a:close/>
                <a:moveTo>
                  <a:pt x="893" y="0"/>
                </a:moveTo>
                <a:cubicBezTo>
                  <a:pt x="393" y="0"/>
                  <a:pt x="0" y="393"/>
                  <a:pt x="0" y="893"/>
                </a:cubicBezTo>
                <a:lnTo>
                  <a:pt x="0" y="10680"/>
                </a:lnTo>
                <a:cubicBezTo>
                  <a:pt x="0" y="11168"/>
                  <a:pt x="393" y="11573"/>
                  <a:pt x="893" y="11573"/>
                </a:cubicBezTo>
                <a:lnTo>
                  <a:pt x="10680" y="11573"/>
                </a:lnTo>
                <a:cubicBezTo>
                  <a:pt x="11168" y="11573"/>
                  <a:pt x="11573" y="11168"/>
                  <a:pt x="11573" y="10680"/>
                </a:cubicBezTo>
                <a:lnTo>
                  <a:pt x="11573" y="893"/>
                </a:lnTo>
                <a:cubicBezTo>
                  <a:pt x="11573" y="393"/>
                  <a:pt x="11168" y="0"/>
                  <a:pt x="1068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9" name="Google Shape;149;p10"/>
          <p:cNvGrpSpPr/>
          <p:nvPr/>
        </p:nvGrpSpPr>
        <p:grpSpPr>
          <a:xfrm>
            <a:off x="8257620" y="2155110"/>
            <a:ext cx="457190" cy="431306"/>
            <a:chOff x="1299146" y="3806507"/>
            <a:chExt cx="367989" cy="351312"/>
          </a:xfrm>
        </p:grpSpPr>
        <p:sp>
          <p:nvSpPr>
            <p:cNvPr id="150" name="Google Shape;150;p10"/>
            <p:cNvSpPr/>
            <p:nvPr/>
          </p:nvSpPr>
          <p:spPr>
            <a:xfrm>
              <a:off x="1299146" y="3844414"/>
              <a:ext cx="321012" cy="313405"/>
            </a:xfrm>
            <a:custGeom>
              <a:rect b="b" l="l" r="r" t="t"/>
              <a:pathLst>
                <a:path extrusionOk="0" h="9847" w="10086">
                  <a:moveTo>
                    <a:pt x="8728" y="1"/>
                  </a:moveTo>
                  <a:cubicBezTo>
                    <a:pt x="8383" y="1"/>
                    <a:pt x="8038" y="143"/>
                    <a:pt x="7787" y="405"/>
                  </a:cubicBezTo>
                  <a:lnTo>
                    <a:pt x="6847" y="1346"/>
                  </a:lnTo>
                  <a:cubicBezTo>
                    <a:pt x="6775" y="1417"/>
                    <a:pt x="6775" y="1525"/>
                    <a:pt x="6847" y="1596"/>
                  </a:cubicBezTo>
                  <a:cubicBezTo>
                    <a:pt x="6883" y="1632"/>
                    <a:pt x="6927" y="1650"/>
                    <a:pt x="6972" y="1650"/>
                  </a:cubicBezTo>
                  <a:cubicBezTo>
                    <a:pt x="7017" y="1650"/>
                    <a:pt x="7061" y="1632"/>
                    <a:pt x="7097" y="1596"/>
                  </a:cubicBezTo>
                  <a:lnTo>
                    <a:pt x="8038" y="667"/>
                  </a:lnTo>
                  <a:cubicBezTo>
                    <a:pt x="8228" y="465"/>
                    <a:pt x="8478" y="370"/>
                    <a:pt x="8728" y="370"/>
                  </a:cubicBezTo>
                  <a:cubicBezTo>
                    <a:pt x="8990" y="370"/>
                    <a:pt x="9252" y="465"/>
                    <a:pt x="9431" y="667"/>
                  </a:cubicBezTo>
                  <a:cubicBezTo>
                    <a:pt x="9633" y="858"/>
                    <a:pt x="9728" y="1108"/>
                    <a:pt x="9728" y="1358"/>
                  </a:cubicBezTo>
                  <a:cubicBezTo>
                    <a:pt x="9728" y="1620"/>
                    <a:pt x="9633" y="1882"/>
                    <a:pt x="9431" y="2060"/>
                  </a:cubicBezTo>
                  <a:lnTo>
                    <a:pt x="8157" y="3346"/>
                  </a:lnTo>
                  <a:cubicBezTo>
                    <a:pt x="8014" y="3025"/>
                    <a:pt x="7835" y="2751"/>
                    <a:pt x="7585" y="2489"/>
                  </a:cubicBezTo>
                  <a:cubicBezTo>
                    <a:pt x="7085" y="1995"/>
                    <a:pt x="6427" y="1748"/>
                    <a:pt x="5769" y="1748"/>
                  </a:cubicBezTo>
                  <a:cubicBezTo>
                    <a:pt x="5112" y="1748"/>
                    <a:pt x="4454" y="1995"/>
                    <a:pt x="3954" y="2489"/>
                  </a:cubicBezTo>
                  <a:lnTo>
                    <a:pt x="989" y="5454"/>
                  </a:lnTo>
                  <a:cubicBezTo>
                    <a:pt x="1" y="6454"/>
                    <a:pt x="1" y="8085"/>
                    <a:pt x="989" y="9085"/>
                  </a:cubicBezTo>
                  <a:cubicBezTo>
                    <a:pt x="1501" y="9597"/>
                    <a:pt x="2156" y="9847"/>
                    <a:pt x="2811" y="9847"/>
                  </a:cubicBezTo>
                  <a:cubicBezTo>
                    <a:pt x="3466" y="9847"/>
                    <a:pt x="4120" y="9597"/>
                    <a:pt x="4620" y="9085"/>
                  </a:cubicBezTo>
                  <a:lnTo>
                    <a:pt x="6204" y="7513"/>
                  </a:lnTo>
                  <a:cubicBezTo>
                    <a:pt x="6275" y="7430"/>
                    <a:pt x="6275" y="7323"/>
                    <a:pt x="6204" y="7251"/>
                  </a:cubicBezTo>
                  <a:cubicBezTo>
                    <a:pt x="6182" y="7243"/>
                    <a:pt x="6152" y="7237"/>
                    <a:pt x="6120" y="7237"/>
                  </a:cubicBezTo>
                  <a:cubicBezTo>
                    <a:pt x="6064" y="7237"/>
                    <a:pt x="5999" y="7254"/>
                    <a:pt x="5954" y="7299"/>
                  </a:cubicBezTo>
                  <a:lnTo>
                    <a:pt x="4370" y="8883"/>
                  </a:lnTo>
                  <a:cubicBezTo>
                    <a:pt x="3954" y="9299"/>
                    <a:pt x="3394" y="9537"/>
                    <a:pt x="2811" y="9537"/>
                  </a:cubicBezTo>
                  <a:cubicBezTo>
                    <a:pt x="2215" y="9537"/>
                    <a:pt x="1668" y="9311"/>
                    <a:pt x="1251" y="8883"/>
                  </a:cubicBezTo>
                  <a:cubicBezTo>
                    <a:pt x="382" y="8013"/>
                    <a:pt x="382" y="6597"/>
                    <a:pt x="1251" y="5739"/>
                  </a:cubicBezTo>
                  <a:lnTo>
                    <a:pt x="4204" y="2775"/>
                  </a:lnTo>
                  <a:cubicBezTo>
                    <a:pt x="4620" y="2358"/>
                    <a:pt x="5192" y="2120"/>
                    <a:pt x="5775" y="2120"/>
                  </a:cubicBezTo>
                  <a:cubicBezTo>
                    <a:pt x="6371" y="2120"/>
                    <a:pt x="6918" y="2346"/>
                    <a:pt x="7335" y="2775"/>
                  </a:cubicBezTo>
                  <a:cubicBezTo>
                    <a:pt x="7573" y="3013"/>
                    <a:pt x="7764" y="3310"/>
                    <a:pt x="7871" y="3644"/>
                  </a:cubicBezTo>
                  <a:lnTo>
                    <a:pt x="6478" y="5037"/>
                  </a:lnTo>
                  <a:cubicBezTo>
                    <a:pt x="6275" y="5227"/>
                    <a:pt x="6025" y="5335"/>
                    <a:pt x="5775" y="5335"/>
                  </a:cubicBezTo>
                  <a:cubicBezTo>
                    <a:pt x="5501" y="5335"/>
                    <a:pt x="5251" y="5227"/>
                    <a:pt x="5073" y="5037"/>
                  </a:cubicBezTo>
                  <a:cubicBezTo>
                    <a:pt x="4990" y="4942"/>
                    <a:pt x="4906" y="4834"/>
                    <a:pt x="4847" y="4703"/>
                  </a:cubicBezTo>
                  <a:cubicBezTo>
                    <a:pt x="4828" y="4639"/>
                    <a:pt x="4760" y="4596"/>
                    <a:pt x="4692" y="4596"/>
                  </a:cubicBezTo>
                  <a:cubicBezTo>
                    <a:pt x="4672" y="4596"/>
                    <a:pt x="4651" y="4600"/>
                    <a:pt x="4632" y="4608"/>
                  </a:cubicBezTo>
                  <a:cubicBezTo>
                    <a:pt x="4537" y="4632"/>
                    <a:pt x="4489" y="4739"/>
                    <a:pt x="4525" y="4823"/>
                  </a:cubicBezTo>
                  <a:cubicBezTo>
                    <a:pt x="4597" y="4989"/>
                    <a:pt x="4692" y="5144"/>
                    <a:pt x="4823" y="5275"/>
                  </a:cubicBezTo>
                  <a:cubicBezTo>
                    <a:pt x="5073" y="5525"/>
                    <a:pt x="5418" y="5680"/>
                    <a:pt x="5775" y="5680"/>
                  </a:cubicBezTo>
                  <a:cubicBezTo>
                    <a:pt x="6133" y="5680"/>
                    <a:pt x="6478" y="5537"/>
                    <a:pt x="6728" y="5275"/>
                  </a:cubicBezTo>
                  <a:lnTo>
                    <a:pt x="9681" y="2310"/>
                  </a:lnTo>
                  <a:cubicBezTo>
                    <a:pt x="9943" y="2060"/>
                    <a:pt x="10085" y="1715"/>
                    <a:pt x="10085" y="1358"/>
                  </a:cubicBezTo>
                  <a:cubicBezTo>
                    <a:pt x="10085" y="1001"/>
                    <a:pt x="9954" y="655"/>
                    <a:pt x="9681" y="405"/>
                  </a:cubicBezTo>
                  <a:cubicBezTo>
                    <a:pt x="9431" y="155"/>
                    <a:pt x="9085" y="1"/>
                    <a:pt x="872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800" u="none" cap="none" strike="noStrike">
                <a:solidFill>
                  <a:srgbClr val="000000"/>
                </a:solidFill>
                <a:latin typeface="Arial"/>
                <a:ea typeface="Arial"/>
                <a:cs typeface="Arial"/>
                <a:sym typeface="Arial"/>
              </a:endParaRPr>
            </a:p>
          </p:txBody>
        </p:sp>
        <p:sp>
          <p:nvSpPr>
            <p:cNvPr id="151" name="Google Shape;151;p10"/>
            <p:cNvSpPr/>
            <p:nvPr/>
          </p:nvSpPr>
          <p:spPr>
            <a:xfrm>
              <a:off x="1345391" y="3806507"/>
              <a:ext cx="321744" cy="313819"/>
            </a:xfrm>
            <a:custGeom>
              <a:rect b="b" l="l" r="r" t="t"/>
              <a:pathLst>
                <a:path extrusionOk="0" h="9860" w="10109">
                  <a:moveTo>
                    <a:pt x="7281" y="1"/>
                  </a:moveTo>
                  <a:cubicBezTo>
                    <a:pt x="6623" y="1"/>
                    <a:pt x="5965" y="251"/>
                    <a:pt x="5465" y="751"/>
                  </a:cubicBezTo>
                  <a:lnTo>
                    <a:pt x="3894" y="2335"/>
                  </a:lnTo>
                  <a:cubicBezTo>
                    <a:pt x="3810" y="2406"/>
                    <a:pt x="3810" y="2513"/>
                    <a:pt x="3894" y="2585"/>
                  </a:cubicBezTo>
                  <a:cubicBezTo>
                    <a:pt x="3929" y="2620"/>
                    <a:pt x="3974" y="2638"/>
                    <a:pt x="4019" y="2638"/>
                  </a:cubicBezTo>
                  <a:cubicBezTo>
                    <a:pt x="4063" y="2638"/>
                    <a:pt x="4108" y="2620"/>
                    <a:pt x="4144" y="2585"/>
                  </a:cubicBezTo>
                  <a:lnTo>
                    <a:pt x="5715" y="1001"/>
                  </a:lnTo>
                  <a:cubicBezTo>
                    <a:pt x="6150" y="572"/>
                    <a:pt x="6721" y="358"/>
                    <a:pt x="7291" y="358"/>
                  </a:cubicBezTo>
                  <a:cubicBezTo>
                    <a:pt x="7861" y="358"/>
                    <a:pt x="8430" y="572"/>
                    <a:pt x="8859" y="1001"/>
                  </a:cubicBezTo>
                  <a:cubicBezTo>
                    <a:pt x="9728" y="1870"/>
                    <a:pt x="9728" y="3287"/>
                    <a:pt x="8859" y="4144"/>
                  </a:cubicBezTo>
                  <a:lnTo>
                    <a:pt x="5882" y="7097"/>
                  </a:lnTo>
                  <a:cubicBezTo>
                    <a:pt x="5465" y="7514"/>
                    <a:pt x="4894" y="7752"/>
                    <a:pt x="4322" y="7752"/>
                  </a:cubicBezTo>
                  <a:cubicBezTo>
                    <a:pt x="3727" y="7752"/>
                    <a:pt x="3179" y="7526"/>
                    <a:pt x="2763" y="7097"/>
                  </a:cubicBezTo>
                  <a:cubicBezTo>
                    <a:pt x="2513" y="6859"/>
                    <a:pt x="2322" y="6561"/>
                    <a:pt x="2215" y="6228"/>
                  </a:cubicBezTo>
                  <a:lnTo>
                    <a:pt x="3620" y="4835"/>
                  </a:lnTo>
                  <a:cubicBezTo>
                    <a:pt x="3810" y="4632"/>
                    <a:pt x="4060" y="4537"/>
                    <a:pt x="4322" y="4537"/>
                  </a:cubicBezTo>
                  <a:cubicBezTo>
                    <a:pt x="4584" y="4537"/>
                    <a:pt x="4834" y="4632"/>
                    <a:pt x="5013" y="4835"/>
                  </a:cubicBezTo>
                  <a:cubicBezTo>
                    <a:pt x="5108" y="4918"/>
                    <a:pt x="5180" y="5037"/>
                    <a:pt x="5239" y="5156"/>
                  </a:cubicBezTo>
                  <a:cubicBezTo>
                    <a:pt x="5268" y="5232"/>
                    <a:pt x="5334" y="5271"/>
                    <a:pt x="5409" y="5271"/>
                  </a:cubicBezTo>
                  <a:cubicBezTo>
                    <a:pt x="5427" y="5271"/>
                    <a:pt x="5446" y="5268"/>
                    <a:pt x="5465" y="5263"/>
                  </a:cubicBezTo>
                  <a:cubicBezTo>
                    <a:pt x="5549" y="5228"/>
                    <a:pt x="5596" y="5132"/>
                    <a:pt x="5572" y="5037"/>
                  </a:cubicBezTo>
                  <a:cubicBezTo>
                    <a:pt x="5489" y="4871"/>
                    <a:pt x="5406" y="4728"/>
                    <a:pt x="5275" y="4597"/>
                  </a:cubicBezTo>
                  <a:cubicBezTo>
                    <a:pt x="5013" y="4335"/>
                    <a:pt x="4680" y="4192"/>
                    <a:pt x="4322" y="4192"/>
                  </a:cubicBezTo>
                  <a:cubicBezTo>
                    <a:pt x="3965" y="4192"/>
                    <a:pt x="3620" y="4323"/>
                    <a:pt x="3370" y="4597"/>
                  </a:cubicBezTo>
                  <a:lnTo>
                    <a:pt x="1917" y="6037"/>
                  </a:lnTo>
                  <a:cubicBezTo>
                    <a:pt x="1893" y="6049"/>
                    <a:pt x="1882" y="6061"/>
                    <a:pt x="1870" y="6097"/>
                  </a:cubicBezTo>
                  <a:lnTo>
                    <a:pt x="405" y="7549"/>
                  </a:lnTo>
                  <a:cubicBezTo>
                    <a:pt x="155" y="7811"/>
                    <a:pt x="0" y="8145"/>
                    <a:pt x="0" y="8502"/>
                  </a:cubicBezTo>
                  <a:cubicBezTo>
                    <a:pt x="0" y="8859"/>
                    <a:pt x="131" y="9204"/>
                    <a:pt x="405" y="9454"/>
                  </a:cubicBezTo>
                  <a:cubicBezTo>
                    <a:pt x="655" y="9716"/>
                    <a:pt x="1000" y="9859"/>
                    <a:pt x="1358" y="9859"/>
                  </a:cubicBezTo>
                  <a:cubicBezTo>
                    <a:pt x="1715" y="9859"/>
                    <a:pt x="2060" y="9728"/>
                    <a:pt x="2310" y="9454"/>
                  </a:cubicBezTo>
                  <a:lnTo>
                    <a:pt x="3251" y="8526"/>
                  </a:lnTo>
                  <a:cubicBezTo>
                    <a:pt x="3322" y="8442"/>
                    <a:pt x="3322" y="8347"/>
                    <a:pt x="3251" y="8264"/>
                  </a:cubicBezTo>
                  <a:cubicBezTo>
                    <a:pt x="3209" y="8228"/>
                    <a:pt x="3164" y="8210"/>
                    <a:pt x="3120" y="8210"/>
                  </a:cubicBezTo>
                  <a:cubicBezTo>
                    <a:pt x="3075" y="8210"/>
                    <a:pt x="3030" y="8228"/>
                    <a:pt x="2989" y="8264"/>
                  </a:cubicBezTo>
                  <a:lnTo>
                    <a:pt x="2060" y="9204"/>
                  </a:lnTo>
                  <a:cubicBezTo>
                    <a:pt x="1858" y="9395"/>
                    <a:pt x="1608" y="9502"/>
                    <a:pt x="1358" y="9502"/>
                  </a:cubicBezTo>
                  <a:cubicBezTo>
                    <a:pt x="1108" y="9502"/>
                    <a:pt x="834" y="9395"/>
                    <a:pt x="655" y="9204"/>
                  </a:cubicBezTo>
                  <a:cubicBezTo>
                    <a:pt x="465" y="9014"/>
                    <a:pt x="358" y="8764"/>
                    <a:pt x="358" y="8502"/>
                  </a:cubicBezTo>
                  <a:cubicBezTo>
                    <a:pt x="358" y="8252"/>
                    <a:pt x="465" y="7990"/>
                    <a:pt x="655" y="7811"/>
                  </a:cubicBezTo>
                  <a:lnTo>
                    <a:pt x="1941" y="6526"/>
                  </a:lnTo>
                  <a:cubicBezTo>
                    <a:pt x="2072" y="6835"/>
                    <a:pt x="2251" y="7121"/>
                    <a:pt x="2501" y="7371"/>
                  </a:cubicBezTo>
                  <a:cubicBezTo>
                    <a:pt x="3001" y="7859"/>
                    <a:pt x="3632" y="8133"/>
                    <a:pt x="4322" y="8133"/>
                  </a:cubicBezTo>
                  <a:cubicBezTo>
                    <a:pt x="5001" y="8133"/>
                    <a:pt x="5656" y="7871"/>
                    <a:pt x="6132" y="7371"/>
                  </a:cubicBezTo>
                  <a:lnTo>
                    <a:pt x="9097" y="4418"/>
                  </a:lnTo>
                  <a:cubicBezTo>
                    <a:pt x="10109" y="3382"/>
                    <a:pt x="10109" y="1751"/>
                    <a:pt x="9097" y="751"/>
                  </a:cubicBezTo>
                  <a:cubicBezTo>
                    <a:pt x="8597" y="251"/>
                    <a:pt x="7939" y="1"/>
                    <a:pt x="728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800" u="none" cap="none" strike="noStrike">
                <a:solidFill>
                  <a:srgbClr val="000000"/>
                </a:solidFill>
                <a:latin typeface="Arial"/>
                <a:ea typeface="Arial"/>
                <a:cs typeface="Arial"/>
                <a:sym typeface="Arial"/>
              </a:endParaRPr>
            </a:p>
          </p:txBody>
        </p:sp>
      </p:grpSp>
      <p:pic>
        <p:nvPicPr>
          <p:cNvPr id="152" name="Google Shape;152;p10"/>
          <p:cNvPicPr preferRelativeResize="0"/>
          <p:nvPr/>
        </p:nvPicPr>
        <p:blipFill rotWithShape="1">
          <a:blip r:embed="rId3">
            <a:alphaModFix/>
          </a:blip>
          <a:srcRect b="0" l="0" r="0" t="0"/>
          <a:stretch/>
        </p:blipFill>
        <p:spPr>
          <a:xfrm>
            <a:off x="3088241" y="1948738"/>
            <a:ext cx="890587" cy="890587"/>
          </a:xfrm>
          <a:prstGeom prst="rect">
            <a:avLst/>
          </a:prstGeom>
          <a:noFill/>
          <a:ln>
            <a:noFill/>
          </a:ln>
        </p:spPr>
      </p:pic>
      <p:pic>
        <p:nvPicPr>
          <p:cNvPr id="153" name="Google Shape;153;p10"/>
          <p:cNvPicPr preferRelativeResize="0"/>
          <p:nvPr/>
        </p:nvPicPr>
        <p:blipFill rotWithShape="1">
          <a:blip r:embed="rId4">
            <a:alphaModFix/>
          </a:blip>
          <a:srcRect b="0" l="0" r="0" t="0"/>
          <a:stretch/>
        </p:blipFill>
        <p:spPr>
          <a:xfrm>
            <a:off x="8069645" y="1948741"/>
            <a:ext cx="890587" cy="89058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1"/>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en-US">
                <a:latin typeface="Arial"/>
                <a:ea typeface="Arial"/>
                <a:cs typeface="Arial"/>
                <a:sym typeface="Arial"/>
              </a:rPr>
              <a:t>2. Giới thiệu đề tài</a:t>
            </a:r>
            <a:endParaRPr>
              <a:latin typeface="Arial"/>
              <a:ea typeface="Arial"/>
              <a:cs typeface="Arial"/>
              <a:sym typeface="Arial"/>
            </a:endParaRPr>
          </a:p>
        </p:txBody>
      </p:sp>
      <p:sp>
        <p:nvSpPr>
          <p:cNvPr id="159" name="Google Shape;159;p11"/>
          <p:cNvSpPr txBox="1"/>
          <p:nvPr>
            <p:ph idx="1" type="body"/>
          </p:nvPr>
        </p:nvSpPr>
        <p:spPr>
          <a:xfrm>
            <a:off x="337539" y="1032510"/>
            <a:ext cx="11515800" cy="4938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latin typeface="Arial"/>
                <a:ea typeface="Arial"/>
                <a:cs typeface="Arial"/>
                <a:sym typeface="Arial"/>
              </a:rPr>
              <a:t> </a:t>
            </a:r>
            <a:r>
              <a:rPr b="1" lang="en-US">
                <a:latin typeface="Arial"/>
                <a:ea typeface="Arial"/>
                <a:cs typeface="Arial"/>
                <a:sym typeface="Arial"/>
              </a:rPr>
              <a:t>c. Yêu cầu chức năng:</a:t>
            </a:r>
            <a:endParaRPr b="1">
              <a:latin typeface="Arial"/>
              <a:ea typeface="Arial"/>
              <a:cs typeface="Arial"/>
              <a:sym typeface="Arial"/>
            </a:endParaRPr>
          </a:p>
          <a:p>
            <a:pPr indent="-298450" lvl="0" marL="457200" rtl="0" algn="l">
              <a:lnSpc>
                <a:spcPct val="100000"/>
              </a:lnSpc>
              <a:spcBef>
                <a:spcPts val="0"/>
              </a:spcBef>
              <a:spcAft>
                <a:spcPts val="0"/>
              </a:spcAft>
              <a:buSzPts val="1100"/>
              <a:buChar char="●"/>
            </a:pPr>
            <a:r>
              <a:rPr b="1" lang="en-US">
                <a:latin typeface="Times New Roman"/>
                <a:ea typeface="Times New Roman"/>
                <a:cs typeface="Times New Roman"/>
                <a:sym typeface="Times New Roman"/>
              </a:rPr>
              <a:t>Chủ trọ:</a:t>
            </a:r>
            <a:r>
              <a:rPr lang="en-US">
                <a:latin typeface="Times New Roman"/>
                <a:ea typeface="Times New Roman"/>
                <a:cs typeface="Times New Roman"/>
                <a:sym typeface="Times New Roman"/>
              </a:rPr>
              <a:t> Quản lý phòng, người thuê, hợp đồng, điện nước và thanh toán </a:t>
            </a:r>
            <a:r>
              <a:rPr b="1" lang="en-US">
                <a:latin typeface="Times New Roman"/>
                <a:ea typeface="Times New Roman"/>
                <a:cs typeface="Times New Roman"/>
                <a:sym typeface="Times New Roman"/>
              </a:rPr>
              <a:t>nhanh chóng, chính xác</a:t>
            </a:r>
            <a:r>
              <a:rPr lang="en-US">
                <a:latin typeface="Times New Roman"/>
                <a:ea typeface="Times New Roman"/>
                <a:cs typeface="Times New Roman"/>
                <a:sym typeface="Times New Roman"/>
              </a:rPr>
              <a:t>.</a:t>
            </a:r>
            <a:endParaRPr/>
          </a:p>
          <a:p>
            <a:pPr indent="-298450" lvl="0" marL="457200" rtl="0" algn="l">
              <a:lnSpc>
                <a:spcPct val="100000"/>
              </a:lnSpc>
              <a:spcBef>
                <a:spcPts val="0"/>
              </a:spcBef>
              <a:spcAft>
                <a:spcPts val="0"/>
              </a:spcAft>
              <a:buSzPts val="1100"/>
              <a:buChar char="●"/>
            </a:pPr>
            <a:r>
              <a:rPr b="1" lang="en-US">
                <a:latin typeface="Times New Roman"/>
                <a:ea typeface="Times New Roman"/>
                <a:cs typeface="Times New Roman"/>
                <a:sym typeface="Times New Roman"/>
              </a:rPr>
              <a:t>Người thuê:</a:t>
            </a:r>
            <a:r>
              <a:rPr lang="en-US">
                <a:latin typeface="Times New Roman"/>
                <a:ea typeface="Times New Roman"/>
                <a:cs typeface="Times New Roman"/>
                <a:sym typeface="Times New Roman"/>
              </a:rPr>
              <a:t> Dễ dàng theo dõi </a:t>
            </a:r>
            <a:r>
              <a:rPr b="1" lang="en-US">
                <a:latin typeface="Times New Roman"/>
                <a:ea typeface="Times New Roman"/>
                <a:cs typeface="Times New Roman"/>
                <a:sym typeface="Times New Roman"/>
              </a:rPr>
              <a:t>phòng, hóa đơn, thanh toán</a:t>
            </a:r>
            <a:r>
              <a:rPr lang="en-US">
                <a:latin typeface="Times New Roman"/>
                <a:ea typeface="Times New Roman"/>
                <a:cs typeface="Times New Roman"/>
                <a:sym typeface="Times New Roman"/>
              </a:rPr>
              <a:t> và gửi yêu cầu sửa chữa.</a:t>
            </a:r>
            <a:endParaRPr/>
          </a:p>
          <a:p>
            <a:pPr indent="-298450" lvl="0" marL="457200" rtl="0" algn="l">
              <a:lnSpc>
                <a:spcPct val="100000"/>
              </a:lnSpc>
              <a:spcBef>
                <a:spcPts val="0"/>
              </a:spcBef>
              <a:spcAft>
                <a:spcPts val="0"/>
              </a:spcAft>
              <a:buSzPts val="1100"/>
              <a:buChar char="●"/>
            </a:pPr>
            <a:r>
              <a:rPr b="1" lang="en-US">
                <a:latin typeface="Times New Roman"/>
                <a:ea typeface="Times New Roman"/>
                <a:cs typeface="Times New Roman"/>
                <a:sym typeface="Times New Roman"/>
              </a:rPr>
              <a:t>Nhu cầu chung:</a:t>
            </a:r>
            <a:r>
              <a:rPr lang="en-US">
                <a:latin typeface="Times New Roman"/>
                <a:ea typeface="Times New Roman"/>
                <a:cs typeface="Times New Roman"/>
                <a:sym typeface="Times New Roman"/>
              </a:rPr>
              <a:t> Một hệ thống </a:t>
            </a:r>
            <a:r>
              <a:rPr b="1" lang="en-US">
                <a:latin typeface="Times New Roman"/>
                <a:ea typeface="Times New Roman"/>
                <a:cs typeface="Times New Roman"/>
                <a:sym typeface="Times New Roman"/>
              </a:rPr>
              <a:t>quản lý tập trung, thuận tiện và minh bạch</a:t>
            </a:r>
            <a:r>
              <a:rPr lang="en-US">
                <a:latin typeface="Times New Roman"/>
                <a:ea typeface="Times New Roman"/>
                <a:cs typeface="Times New Roman"/>
                <a:sym typeface="Times New Roman"/>
              </a:rPr>
              <a:t>.</a:t>
            </a:r>
            <a:endParaRPr/>
          </a:p>
          <a:p>
            <a:pPr indent="0" lvl="0" marL="0" rtl="0" algn="l">
              <a:lnSpc>
                <a:spcPct val="90000"/>
              </a:lnSpc>
              <a:spcBef>
                <a:spcPts val="0"/>
              </a:spcBef>
              <a:spcAft>
                <a:spcPts val="0"/>
              </a:spcAft>
              <a:buSzPts val="2800"/>
              <a:buNone/>
            </a:pPr>
            <a:r>
              <a:rPr lang="en-US">
                <a:latin typeface="Arial"/>
                <a:ea typeface="Arial"/>
                <a:cs typeface="Arial"/>
                <a:sym typeface="Arial"/>
              </a:rPr>
              <a:t> </a:t>
            </a:r>
            <a:endParaRPr>
              <a:latin typeface="Arial"/>
              <a:ea typeface="Arial"/>
              <a:cs typeface="Arial"/>
              <a:sym typeface="Arial"/>
            </a:endParaRPr>
          </a:p>
        </p:txBody>
      </p:sp>
      <p:sp>
        <p:nvSpPr>
          <p:cNvPr id="160" name="Google Shape;160;p11"/>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2"/>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800"/>
              <a:buFont typeface="Lato"/>
              <a:buNone/>
            </a:pPr>
            <a:r>
              <a:rPr lang="en-US">
                <a:latin typeface="Arial"/>
                <a:ea typeface="Arial"/>
                <a:cs typeface="Arial"/>
                <a:sym typeface="Arial"/>
              </a:rPr>
              <a:t>2. Giới thiệu đề tài</a:t>
            </a:r>
            <a:endParaRPr>
              <a:latin typeface="Arial"/>
              <a:ea typeface="Arial"/>
              <a:cs typeface="Arial"/>
              <a:sym typeface="Arial"/>
            </a:endParaRPr>
          </a:p>
        </p:txBody>
      </p:sp>
      <p:sp>
        <p:nvSpPr>
          <p:cNvPr id="166" name="Google Shape;166;p12"/>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aphicFrame>
        <p:nvGraphicFramePr>
          <p:cNvPr id="167" name="Google Shape;167;p12"/>
          <p:cNvGraphicFramePr/>
          <p:nvPr/>
        </p:nvGraphicFramePr>
        <p:xfrm>
          <a:off x="2933590" y="1057638"/>
          <a:ext cx="3000000" cy="3000000"/>
        </p:xfrm>
        <a:graphic>
          <a:graphicData uri="http://schemas.openxmlformats.org/drawingml/2006/table">
            <a:tbl>
              <a:tblPr>
                <a:noFill/>
                <a:tableStyleId>{A73378FC-5060-42B1-B4D6-F3DC4F2D5391}</a:tableStyleId>
              </a:tblPr>
              <a:tblGrid>
                <a:gridCol w="2108275"/>
                <a:gridCol w="2108275"/>
                <a:gridCol w="2108275"/>
              </a:tblGrid>
              <a:tr h="238275">
                <a:tc>
                  <a:txBody>
                    <a:bodyPr/>
                    <a:lstStyle/>
                    <a:p>
                      <a:pPr indent="0" lvl="0" marL="0" marR="0" rtl="0" algn="l">
                        <a:lnSpc>
                          <a:spcPct val="100000"/>
                        </a:lnSpc>
                        <a:spcBef>
                          <a:spcPts val="0"/>
                        </a:spcBef>
                        <a:spcAft>
                          <a:spcPts val="0"/>
                        </a:spcAft>
                        <a:buClr>
                          <a:srgbClr val="000000"/>
                        </a:buClr>
                        <a:buSzPts val="1400"/>
                        <a:buFont typeface="Arial"/>
                        <a:buNone/>
                      </a:pPr>
                      <a:r>
                        <a:rPr b="1" lang="en-US" sz="1600" u="none" cap="none" strike="noStrike">
                          <a:latin typeface="Times New Roman"/>
                          <a:ea typeface="Times New Roman"/>
                          <a:cs typeface="Times New Roman"/>
                          <a:sym typeface="Times New Roman"/>
                        </a:rPr>
                        <a:t>Yêu cầu</a:t>
                      </a:r>
                      <a:endParaRPr b="1" i="0" sz="1600" u="none" cap="none" strike="noStrike">
                        <a:latin typeface="Times New Roman"/>
                        <a:ea typeface="Times New Roman"/>
                        <a:cs typeface="Times New Roman"/>
                        <a:sym typeface="Times New Roman"/>
                      </a:endParaRPr>
                    </a:p>
                  </a:txBody>
                  <a:tcPr marT="32025" marB="32025" marR="64050" marL="64050" anchor="ctr"/>
                </a:tc>
                <a:tc>
                  <a:txBody>
                    <a:bodyPr/>
                    <a:lstStyle/>
                    <a:p>
                      <a:pPr indent="0" lvl="0" marL="0" marR="0" rtl="0" algn="ctr">
                        <a:lnSpc>
                          <a:spcPct val="100000"/>
                        </a:lnSpc>
                        <a:spcBef>
                          <a:spcPts val="0"/>
                        </a:spcBef>
                        <a:spcAft>
                          <a:spcPts val="0"/>
                        </a:spcAft>
                        <a:buClr>
                          <a:srgbClr val="000000"/>
                        </a:buClr>
                        <a:buSzPts val="1400"/>
                        <a:buFont typeface="Arial"/>
                        <a:buNone/>
                      </a:pPr>
                      <a:r>
                        <a:rPr b="1" lang="en-US" sz="1600" u="none" cap="none" strike="noStrike">
                          <a:latin typeface="Times New Roman"/>
                          <a:ea typeface="Times New Roman"/>
                          <a:cs typeface="Times New Roman"/>
                          <a:sym typeface="Times New Roman"/>
                        </a:rPr>
                        <a:t>Chủ trọ</a:t>
                      </a:r>
                      <a:endParaRPr b="1" i="0" sz="1600" u="none" cap="none" strike="noStrike">
                        <a:latin typeface="Times New Roman"/>
                        <a:ea typeface="Times New Roman"/>
                        <a:cs typeface="Times New Roman"/>
                        <a:sym typeface="Times New Roman"/>
                      </a:endParaRPr>
                    </a:p>
                  </a:txBody>
                  <a:tcPr marT="32025" marB="32025" marR="64050" marL="64050" anchor="ctr"/>
                </a:tc>
                <a:tc>
                  <a:txBody>
                    <a:bodyPr/>
                    <a:lstStyle/>
                    <a:p>
                      <a:pPr indent="0" lvl="0" marL="0" marR="0" rtl="0" algn="ctr">
                        <a:lnSpc>
                          <a:spcPct val="100000"/>
                        </a:lnSpc>
                        <a:spcBef>
                          <a:spcPts val="0"/>
                        </a:spcBef>
                        <a:spcAft>
                          <a:spcPts val="0"/>
                        </a:spcAft>
                        <a:buClr>
                          <a:srgbClr val="000000"/>
                        </a:buClr>
                        <a:buSzPts val="1400"/>
                        <a:buFont typeface="Arial"/>
                        <a:buNone/>
                      </a:pPr>
                      <a:r>
                        <a:rPr b="1" lang="en-US" sz="1600" u="none" cap="none" strike="noStrike">
                          <a:latin typeface="Times New Roman"/>
                          <a:ea typeface="Times New Roman"/>
                          <a:cs typeface="Times New Roman"/>
                          <a:sym typeface="Times New Roman"/>
                        </a:rPr>
                        <a:t>Người thuê</a:t>
                      </a:r>
                      <a:endParaRPr b="1" i="0" sz="1600" u="none" cap="none" strike="noStrike">
                        <a:latin typeface="Times New Roman"/>
                        <a:ea typeface="Times New Roman"/>
                        <a:cs typeface="Times New Roman"/>
                        <a:sym typeface="Times New Roman"/>
                      </a:endParaRPr>
                    </a:p>
                  </a:txBody>
                  <a:tcPr marT="32025" marB="32025" marR="64050" marL="64050" anchor="ctr"/>
                </a:tc>
              </a:tr>
              <a:tr h="213525">
                <a:tc>
                  <a:txBody>
                    <a:bodyPr/>
                    <a:lstStyle/>
                    <a:p>
                      <a:pPr indent="0" lvl="0" marL="0" marR="0" rtl="0" algn="l">
                        <a:lnSpc>
                          <a:spcPct val="100000"/>
                        </a:lnSpc>
                        <a:spcBef>
                          <a:spcPts val="0"/>
                        </a:spcBef>
                        <a:spcAft>
                          <a:spcPts val="0"/>
                        </a:spcAft>
                        <a:buClr>
                          <a:srgbClr val="000000"/>
                        </a:buClr>
                        <a:buSzPts val="1400"/>
                        <a:buFont typeface="Arial"/>
                        <a:buNone/>
                      </a:pPr>
                      <a:r>
                        <a:rPr lang="en-US" sz="1600" u="none" cap="none" strike="noStrike">
                          <a:latin typeface="Times New Roman"/>
                          <a:ea typeface="Times New Roman"/>
                          <a:cs typeface="Times New Roman"/>
                          <a:sym typeface="Times New Roman"/>
                        </a:rPr>
                        <a:t>Đăng nhập</a:t>
                      </a:r>
                      <a:endParaRPr b="0" i="0" sz="1600" u="none" cap="none" strike="noStrike">
                        <a:latin typeface="Times New Roman"/>
                        <a:ea typeface="Times New Roman"/>
                        <a:cs typeface="Times New Roman"/>
                        <a:sym typeface="Times New Roman"/>
                      </a:endParaRPr>
                    </a:p>
                  </a:txBody>
                  <a:tcPr marT="32025" marB="32025" marR="64050" marL="6405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600" u="none" cap="none" strike="noStrike">
                          <a:latin typeface="Times New Roman"/>
                          <a:ea typeface="Times New Roman"/>
                          <a:cs typeface="Times New Roman"/>
                          <a:sym typeface="Times New Roman"/>
                        </a:rPr>
                        <a:t>✓</a:t>
                      </a:r>
                      <a:endParaRPr b="0" i="0" sz="1600" u="none" cap="none" strike="noStrike">
                        <a:latin typeface="Times New Roman"/>
                        <a:ea typeface="Times New Roman"/>
                        <a:cs typeface="Times New Roman"/>
                        <a:sym typeface="Times New Roman"/>
                      </a:endParaRPr>
                    </a:p>
                  </a:txBody>
                  <a:tcPr marT="32025" marB="32025" marR="64050" marL="6405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600" u="none" cap="none" strike="noStrike">
                          <a:latin typeface="Times New Roman"/>
                          <a:ea typeface="Times New Roman"/>
                          <a:cs typeface="Times New Roman"/>
                          <a:sym typeface="Times New Roman"/>
                        </a:rPr>
                        <a:t>✓</a:t>
                      </a:r>
                      <a:endParaRPr b="0" i="0" sz="1600" u="none" cap="none" strike="noStrike">
                        <a:latin typeface="Times New Roman"/>
                        <a:ea typeface="Times New Roman"/>
                        <a:cs typeface="Times New Roman"/>
                        <a:sym typeface="Times New Roman"/>
                      </a:endParaRPr>
                    </a:p>
                  </a:txBody>
                  <a:tcPr marT="32025" marB="32025" marR="64050" marL="64050" anchor="ctr"/>
                </a:tc>
              </a:tr>
              <a:tr h="213525">
                <a:tc>
                  <a:txBody>
                    <a:bodyPr/>
                    <a:lstStyle/>
                    <a:p>
                      <a:pPr indent="0" lvl="0" marL="0" marR="0" rtl="0" algn="l">
                        <a:lnSpc>
                          <a:spcPct val="100000"/>
                        </a:lnSpc>
                        <a:spcBef>
                          <a:spcPts val="0"/>
                        </a:spcBef>
                        <a:spcAft>
                          <a:spcPts val="0"/>
                        </a:spcAft>
                        <a:buClr>
                          <a:srgbClr val="000000"/>
                        </a:buClr>
                        <a:buSzPts val="1400"/>
                        <a:buFont typeface="Arial"/>
                        <a:buNone/>
                      </a:pPr>
                      <a:r>
                        <a:rPr lang="en-US" sz="1600" u="none" cap="none" strike="noStrike">
                          <a:latin typeface="Times New Roman"/>
                          <a:ea typeface="Times New Roman"/>
                          <a:cs typeface="Times New Roman"/>
                          <a:sym typeface="Times New Roman"/>
                        </a:rPr>
                        <a:t>Quản lý tài khoản</a:t>
                      </a:r>
                      <a:endParaRPr b="0" i="0" sz="1600" u="none" cap="none" strike="noStrike">
                        <a:latin typeface="Times New Roman"/>
                        <a:ea typeface="Times New Roman"/>
                        <a:cs typeface="Times New Roman"/>
                        <a:sym typeface="Times New Roman"/>
                      </a:endParaRPr>
                    </a:p>
                  </a:txBody>
                  <a:tcPr marT="32025" marB="32025" marR="64050" marL="6405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600" u="none" cap="none" strike="noStrike">
                          <a:latin typeface="Times New Roman"/>
                          <a:ea typeface="Times New Roman"/>
                          <a:cs typeface="Times New Roman"/>
                          <a:sym typeface="Times New Roman"/>
                        </a:rPr>
                        <a:t>✓</a:t>
                      </a:r>
                      <a:endParaRPr b="0" i="0" sz="1600" u="none" cap="none" strike="noStrike">
                        <a:latin typeface="Times New Roman"/>
                        <a:ea typeface="Times New Roman"/>
                        <a:cs typeface="Times New Roman"/>
                        <a:sym typeface="Times New Roman"/>
                      </a:endParaRPr>
                    </a:p>
                  </a:txBody>
                  <a:tcPr marT="32025" marB="32025" marR="64050" marL="6405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600" u="none" cap="none" strike="noStrike">
                          <a:latin typeface="Times New Roman"/>
                          <a:ea typeface="Times New Roman"/>
                          <a:cs typeface="Times New Roman"/>
                          <a:sym typeface="Times New Roman"/>
                        </a:rPr>
                        <a:t>✓</a:t>
                      </a:r>
                      <a:endParaRPr b="0" i="0" sz="1600" u="none" cap="none" strike="noStrike">
                        <a:latin typeface="Times New Roman"/>
                        <a:ea typeface="Times New Roman"/>
                        <a:cs typeface="Times New Roman"/>
                        <a:sym typeface="Times New Roman"/>
                      </a:endParaRPr>
                    </a:p>
                  </a:txBody>
                  <a:tcPr marT="32025" marB="32025" marR="64050" marL="64050" anchor="ctr"/>
                </a:tc>
              </a:tr>
              <a:tr h="213525">
                <a:tc>
                  <a:txBody>
                    <a:bodyPr/>
                    <a:lstStyle/>
                    <a:p>
                      <a:pPr indent="0" lvl="0" marL="0" marR="0" rtl="0" algn="l">
                        <a:lnSpc>
                          <a:spcPct val="100000"/>
                        </a:lnSpc>
                        <a:spcBef>
                          <a:spcPts val="0"/>
                        </a:spcBef>
                        <a:spcAft>
                          <a:spcPts val="0"/>
                        </a:spcAft>
                        <a:buClr>
                          <a:srgbClr val="000000"/>
                        </a:buClr>
                        <a:buSzPts val="1400"/>
                        <a:buFont typeface="Arial"/>
                        <a:buNone/>
                      </a:pPr>
                      <a:r>
                        <a:rPr lang="en-US" sz="1600" u="none" cap="none" strike="noStrike">
                          <a:latin typeface="Times New Roman"/>
                          <a:ea typeface="Times New Roman"/>
                          <a:cs typeface="Times New Roman"/>
                          <a:sym typeface="Times New Roman"/>
                        </a:rPr>
                        <a:t>Xem thông tin phòng</a:t>
                      </a:r>
                      <a:endParaRPr b="0" i="0" sz="1600" u="none" cap="none" strike="noStrike">
                        <a:latin typeface="Times New Roman"/>
                        <a:ea typeface="Times New Roman"/>
                        <a:cs typeface="Times New Roman"/>
                        <a:sym typeface="Times New Roman"/>
                      </a:endParaRPr>
                    </a:p>
                  </a:txBody>
                  <a:tcPr marT="32025" marB="32025" marR="64050" marL="6405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600" u="none" cap="none" strike="noStrike">
                          <a:latin typeface="Times New Roman"/>
                          <a:ea typeface="Times New Roman"/>
                          <a:cs typeface="Times New Roman"/>
                          <a:sym typeface="Times New Roman"/>
                        </a:rPr>
                        <a:t>✓</a:t>
                      </a:r>
                      <a:endParaRPr b="0" i="0" sz="1600" u="none" cap="none" strike="noStrike">
                        <a:latin typeface="Times New Roman"/>
                        <a:ea typeface="Times New Roman"/>
                        <a:cs typeface="Times New Roman"/>
                        <a:sym typeface="Times New Roman"/>
                      </a:endParaRPr>
                    </a:p>
                  </a:txBody>
                  <a:tcPr marT="32025" marB="32025" marR="64050" marL="6405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600" u="none" cap="none" strike="noStrike">
                          <a:latin typeface="Times New Roman"/>
                          <a:ea typeface="Times New Roman"/>
                          <a:cs typeface="Times New Roman"/>
                          <a:sym typeface="Times New Roman"/>
                        </a:rPr>
                        <a:t>✓</a:t>
                      </a:r>
                      <a:endParaRPr b="0" i="0" sz="1600" u="none" cap="none" strike="noStrike">
                        <a:latin typeface="Times New Roman"/>
                        <a:ea typeface="Times New Roman"/>
                        <a:cs typeface="Times New Roman"/>
                        <a:sym typeface="Times New Roman"/>
                      </a:endParaRPr>
                    </a:p>
                  </a:txBody>
                  <a:tcPr marT="32025" marB="32025" marR="64050" marL="64050" anchor="ctr"/>
                </a:tc>
              </a:tr>
              <a:tr h="213525">
                <a:tc>
                  <a:txBody>
                    <a:bodyPr/>
                    <a:lstStyle/>
                    <a:p>
                      <a:pPr indent="0" lvl="0" marL="0" marR="0" rtl="0" algn="l">
                        <a:lnSpc>
                          <a:spcPct val="100000"/>
                        </a:lnSpc>
                        <a:spcBef>
                          <a:spcPts val="0"/>
                        </a:spcBef>
                        <a:spcAft>
                          <a:spcPts val="0"/>
                        </a:spcAft>
                        <a:buClr>
                          <a:srgbClr val="000000"/>
                        </a:buClr>
                        <a:buSzPts val="1400"/>
                        <a:buFont typeface="Arial"/>
                        <a:buNone/>
                      </a:pPr>
                      <a:r>
                        <a:rPr lang="en-US" sz="1600" u="none" cap="none" strike="noStrike">
                          <a:latin typeface="Times New Roman"/>
                          <a:ea typeface="Times New Roman"/>
                          <a:cs typeface="Times New Roman"/>
                          <a:sym typeface="Times New Roman"/>
                        </a:rPr>
                        <a:t>Xem hợp đồng</a:t>
                      </a:r>
                      <a:endParaRPr b="0" i="0" sz="1600" u="none" cap="none" strike="noStrike">
                        <a:latin typeface="Times New Roman"/>
                        <a:ea typeface="Times New Roman"/>
                        <a:cs typeface="Times New Roman"/>
                        <a:sym typeface="Times New Roman"/>
                      </a:endParaRPr>
                    </a:p>
                  </a:txBody>
                  <a:tcPr marT="32025" marB="32025" marR="64050" marL="6405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600" u="none" cap="none" strike="noStrike">
                          <a:latin typeface="Times New Roman"/>
                          <a:ea typeface="Times New Roman"/>
                          <a:cs typeface="Times New Roman"/>
                          <a:sym typeface="Times New Roman"/>
                        </a:rPr>
                        <a:t>✓</a:t>
                      </a:r>
                      <a:endParaRPr b="0" i="0" sz="1600" u="none" cap="none" strike="noStrike">
                        <a:latin typeface="Times New Roman"/>
                        <a:ea typeface="Times New Roman"/>
                        <a:cs typeface="Times New Roman"/>
                        <a:sym typeface="Times New Roman"/>
                      </a:endParaRPr>
                    </a:p>
                  </a:txBody>
                  <a:tcPr marT="32025" marB="32025" marR="64050" marL="6405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600" u="none" cap="none" strike="noStrike">
                          <a:latin typeface="Times New Roman"/>
                          <a:ea typeface="Times New Roman"/>
                          <a:cs typeface="Times New Roman"/>
                          <a:sym typeface="Times New Roman"/>
                        </a:rPr>
                        <a:t>✓</a:t>
                      </a:r>
                      <a:endParaRPr b="0" i="0" sz="1600" u="none" cap="none" strike="noStrike">
                        <a:latin typeface="Times New Roman"/>
                        <a:ea typeface="Times New Roman"/>
                        <a:cs typeface="Times New Roman"/>
                        <a:sym typeface="Times New Roman"/>
                      </a:endParaRPr>
                    </a:p>
                  </a:txBody>
                  <a:tcPr marT="32025" marB="32025" marR="64050" marL="64050" anchor="ctr"/>
                </a:tc>
              </a:tr>
              <a:tr h="213525">
                <a:tc>
                  <a:txBody>
                    <a:bodyPr/>
                    <a:lstStyle/>
                    <a:p>
                      <a:pPr indent="0" lvl="0" marL="0" marR="0" rtl="0" algn="l">
                        <a:lnSpc>
                          <a:spcPct val="100000"/>
                        </a:lnSpc>
                        <a:spcBef>
                          <a:spcPts val="0"/>
                        </a:spcBef>
                        <a:spcAft>
                          <a:spcPts val="0"/>
                        </a:spcAft>
                        <a:buClr>
                          <a:srgbClr val="000000"/>
                        </a:buClr>
                        <a:buSzPts val="1400"/>
                        <a:buFont typeface="Arial"/>
                        <a:buNone/>
                      </a:pPr>
                      <a:r>
                        <a:rPr lang="en-US" sz="1600" u="none" cap="none" strike="noStrike">
                          <a:latin typeface="Times New Roman"/>
                          <a:ea typeface="Times New Roman"/>
                          <a:cs typeface="Times New Roman"/>
                          <a:sym typeface="Times New Roman"/>
                        </a:rPr>
                        <a:t>Xem hóa đơn</a:t>
                      </a:r>
                      <a:endParaRPr b="0" i="0" sz="1600" u="none" cap="none" strike="noStrike">
                        <a:latin typeface="Times New Roman"/>
                        <a:ea typeface="Times New Roman"/>
                        <a:cs typeface="Times New Roman"/>
                        <a:sym typeface="Times New Roman"/>
                      </a:endParaRPr>
                    </a:p>
                  </a:txBody>
                  <a:tcPr marT="32025" marB="32025" marR="64050" marL="6405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600" u="none" cap="none" strike="noStrike">
                          <a:latin typeface="Times New Roman"/>
                          <a:ea typeface="Times New Roman"/>
                          <a:cs typeface="Times New Roman"/>
                          <a:sym typeface="Times New Roman"/>
                        </a:rPr>
                        <a:t>✓</a:t>
                      </a:r>
                      <a:endParaRPr b="0" i="0" sz="1600" u="none" cap="none" strike="noStrike">
                        <a:latin typeface="Times New Roman"/>
                        <a:ea typeface="Times New Roman"/>
                        <a:cs typeface="Times New Roman"/>
                        <a:sym typeface="Times New Roman"/>
                      </a:endParaRPr>
                    </a:p>
                  </a:txBody>
                  <a:tcPr marT="32025" marB="32025" marR="64050" marL="6405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600" u="none" cap="none" strike="noStrike">
                          <a:latin typeface="Times New Roman"/>
                          <a:ea typeface="Times New Roman"/>
                          <a:cs typeface="Times New Roman"/>
                          <a:sym typeface="Times New Roman"/>
                        </a:rPr>
                        <a:t>✓</a:t>
                      </a:r>
                      <a:endParaRPr b="0" i="0" sz="1600" u="none" cap="none" strike="noStrike">
                        <a:latin typeface="Times New Roman"/>
                        <a:ea typeface="Times New Roman"/>
                        <a:cs typeface="Times New Roman"/>
                        <a:sym typeface="Times New Roman"/>
                      </a:endParaRPr>
                    </a:p>
                  </a:txBody>
                  <a:tcPr marT="32025" marB="32025" marR="64050" marL="64050" anchor="ctr"/>
                </a:tc>
              </a:tr>
              <a:tr h="213525">
                <a:tc>
                  <a:txBody>
                    <a:bodyPr/>
                    <a:lstStyle/>
                    <a:p>
                      <a:pPr indent="0" lvl="0" marL="0" marR="0" rtl="0" algn="l">
                        <a:lnSpc>
                          <a:spcPct val="100000"/>
                        </a:lnSpc>
                        <a:spcBef>
                          <a:spcPts val="0"/>
                        </a:spcBef>
                        <a:spcAft>
                          <a:spcPts val="0"/>
                        </a:spcAft>
                        <a:buClr>
                          <a:srgbClr val="000000"/>
                        </a:buClr>
                        <a:buSzPts val="1400"/>
                        <a:buFont typeface="Arial"/>
                        <a:buNone/>
                      </a:pPr>
                      <a:r>
                        <a:rPr lang="en-US" sz="1600" u="none" cap="none" strike="noStrike">
                          <a:latin typeface="Times New Roman"/>
                          <a:ea typeface="Times New Roman"/>
                          <a:cs typeface="Times New Roman"/>
                          <a:sym typeface="Times New Roman"/>
                        </a:rPr>
                        <a:t>Xem lịch sử thanh toán</a:t>
                      </a:r>
                      <a:endParaRPr b="0" i="0" sz="1600" u="none" cap="none" strike="noStrike">
                        <a:latin typeface="Times New Roman"/>
                        <a:ea typeface="Times New Roman"/>
                        <a:cs typeface="Times New Roman"/>
                        <a:sym typeface="Times New Roman"/>
                      </a:endParaRPr>
                    </a:p>
                  </a:txBody>
                  <a:tcPr marT="32025" marB="32025" marR="64050" marL="6405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600" u="none" cap="none" strike="noStrike">
                          <a:latin typeface="Times New Roman"/>
                          <a:ea typeface="Times New Roman"/>
                          <a:cs typeface="Times New Roman"/>
                          <a:sym typeface="Times New Roman"/>
                        </a:rPr>
                        <a:t>✓</a:t>
                      </a:r>
                      <a:endParaRPr b="0" i="0" sz="1600" u="none" cap="none" strike="noStrike">
                        <a:latin typeface="Times New Roman"/>
                        <a:ea typeface="Times New Roman"/>
                        <a:cs typeface="Times New Roman"/>
                        <a:sym typeface="Times New Roman"/>
                      </a:endParaRPr>
                    </a:p>
                  </a:txBody>
                  <a:tcPr marT="32025" marB="32025" marR="64050" marL="6405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600" u="none" cap="none" strike="noStrike">
                          <a:latin typeface="Times New Roman"/>
                          <a:ea typeface="Times New Roman"/>
                          <a:cs typeface="Times New Roman"/>
                          <a:sym typeface="Times New Roman"/>
                        </a:rPr>
                        <a:t>✓</a:t>
                      </a:r>
                      <a:endParaRPr b="0" i="0" sz="1600" u="none" cap="none" strike="noStrike">
                        <a:latin typeface="Times New Roman"/>
                        <a:ea typeface="Times New Roman"/>
                        <a:cs typeface="Times New Roman"/>
                        <a:sym typeface="Times New Roman"/>
                      </a:endParaRPr>
                    </a:p>
                  </a:txBody>
                  <a:tcPr marT="32025" marB="32025" marR="64050" marL="64050" anchor="ctr"/>
                </a:tc>
              </a:tr>
              <a:tr h="213525">
                <a:tc>
                  <a:txBody>
                    <a:bodyPr/>
                    <a:lstStyle/>
                    <a:p>
                      <a:pPr indent="0" lvl="0" marL="0" marR="0" rtl="0" algn="l">
                        <a:lnSpc>
                          <a:spcPct val="100000"/>
                        </a:lnSpc>
                        <a:spcBef>
                          <a:spcPts val="0"/>
                        </a:spcBef>
                        <a:spcAft>
                          <a:spcPts val="0"/>
                        </a:spcAft>
                        <a:buClr>
                          <a:srgbClr val="000000"/>
                        </a:buClr>
                        <a:buSzPts val="1400"/>
                        <a:buFont typeface="Arial"/>
                        <a:buNone/>
                      </a:pPr>
                      <a:r>
                        <a:rPr lang="en-US" sz="1600" u="none" cap="none" strike="noStrike">
                          <a:latin typeface="Times New Roman"/>
                          <a:ea typeface="Times New Roman"/>
                          <a:cs typeface="Times New Roman"/>
                          <a:sym typeface="Times New Roman"/>
                        </a:rPr>
                        <a:t>Nhận thông báo</a:t>
                      </a:r>
                      <a:endParaRPr b="0" i="0" sz="1600" u="none" cap="none" strike="noStrike">
                        <a:latin typeface="Times New Roman"/>
                        <a:ea typeface="Times New Roman"/>
                        <a:cs typeface="Times New Roman"/>
                        <a:sym typeface="Times New Roman"/>
                      </a:endParaRPr>
                    </a:p>
                  </a:txBody>
                  <a:tcPr marT="32025" marB="32025" marR="64050" marL="6405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600" u="none" cap="none" strike="noStrike">
                          <a:latin typeface="Times New Roman"/>
                          <a:ea typeface="Times New Roman"/>
                          <a:cs typeface="Times New Roman"/>
                          <a:sym typeface="Times New Roman"/>
                        </a:rPr>
                        <a:t>✓</a:t>
                      </a:r>
                      <a:endParaRPr b="0" i="0" sz="1600" u="none" cap="none" strike="noStrike">
                        <a:latin typeface="Times New Roman"/>
                        <a:ea typeface="Times New Roman"/>
                        <a:cs typeface="Times New Roman"/>
                        <a:sym typeface="Times New Roman"/>
                      </a:endParaRPr>
                    </a:p>
                  </a:txBody>
                  <a:tcPr marT="32025" marB="32025" marR="64050" marL="6405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600" u="none" cap="none" strike="noStrike">
                          <a:latin typeface="Times New Roman"/>
                          <a:ea typeface="Times New Roman"/>
                          <a:cs typeface="Times New Roman"/>
                          <a:sym typeface="Times New Roman"/>
                        </a:rPr>
                        <a:t>✓</a:t>
                      </a:r>
                      <a:endParaRPr b="0" i="0" sz="1600" u="none" cap="none" strike="noStrike">
                        <a:latin typeface="Times New Roman"/>
                        <a:ea typeface="Times New Roman"/>
                        <a:cs typeface="Times New Roman"/>
                        <a:sym typeface="Times New Roman"/>
                      </a:endParaRPr>
                    </a:p>
                  </a:txBody>
                  <a:tcPr marT="32025" marB="32025" marR="64050" marL="64050" anchor="ctr"/>
                </a:tc>
              </a:tr>
              <a:tr h="213525">
                <a:tc>
                  <a:txBody>
                    <a:bodyPr/>
                    <a:lstStyle/>
                    <a:p>
                      <a:pPr indent="0" lvl="0" marL="0" marR="0" rtl="0" algn="l">
                        <a:lnSpc>
                          <a:spcPct val="100000"/>
                        </a:lnSpc>
                        <a:spcBef>
                          <a:spcPts val="0"/>
                        </a:spcBef>
                        <a:spcAft>
                          <a:spcPts val="0"/>
                        </a:spcAft>
                        <a:buClr>
                          <a:srgbClr val="000000"/>
                        </a:buClr>
                        <a:buSzPts val="1400"/>
                        <a:buFont typeface="Arial"/>
                        <a:buNone/>
                      </a:pPr>
                      <a:r>
                        <a:rPr lang="en-US" sz="1600" u="none" cap="none" strike="noStrike">
                          <a:latin typeface="Times New Roman"/>
                          <a:ea typeface="Times New Roman"/>
                          <a:cs typeface="Times New Roman"/>
                          <a:sym typeface="Times New Roman"/>
                        </a:rPr>
                        <a:t>Quản lý điện/nước</a:t>
                      </a:r>
                      <a:endParaRPr b="0" i="0" sz="1600" u="none" cap="none" strike="noStrike">
                        <a:latin typeface="Times New Roman"/>
                        <a:ea typeface="Times New Roman"/>
                        <a:cs typeface="Times New Roman"/>
                        <a:sym typeface="Times New Roman"/>
                      </a:endParaRPr>
                    </a:p>
                  </a:txBody>
                  <a:tcPr marT="32025" marB="32025" marR="64050" marL="6405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600" u="none" cap="none" strike="noStrike">
                          <a:latin typeface="Times New Roman"/>
                          <a:ea typeface="Times New Roman"/>
                          <a:cs typeface="Times New Roman"/>
                          <a:sym typeface="Times New Roman"/>
                        </a:rPr>
                        <a:t>✓</a:t>
                      </a:r>
                      <a:endParaRPr b="0" i="0" sz="1600" u="none" cap="none" strike="noStrike">
                        <a:latin typeface="Times New Roman"/>
                        <a:ea typeface="Times New Roman"/>
                        <a:cs typeface="Times New Roman"/>
                        <a:sym typeface="Times New Roman"/>
                      </a:endParaRPr>
                    </a:p>
                  </a:txBody>
                  <a:tcPr marT="32025" marB="32025" marR="64050" marL="6405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600" u="none" cap="none" strike="noStrike">
                          <a:latin typeface="Times New Roman"/>
                          <a:ea typeface="Times New Roman"/>
                          <a:cs typeface="Times New Roman"/>
                          <a:sym typeface="Times New Roman"/>
                        </a:rPr>
                        <a:t>Xem</a:t>
                      </a:r>
                      <a:endParaRPr b="0" i="0" sz="1600" u="none" cap="none" strike="noStrike">
                        <a:latin typeface="Times New Roman"/>
                        <a:ea typeface="Times New Roman"/>
                        <a:cs typeface="Times New Roman"/>
                        <a:sym typeface="Times New Roman"/>
                      </a:endParaRPr>
                    </a:p>
                  </a:txBody>
                  <a:tcPr marT="32025" marB="32025" marR="64050" marL="64050" anchor="ctr"/>
                </a:tc>
              </a:tr>
              <a:tr h="213525">
                <a:tc>
                  <a:txBody>
                    <a:bodyPr/>
                    <a:lstStyle/>
                    <a:p>
                      <a:pPr indent="0" lvl="0" marL="0" marR="0" rtl="0" algn="l">
                        <a:lnSpc>
                          <a:spcPct val="100000"/>
                        </a:lnSpc>
                        <a:spcBef>
                          <a:spcPts val="0"/>
                        </a:spcBef>
                        <a:spcAft>
                          <a:spcPts val="0"/>
                        </a:spcAft>
                        <a:buClr>
                          <a:srgbClr val="000000"/>
                        </a:buClr>
                        <a:buSzPts val="1400"/>
                        <a:buFont typeface="Arial"/>
                        <a:buNone/>
                      </a:pPr>
                      <a:r>
                        <a:rPr lang="en-US" sz="1600" u="none" cap="none" strike="noStrike">
                          <a:latin typeface="Times New Roman"/>
                          <a:ea typeface="Times New Roman"/>
                          <a:cs typeface="Times New Roman"/>
                          <a:sym typeface="Times New Roman"/>
                        </a:rPr>
                        <a:t>Tạo hóa đơn</a:t>
                      </a:r>
                      <a:endParaRPr b="0" i="0" sz="1600" u="none" cap="none" strike="noStrike">
                        <a:latin typeface="Times New Roman"/>
                        <a:ea typeface="Times New Roman"/>
                        <a:cs typeface="Times New Roman"/>
                        <a:sym typeface="Times New Roman"/>
                      </a:endParaRPr>
                    </a:p>
                  </a:txBody>
                  <a:tcPr marT="32025" marB="32025" marR="64050" marL="6405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600" u="none" cap="none" strike="noStrike">
                          <a:latin typeface="Times New Roman"/>
                          <a:ea typeface="Times New Roman"/>
                          <a:cs typeface="Times New Roman"/>
                          <a:sym typeface="Times New Roman"/>
                        </a:rPr>
                        <a:t>✓</a:t>
                      </a:r>
                      <a:endParaRPr b="0" i="0" sz="1600" u="none" cap="none" strike="noStrike">
                        <a:latin typeface="Times New Roman"/>
                        <a:ea typeface="Times New Roman"/>
                        <a:cs typeface="Times New Roman"/>
                        <a:sym typeface="Times New Roman"/>
                      </a:endParaRPr>
                    </a:p>
                  </a:txBody>
                  <a:tcPr marT="32025" marB="32025" marR="64050" marL="6405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600" u="none" cap="none" strike="noStrike">
                          <a:latin typeface="Times New Roman"/>
                          <a:ea typeface="Times New Roman"/>
                          <a:cs typeface="Times New Roman"/>
                          <a:sym typeface="Times New Roman"/>
                        </a:rPr>
                        <a:t>Xem</a:t>
                      </a:r>
                      <a:endParaRPr b="0" i="0" sz="1600" u="none" cap="none" strike="noStrike">
                        <a:latin typeface="Times New Roman"/>
                        <a:ea typeface="Times New Roman"/>
                        <a:cs typeface="Times New Roman"/>
                        <a:sym typeface="Times New Roman"/>
                      </a:endParaRPr>
                    </a:p>
                  </a:txBody>
                  <a:tcPr marT="32025" marB="32025" marR="64050" marL="64050" anchor="ctr"/>
                </a:tc>
              </a:tr>
              <a:tr h="213525">
                <a:tc>
                  <a:txBody>
                    <a:bodyPr/>
                    <a:lstStyle/>
                    <a:p>
                      <a:pPr indent="0" lvl="0" marL="0" marR="0" rtl="0" algn="l">
                        <a:lnSpc>
                          <a:spcPct val="100000"/>
                        </a:lnSpc>
                        <a:spcBef>
                          <a:spcPts val="0"/>
                        </a:spcBef>
                        <a:spcAft>
                          <a:spcPts val="0"/>
                        </a:spcAft>
                        <a:buClr>
                          <a:srgbClr val="000000"/>
                        </a:buClr>
                        <a:buSzPts val="1400"/>
                        <a:buFont typeface="Arial"/>
                        <a:buNone/>
                      </a:pPr>
                      <a:r>
                        <a:rPr lang="en-US" sz="1600" u="none" cap="none" strike="noStrike">
                          <a:latin typeface="Times New Roman"/>
                          <a:ea typeface="Times New Roman"/>
                          <a:cs typeface="Times New Roman"/>
                          <a:sym typeface="Times New Roman"/>
                        </a:rPr>
                        <a:t>Thanh toán</a:t>
                      </a:r>
                      <a:endParaRPr b="0" i="0" sz="1600" u="none" cap="none" strike="noStrike">
                        <a:latin typeface="Times New Roman"/>
                        <a:ea typeface="Times New Roman"/>
                        <a:cs typeface="Times New Roman"/>
                        <a:sym typeface="Times New Roman"/>
                      </a:endParaRPr>
                    </a:p>
                  </a:txBody>
                  <a:tcPr marT="32025" marB="32025" marR="64050" marL="6405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600" u="none" cap="none" strike="noStrike">
                          <a:latin typeface="Times New Roman"/>
                          <a:ea typeface="Times New Roman"/>
                          <a:cs typeface="Times New Roman"/>
                          <a:sym typeface="Times New Roman"/>
                        </a:rPr>
                        <a:t>Xác nhận</a:t>
                      </a:r>
                      <a:endParaRPr b="0" i="0" sz="1600" u="none" cap="none" strike="noStrike">
                        <a:latin typeface="Times New Roman"/>
                        <a:ea typeface="Times New Roman"/>
                        <a:cs typeface="Times New Roman"/>
                        <a:sym typeface="Times New Roman"/>
                      </a:endParaRPr>
                    </a:p>
                  </a:txBody>
                  <a:tcPr marT="32025" marB="32025" marR="64050" marL="6405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600" u="none" cap="none" strike="noStrike">
                          <a:latin typeface="Times New Roman"/>
                          <a:ea typeface="Times New Roman"/>
                          <a:cs typeface="Times New Roman"/>
                          <a:sym typeface="Times New Roman"/>
                        </a:rPr>
                        <a:t>✓</a:t>
                      </a:r>
                      <a:endParaRPr b="0" i="0" sz="1600" u="none" cap="none" strike="noStrike">
                        <a:latin typeface="Times New Roman"/>
                        <a:ea typeface="Times New Roman"/>
                        <a:cs typeface="Times New Roman"/>
                        <a:sym typeface="Times New Roman"/>
                      </a:endParaRPr>
                    </a:p>
                  </a:txBody>
                  <a:tcPr marT="32025" marB="32025" marR="64050" marL="64050" anchor="ctr"/>
                </a:tc>
              </a:tr>
              <a:tr h="213525">
                <a:tc>
                  <a:txBody>
                    <a:bodyPr/>
                    <a:lstStyle/>
                    <a:p>
                      <a:pPr indent="0" lvl="0" marL="0" marR="0" rtl="0" algn="l">
                        <a:lnSpc>
                          <a:spcPct val="100000"/>
                        </a:lnSpc>
                        <a:spcBef>
                          <a:spcPts val="0"/>
                        </a:spcBef>
                        <a:spcAft>
                          <a:spcPts val="0"/>
                        </a:spcAft>
                        <a:buClr>
                          <a:srgbClr val="000000"/>
                        </a:buClr>
                        <a:buSzPts val="1400"/>
                        <a:buFont typeface="Arial"/>
                        <a:buNone/>
                      </a:pPr>
                      <a:r>
                        <a:rPr lang="en-US" sz="1600" u="none" cap="none" strike="noStrike">
                          <a:latin typeface="Times New Roman"/>
                          <a:ea typeface="Times New Roman"/>
                          <a:cs typeface="Times New Roman"/>
                          <a:sym typeface="Times New Roman"/>
                        </a:rPr>
                        <a:t>Quản lý phòng</a:t>
                      </a:r>
                      <a:endParaRPr b="0" i="0" sz="1600" u="none" cap="none" strike="noStrike">
                        <a:latin typeface="Times New Roman"/>
                        <a:ea typeface="Times New Roman"/>
                        <a:cs typeface="Times New Roman"/>
                        <a:sym typeface="Times New Roman"/>
                      </a:endParaRPr>
                    </a:p>
                  </a:txBody>
                  <a:tcPr marT="32025" marB="32025" marR="64050" marL="6405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600" u="none" cap="none" strike="noStrike">
                          <a:latin typeface="Times New Roman"/>
                          <a:ea typeface="Times New Roman"/>
                          <a:cs typeface="Times New Roman"/>
                          <a:sym typeface="Times New Roman"/>
                        </a:rPr>
                        <a:t>✓</a:t>
                      </a:r>
                      <a:endParaRPr b="0" i="0" sz="1600" u="none" cap="none" strike="noStrike">
                        <a:latin typeface="Times New Roman"/>
                        <a:ea typeface="Times New Roman"/>
                        <a:cs typeface="Times New Roman"/>
                        <a:sym typeface="Times New Roman"/>
                      </a:endParaRPr>
                    </a:p>
                  </a:txBody>
                  <a:tcPr marT="32025" marB="32025" marR="64050" marL="6405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600" u="none" cap="none" strike="noStrike">
                          <a:latin typeface="Times New Roman"/>
                          <a:ea typeface="Times New Roman"/>
                          <a:cs typeface="Times New Roman"/>
                          <a:sym typeface="Times New Roman"/>
                        </a:rPr>
                        <a:t>Xem phòng mình</a:t>
                      </a:r>
                      <a:endParaRPr b="0" i="0" sz="1600" u="none" cap="none" strike="noStrike">
                        <a:latin typeface="Times New Roman"/>
                        <a:ea typeface="Times New Roman"/>
                        <a:cs typeface="Times New Roman"/>
                        <a:sym typeface="Times New Roman"/>
                      </a:endParaRPr>
                    </a:p>
                  </a:txBody>
                  <a:tcPr marT="32025" marB="32025" marR="64050" marL="64050" anchor="ctr"/>
                </a:tc>
              </a:tr>
              <a:tr h="213525">
                <a:tc>
                  <a:txBody>
                    <a:bodyPr/>
                    <a:lstStyle/>
                    <a:p>
                      <a:pPr indent="0" lvl="0" marL="0" marR="0" rtl="0" algn="l">
                        <a:lnSpc>
                          <a:spcPct val="100000"/>
                        </a:lnSpc>
                        <a:spcBef>
                          <a:spcPts val="0"/>
                        </a:spcBef>
                        <a:spcAft>
                          <a:spcPts val="0"/>
                        </a:spcAft>
                        <a:buClr>
                          <a:srgbClr val="000000"/>
                        </a:buClr>
                        <a:buSzPts val="1400"/>
                        <a:buFont typeface="Arial"/>
                        <a:buNone/>
                      </a:pPr>
                      <a:r>
                        <a:rPr lang="en-US" sz="1600" u="none" cap="none" strike="noStrike">
                          <a:latin typeface="Times New Roman"/>
                          <a:ea typeface="Times New Roman"/>
                          <a:cs typeface="Times New Roman"/>
                          <a:sym typeface="Times New Roman"/>
                        </a:rPr>
                        <a:t>Quản lý người thuê</a:t>
                      </a:r>
                      <a:endParaRPr b="0" i="0" sz="1600" u="none" cap="none" strike="noStrike">
                        <a:latin typeface="Times New Roman"/>
                        <a:ea typeface="Times New Roman"/>
                        <a:cs typeface="Times New Roman"/>
                        <a:sym typeface="Times New Roman"/>
                      </a:endParaRPr>
                    </a:p>
                  </a:txBody>
                  <a:tcPr marT="32025" marB="32025" marR="64050" marL="6405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600" u="none" cap="none" strike="noStrike">
                          <a:latin typeface="Times New Roman"/>
                          <a:ea typeface="Times New Roman"/>
                          <a:cs typeface="Times New Roman"/>
                          <a:sym typeface="Times New Roman"/>
                        </a:rPr>
                        <a:t>✓</a:t>
                      </a:r>
                      <a:endParaRPr b="0" i="0" sz="1600" u="none" cap="none" strike="noStrike">
                        <a:latin typeface="Times New Roman"/>
                        <a:ea typeface="Times New Roman"/>
                        <a:cs typeface="Times New Roman"/>
                        <a:sym typeface="Times New Roman"/>
                      </a:endParaRPr>
                    </a:p>
                  </a:txBody>
                  <a:tcPr marT="32025" marB="32025" marR="64050" marL="6405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600" u="none" cap="none" strike="noStrike">
                          <a:latin typeface="Times New Roman"/>
                          <a:ea typeface="Times New Roman"/>
                          <a:cs typeface="Times New Roman"/>
                          <a:sym typeface="Times New Roman"/>
                        </a:rPr>
                        <a:t>Xem thông tin mình</a:t>
                      </a:r>
                      <a:endParaRPr b="0" i="0" sz="1600" u="none" cap="none" strike="noStrike">
                        <a:latin typeface="Times New Roman"/>
                        <a:ea typeface="Times New Roman"/>
                        <a:cs typeface="Times New Roman"/>
                        <a:sym typeface="Times New Roman"/>
                      </a:endParaRPr>
                    </a:p>
                  </a:txBody>
                  <a:tcPr marT="32025" marB="32025" marR="64050" marL="64050" anchor="ctr"/>
                </a:tc>
              </a:tr>
              <a:tr h="213525">
                <a:tc>
                  <a:txBody>
                    <a:bodyPr/>
                    <a:lstStyle/>
                    <a:p>
                      <a:pPr indent="0" lvl="0" marL="0" marR="0" rtl="0" algn="l">
                        <a:lnSpc>
                          <a:spcPct val="100000"/>
                        </a:lnSpc>
                        <a:spcBef>
                          <a:spcPts val="0"/>
                        </a:spcBef>
                        <a:spcAft>
                          <a:spcPts val="0"/>
                        </a:spcAft>
                        <a:buClr>
                          <a:srgbClr val="000000"/>
                        </a:buClr>
                        <a:buSzPts val="1400"/>
                        <a:buFont typeface="Arial"/>
                        <a:buNone/>
                      </a:pPr>
                      <a:r>
                        <a:rPr lang="en-US" sz="1600" u="none" cap="none" strike="noStrike">
                          <a:latin typeface="Times New Roman"/>
                          <a:ea typeface="Times New Roman"/>
                          <a:cs typeface="Times New Roman"/>
                          <a:sym typeface="Times New Roman"/>
                        </a:rPr>
                        <a:t>Báo sự cố</a:t>
                      </a:r>
                      <a:endParaRPr b="0" i="0" sz="1600" u="none" cap="none" strike="noStrike">
                        <a:latin typeface="Times New Roman"/>
                        <a:ea typeface="Times New Roman"/>
                        <a:cs typeface="Times New Roman"/>
                        <a:sym typeface="Times New Roman"/>
                      </a:endParaRPr>
                    </a:p>
                  </a:txBody>
                  <a:tcPr marT="32025" marB="32025" marR="64050" marL="6405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600" u="none" cap="none" strike="noStrike">
                          <a:latin typeface="Times New Roman"/>
                          <a:ea typeface="Times New Roman"/>
                          <a:cs typeface="Times New Roman"/>
                          <a:sym typeface="Times New Roman"/>
                        </a:rPr>
                        <a:t>Xử lý</a:t>
                      </a:r>
                      <a:endParaRPr b="0" i="0" sz="1600" u="none" cap="none" strike="noStrike">
                        <a:latin typeface="Times New Roman"/>
                        <a:ea typeface="Times New Roman"/>
                        <a:cs typeface="Times New Roman"/>
                        <a:sym typeface="Times New Roman"/>
                      </a:endParaRPr>
                    </a:p>
                  </a:txBody>
                  <a:tcPr marT="32025" marB="32025" marR="64050" marL="6405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600" u="none" cap="none" strike="noStrike">
                          <a:latin typeface="Times New Roman"/>
                          <a:ea typeface="Times New Roman"/>
                          <a:cs typeface="Times New Roman"/>
                          <a:sym typeface="Times New Roman"/>
                        </a:rPr>
                        <a:t>✓</a:t>
                      </a:r>
                      <a:endParaRPr b="0" i="0" sz="1600" u="none" cap="none" strike="noStrike">
                        <a:latin typeface="Times New Roman"/>
                        <a:ea typeface="Times New Roman"/>
                        <a:cs typeface="Times New Roman"/>
                        <a:sym typeface="Times New Roman"/>
                      </a:endParaRPr>
                    </a:p>
                  </a:txBody>
                  <a:tcPr marT="32025" marB="32025" marR="64050" marL="64050" anchor="ctr"/>
                </a:tc>
              </a:tr>
              <a:tr h="213525">
                <a:tc>
                  <a:txBody>
                    <a:bodyPr/>
                    <a:lstStyle/>
                    <a:p>
                      <a:pPr indent="0" lvl="0" marL="0" marR="0" rtl="0" algn="l">
                        <a:lnSpc>
                          <a:spcPct val="100000"/>
                        </a:lnSpc>
                        <a:spcBef>
                          <a:spcPts val="0"/>
                        </a:spcBef>
                        <a:spcAft>
                          <a:spcPts val="0"/>
                        </a:spcAft>
                        <a:buClr>
                          <a:srgbClr val="000000"/>
                        </a:buClr>
                        <a:buSzPts val="1400"/>
                        <a:buFont typeface="Arial"/>
                        <a:buNone/>
                      </a:pPr>
                      <a:r>
                        <a:rPr lang="en-US" sz="1600" u="none" cap="none" strike="noStrike">
                          <a:latin typeface="Times New Roman"/>
                          <a:ea typeface="Times New Roman"/>
                          <a:cs typeface="Times New Roman"/>
                          <a:sym typeface="Times New Roman"/>
                        </a:rPr>
                        <a:t>Báo cáo doanh thu</a:t>
                      </a:r>
                      <a:endParaRPr b="0" i="0" sz="1600" u="none" cap="none" strike="noStrike">
                        <a:latin typeface="Times New Roman"/>
                        <a:ea typeface="Times New Roman"/>
                        <a:cs typeface="Times New Roman"/>
                        <a:sym typeface="Times New Roman"/>
                      </a:endParaRPr>
                    </a:p>
                  </a:txBody>
                  <a:tcPr marT="32025" marB="32025" marR="64050" marL="6405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600" u="none" cap="none" strike="noStrike">
                          <a:latin typeface="Times New Roman"/>
                          <a:ea typeface="Times New Roman"/>
                          <a:cs typeface="Times New Roman"/>
                          <a:sym typeface="Times New Roman"/>
                        </a:rPr>
                        <a:t>✓</a:t>
                      </a:r>
                      <a:endParaRPr b="0" i="0" sz="1600" u="none" cap="none" strike="noStrike">
                        <a:latin typeface="Times New Roman"/>
                        <a:ea typeface="Times New Roman"/>
                        <a:cs typeface="Times New Roman"/>
                        <a:sym typeface="Times New Roman"/>
                      </a:endParaRPr>
                    </a:p>
                  </a:txBody>
                  <a:tcPr marT="32025" marB="32025" marR="64050" marL="6405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600" u="none" cap="none" strike="noStrike">
                          <a:latin typeface="Times New Roman"/>
                          <a:ea typeface="Times New Roman"/>
                          <a:cs typeface="Times New Roman"/>
                          <a:sym typeface="Times New Roman"/>
                        </a:rPr>
                        <a:t>X</a:t>
                      </a:r>
                      <a:endParaRPr b="0" i="0" sz="1600" u="none" cap="none" strike="noStrike">
                        <a:latin typeface="Times New Roman"/>
                        <a:ea typeface="Times New Roman"/>
                        <a:cs typeface="Times New Roman"/>
                        <a:sym typeface="Times New Roman"/>
                      </a:endParaRPr>
                    </a:p>
                  </a:txBody>
                  <a:tcPr marT="32025" marB="32025" marR="64050" marL="64050" anchor="ctr"/>
                </a:tc>
              </a:tr>
              <a:tr h="213525">
                <a:tc>
                  <a:txBody>
                    <a:bodyPr/>
                    <a:lstStyle/>
                    <a:p>
                      <a:pPr indent="0" lvl="0" marL="0" marR="0" rtl="0" algn="l">
                        <a:lnSpc>
                          <a:spcPct val="100000"/>
                        </a:lnSpc>
                        <a:spcBef>
                          <a:spcPts val="0"/>
                        </a:spcBef>
                        <a:spcAft>
                          <a:spcPts val="0"/>
                        </a:spcAft>
                        <a:buClr>
                          <a:srgbClr val="000000"/>
                        </a:buClr>
                        <a:buSzPts val="1400"/>
                        <a:buFont typeface="Arial"/>
                        <a:buNone/>
                      </a:pPr>
                      <a:r>
                        <a:rPr lang="en-US" sz="1600" u="none" cap="none" strike="noStrike">
                          <a:latin typeface="Times New Roman"/>
                          <a:ea typeface="Times New Roman"/>
                          <a:cs typeface="Times New Roman"/>
                          <a:sym typeface="Times New Roman"/>
                        </a:rPr>
                        <a:t>Theo dõi công nợ</a:t>
                      </a:r>
                      <a:endParaRPr b="0" i="0" sz="1600" u="none" cap="none" strike="noStrike">
                        <a:latin typeface="Times New Roman"/>
                        <a:ea typeface="Times New Roman"/>
                        <a:cs typeface="Times New Roman"/>
                        <a:sym typeface="Times New Roman"/>
                      </a:endParaRPr>
                    </a:p>
                  </a:txBody>
                  <a:tcPr marT="32025" marB="32025" marR="64050" marL="6405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600" u="none" cap="none" strike="noStrike">
                          <a:latin typeface="Times New Roman"/>
                          <a:ea typeface="Times New Roman"/>
                          <a:cs typeface="Times New Roman"/>
                          <a:sym typeface="Times New Roman"/>
                        </a:rPr>
                        <a:t>✓</a:t>
                      </a:r>
                      <a:endParaRPr b="0" i="0" sz="1600" u="none" cap="none" strike="noStrike">
                        <a:latin typeface="Times New Roman"/>
                        <a:ea typeface="Times New Roman"/>
                        <a:cs typeface="Times New Roman"/>
                        <a:sym typeface="Times New Roman"/>
                      </a:endParaRPr>
                    </a:p>
                  </a:txBody>
                  <a:tcPr marT="32025" marB="32025" marR="64050" marL="6405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600" u="none" cap="none" strike="noStrike">
                          <a:latin typeface="Times New Roman"/>
                          <a:ea typeface="Times New Roman"/>
                          <a:cs typeface="Times New Roman"/>
                          <a:sym typeface="Times New Roman"/>
                        </a:rPr>
                        <a:t>Xem công nợ của mình</a:t>
                      </a:r>
                      <a:endParaRPr b="0" i="0" sz="1600" u="none" cap="none" strike="noStrike">
                        <a:latin typeface="Times New Roman"/>
                        <a:ea typeface="Times New Roman"/>
                        <a:cs typeface="Times New Roman"/>
                        <a:sym typeface="Times New Roman"/>
                      </a:endParaRPr>
                    </a:p>
                  </a:txBody>
                  <a:tcPr marT="32025" marB="32025" marR="64050" marL="64050" anchor="ct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3"/>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en-US">
                <a:latin typeface="Arial"/>
                <a:ea typeface="Arial"/>
                <a:cs typeface="Arial"/>
                <a:sym typeface="Arial"/>
              </a:rPr>
              <a:t>2. Giới thiệu đề tài</a:t>
            </a:r>
            <a:endParaRPr>
              <a:latin typeface="Arial"/>
              <a:ea typeface="Arial"/>
              <a:cs typeface="Arial"/>
              <a:sym typeface="Arial"/>
            </a:endParaRPr>
          </a:p>
        </p:txBody>
      </p:sp>
      <p:sp>
        <p:nvSpPr>
          <p:cNvPr id="173" name="Google Shape;173;p13"/>
          <p:cNvSpPr txBox="1"/>
          <p:nvPr>
            <p:ph idx="1" type="body"/>
          </p:nvPr>
        </p:nvSpPr>
        <p:spPr>
          <a:xfrm>
            <a:off x="337539" y="1032510"/>
            <a:ext cx="11515800" cy="4938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latin typeface="Arial"/>
                <a:ea typeface="Arial"/>
                <a:cs typeface="Arial"/>
                <a:sym typeface="Arial"/>
              </a:rPr>
              <a:t> </a:t>
            </a:r>
            <a:r>
              <a:rPr b="1" lang="en-US">
                <a:latin typeface="Arial"/>
                <a:ea typeface="Arial"/>
                <a:cs typeface="Arial"/>
                <a:sym typeface="Arial"/>
              </a:rPr>
              <a:t>d. Yêu cầu phi chức năng:</a:t>
            </a:r>
            <a:endParaRPr b="1">
              <a:latin typeface="Arial"/>
              <a:ea typeface="Arial"/>
              <a:cs typeface="Arial"/>
              <a:sym typeface="Arial"/>
            </a:endParaRPr>
          </a:p>
          <a:p>
            <a:pPr indent="-406400" lvl="0" marL="457200" marR="0" rtl="0" algn="l">
              <a:lnSpc>
                <a:spcPct val="90000"/>
              </a:lnSpc>
              <a:spcBef>
                <a:spcPts val="1000"/>
              </a:spcBef>
              <a:spcAft>
                <a:spcPts val="0"/>
              </a:spcAft>
              <a:buClr>
                <a:schemeClr val="dk1"/>
              </a:buClr>
              <a:buSzPts val="2800"/>
              <a:buFont typeface="Arial"/>
              <a:buChar char="•"/>
            </a:pPr>
            <a:r>
              <a:rPr b="1" lang="en-US" sz="2000">
                <a:latin typeface="Times New Roman"/>
                <a:ea typeface="Times New Roman"/>
                <a:cs typeface="Times New Roman"/>
                <a:sym typeface="Times New Roman"/>
              </a:rPr>
              <a:t>Tính bảo mật:</a:t>
            </a:r>
            <a:endParaRPr b="1" sz="2000">
              <a:latin typeface="Times New Roman"/>
              <a:ea typeface="Times New Roman"/>
              <a:cs typeface="Times New Roman"/>
              <a:sym typeface="Times New Roman"/>
            </a:endParaRPr>
          </a:p>
          <a:p>
            <a:pPr indent="0" lvl="0" marL="50800" rtl="0" algn="l">
              <a:lnSpc>
                <a:spcPct val="90000"/>
              </a:lnSpc>
              <a:spcBef>
                <a:spcPts val="1000"/>
              </a:spcBef>
              <a:spcAft>
                <a:spcPts val="0"/>
              </a:spcAft>
              <a:buSzPts val="2800"/>
              <a:buNone/>
            </a:pPr>
            <a:r>
              <a:rPr lang="en-US" sz="1800">
                <a:latin typeface="Times New Roman"/>
                <a:ea typeface="Times New Roman"/>
                <a:cs typeface="Times New Roman"/>
                <a:sym typeface="Times New Roman"/>
              </a:rPr>
              <a:t>Bảo vệ thông tin </a:t>
            </a:r>
            <a:r>
              <a:rPr b="1" lang="en-US" sz="1800">
                <a:latin typeface="Times New Roman"/>
                <a:ea typeface="Times New Roman"/>
                <a:cs typeface="Times New Roman"/>
                <a:sym typeface="Times New Roman"/>
              </a:rPr>
              <a:t>chủ trọ và người thuê</a:t>
            </a:r>
            <a:r>
              <a:rPr lang="en-US" sz="1800">
                <a:latin typeface="Times New Roman"/>
                <a:ea typeface="Times New Roman"/>
                <a:cs typeface="Times New Roman"/>
                <a:sym typeface="Times New Roman"/>
              </a:rPr>
              <a:t>. </a:t>
            </a:r>
            <a:endParaRPr/>
          </a:p>
          <a:p>
            <a:pPr indent="0" lvl="0" marL="50800" rtl="0" algn="l">
              <a:lnSpc>
                <a:spcPct val="90000"/>
              </a:lnSpc>
              <a:spcBef>
                <a:spcPts val="1000"/>
              </a:spcBef>
              <a:spcAft>
                <a:spcPts val="0"/>
              </a:spcAft>
              <a:buSzPts val="2800"/>
              <a:buNone/>
            </a:pPr>
            <a:r>
              <a:rPr lang="en-US" sz="1800">
                <a:latin typeface="Times New Roman"/>
                <a:ea typeface="Times New Roman"/>
                <a:cs typeface="Times New Roman"/>
                <a:sym typeface="Times New Roman"/>
              </a:rPr>
              <a:t>Đảm bảo dữ liệu về </a:t>
            </a:r>
            <a:r>
              <a:rPr b="1" lang="en-US" sz="1800">
                <a:latin typeface="Times New Roman"/>
                <a:ea typeface="Times New Roman"/>
                <a:cs typeface="Times New Roman"/>
                <a:sym typeface="Times New Roman"/>
              </a:rPr>
              <a:t>hợp đồng, hóa đơn và thanh toán</a:t>
            </a:r>
            <a:r>
              <a:rPr lang="en-US" sz="1800">
                <a:latin typeface="Times New Roman"/>
                <a:ea typeface="Times New Roman"/>
                <a:cs typeface="Times New Roman"/>
                <a:sym typeface="Times New Roman"/>
              </a:rPr>
              <a:t> không bị truy cập trái phép. </a:t>
            </a:r>
            <a:endParaRPr/>
          </a:p>
          <a:p>
            <a:pPr indent="-406400" lvl="0" marL="457200" marR="0" rtl="0" algn="l">
              <a:lnSpc>
                <a:spcPct val="90000"/>
              </a:lnSpc>
              <a:spcBef>
                <a:spcPts val="1000"/>
              </a:spcBef>
              <a:spcAft>
                <a:spcPts val="0"/>
              </a:spcAft>
              <a:buClr>
                <a:schemeClr val="dk1"/>
              </a:buClr>
              <a:buSzPts val="2800"/>
              <a:buFont typeface="Arial"/>
              <a:buChar char="•"/>
            </a:pPr>
            <a:r>
              <a:rPr b="1" lang="en-US" sz="2000">
                <a:latin typeface="Times New Roman"/>
                <a:ea typeface="Times New Roman"/>
                <a:cs typeface="Times New Roman"/>
                <a:sym typeface="Times New Roman"/>
              </a:rPr>
              <a:t>Tính dễ sử dụng:</a:t>
            </a:r>
            <a:endParaRPr b="1" sz="2000">
              <a:latin typeface="Times New Roman"/>
              <a:ea typeface="Times New Roman"/>
              <a:cs typeface="Times New Roman"/>
              <a:sym typeface="Times New Roman"/>
            </a:endParaRPr>
          </a:p>
          <a:p>
            <a:pPr indent="0" lvl="0" marL="50800" rtl="0" algn="l">
              <a:lnSpc>
                <a:spcPct val="90000"/>
              </a:lnSpc>
              <a:spcBef>
                <a:spcPts val="1000"/>
              </a:spcBef>
              <a:spcAft>
                <a:spcPts val="0"/>
              </a:spcAft>
              <a:buSzPts val="2800"/>
              <a:buNone/>
            </a:pPr>
            <a:r>
              <a:rPr lang="en-US" sz="1800">
                <a:latin typeface="Times New Roman"/>
                <a:ea typeface="Times New Roman"/>
                <a:cs typeface="Times New Roman"/>
                <a:sym typeface="Times New Roman"/>
              </a:rPr>
              <a:t>Giao diện </a:t>
            </a:r>
            <a:r>
              <a:rPr b="1" lang="en-US" sz="1800">
                <a:latin typeface="Times New Roman"/>
                <a:ea typeface="Times New Roman"/>
                <a:cs typeface="Times New Roman"/>
                <a:sym typeface="Times New Roman"/>
              </a:rPr>
              <a:t>đơn giản, trực quan, dễ thao tác</a:t>
            </a:r>
            <a:r>
              <a:rPr lang="en-US" sz="1800">
                <a:latin typeface="Times New Roman"/>
                <a:ea typeface="Times New Roman"/>
                <a:cs typeface="Times New Roman"/>
                <a:sym typeface="Times New Roman"/>
              </a:rPr>
              <a:t>. </a:t>
            </a:r>
            <a:endParaRPr/>
          </a:p>
          <a:p>
            <a:pPr indent="0" lvl="0" marL="50800" rtl="0" algn="l">
              <a:lnSpc>
                <a:spcPct val="90000"/>
              </a:lnSpc>
              <a:spcBef>
                <a:spcPts val="1000"/>
              </a:spcBef>
              <a:spcAft>
                <a:spcPts val="0"/>
              </a:spcAft>
              <a:buSzPts val="2800"/>
              <a:buNone/>
            </a:pPr>
            <a:r>
              <a:rPr lang="en-US" sz="1800">
                <a:latin typeface="Times New Roman"/>
                <a:ea typeface="Times New Roman"/>
                <a:cs typeface="Times New Roman"/>
                <a:sym typeface="Times New Roman"/>
              </a:rPr>
              <a:t>Người dùng có thể dễ dàng </a:t>
            </a:r>
            <a:r>
              <a:rPr b="1" lang="en-US" sz="1800">
                <a:latin typeface="Times New Roman"/>
                <a:ea typeface="Times New Roman"/>
                <a:cs typeface="Times New Roman"/>
                <a:sym typeface="Times New Roman"/>
              </a:rPr>
              <a:t>tra cứu phòng, hóa đơn, hợp đồng và thông tin cá nhân</a:t>
            </a:r>
            <a:r>
              <a:rPr lang="en-US" sz="1800">
                <a:latin typeface="Times New Roman"/>
                <a:ea typeface="Times New Roman"/>
                <a:cs typeface="Times New Roman"/>
                <a:sym typeface="Times New Roman"/>
              </a:rPr>
              <a:t>. </a:t>
            </a:r>
            <a:endParaRPr/>
          </a:p>
          <a:p>
            <a:pPr indent="-406400" lvl="0" marL="457200" marR="0" rtl="0" algn="l">
              <a:lnSpc>
                <a:spcPct val="90000"/>
              </a:lnSpc>
              <a:spcBef>
                <a:spcPts val="1000"/>
              </a:spcBef>
              <a:spcAft>
                <a:spcPts val="0"/>
              </a:spcAft>
              <a:buClr>
                <a:schemeClr val="dk1"/>
              </a:buClr>
              <a:buSzPts val="2800"/>
              <a:buFont typeface="Arial"/>
              <a:buChar char="•"/>
            </a:pPr>
            <a:r>
              <a:rPr b="1" lang="en-US" sz="2000">
                <a:latin typeface="Times New Roman"/>
                <a:ea typeface="Times New Roman"/>
                <a:cs typeface="Times New Roman"/>
                <a:sym typeface="Times New Roman"/>
              </a:rPr>
              <a:t>Tính hiệu năng:</a:t>
            </a:r>
            <a:endParaRPr b="1" sz="2000">
              <a:latin typeface="Times New Roman"/>
              <a:ea typeface="Times New Roman"/>
              <a:cs typeface="Times New Roman"/>
              <a:sym typeface="Times New Roman"/>
            </a:endParaRPr>
          </a:p>
          <a:p>
            <a:pPr indent="0" lvl="0" marL="50800" rtl="0" algn="l">
              <a:lnSpc>
                <a:spcPct val="90000"/>
              </a:lnSpc>
              <a:spcBef>
                <a:spcPts val="1000"/>
              </a:spcBef>
              <a:spcAft>
                <a:spcPts val="0"/>
              </a:spcAft>
              <a:buSzPts val="2800"/>
              <a:buNone/>
            </a:pPr>
            <a:r>
              <a:rPr lang="en-US" sz="1800">
                <a:latin typeface="Times New Roman"/>
                <a:ea typeface="Times New Roman"/>
                <a:cs typeface="Times New Roman"/>
                <a:sym typeface="Times New Roman"/>
              </a:rPr>
              <a:t>Thời gian phản hồi nhanh khi </a:t>
            </a:r>
            <a:r>
              <a:rPr b="1" lang="en-US" sz="1800">
                <a:latin typeface="Times New Roman"/>
                <a:ea typeface="Times New Roman"/>
                <a:cs typeface="Times New Roman"/>
                <a:sym typeface="Times New Roman"/>
              </a:rPr>
              <a:t>tra cứu, thêm, sửa, xóa dữ liệu</a:t>
            </a:r>
            <a:r>
              <a:rPr lang="en-US" sz="1800">
                <a:latin typeface="Times New Roman"/>
                <a:ea typeface="Times New Roman"/>
                <a:cs typeface="Times New Roman"/>
                <a:sym typeface="Times New Roman"/>
              </a:rPr>
              <a:t>. </a:t>
            </a:r>
            <a:endParaRPr/>
          </a:p>
          <a:p>
            <a:pPr indent="0" lvl="0" marL="50800" rtl="0" algn="l">
              <a:lnSpc>
                <a:spcPct val="90000"/>
              </a:lnSpc>
              <a:spcBef>
                <a:spcPts val="1000"/>
              </a:spcBef>
              <a:spcAft>
                <a:spcPts val="0"/>
              </a:spcAft>
              <a:buSzPts val="2800"/>
              <a:buNone/>
            </a:pPr>
            <a:r>
              <a:rPr lang="en-US" sz="1800">
                <a:latin typeface="Times New Roman"/>
                <a:ea typeface="Times New Roman"/>
                <a:cs typeface="Times New Roman"/>
                <a:sym typeface="Times New Roman"/>
              </a:rPr>
              <a:t>Xử lý hiệu quả các nghiệp vụ như </a:t>
            </a:r>
            <a:r>
              <a:rPr b="1" lang="en-US" sz="1800">
                <a:latin typeface="Times New Roman"/>
                <a:ea typeface="Times New Roman"/>
                <a:cs typeface="Times New Roman"/>
                <a:sym typeface="Times New Roman"/>
              </a:rPr>
              <a:t>tính tiền điện, nước và tạo hóa đơn</a:t>
            </a:r>
            <a:r>
              <a:rPr lang="en-US" sz="1800">
                <a:latin typeface="Times New Roman"/>
                <a:ea typeface="Times New Roman"/>
                <a:cs typeface="Times New Roman"/>
                <a:sym typeface="Times New Roman"/>
              </a:rPr>
              <a:t>. </a:t>
            </a:r>
            <a:endParaRPr/>
          </a:p>
          <a:p>
            <a:pPr indent="-406400" lvl="0" marL="457200" marR="0" rtl="0" algn="l">
              <a:lnSpc>
                <a:spcPct val="90000"/>
              </a:lnSpc>
              <a:spcBef>
                <a:spcPts val="1000"/>
              </a:spcBef>
              <a:spcAft>
                <a:spcPts val="0"/>
              </a:spcAft>
              <a:buClr>
                <a:schemeClr val="dk1"/>
              </a:buClr>
              <a:buSzPts val="2800"/>
              <a:buFont typeface="Arial"/>
              <a:buChar char="•"/>
            </a:pPr>
            <a:r>
              <a:rPr b="1" lang="en-US" sz="2000">
                <a:latin typeface="Times New Roman"/>
                <a:ea typeface="Times New Roman"/>
                <a:cs typeface="Times New Roman"/>
                <a:sym typeface="Times New Roman"/>
              </a:rPr>
              <a:t>Khả năng mở rộng:</a:t>
            </a:r>
            <a:endParaRPr b="1" sz="2000">
              <a:latin typeface="Times New Roman"/>
              <a:ea typeface="Times New Roman"/>
              <a:cs typeface="Times New Roman"/>
              <a:sym typeface="Times New Roman"/>
            </a:endParaRPr>
          </a:p>
          <a:p>
            <a:pPr indent="0" lvl="0" marL="50800" rtl="0" algn="l">
              <a:lnSpc>
                <a:spcPct val="90000"/>
              </a:lnSpc>
              <a:spcBef>
                <a:spcPts val="1000"/>
              </a:spcBef>
              <a:spcAft>
                <a:spcPts val="0"/>
              </a:spcAft>
              <a:buSzPts val="2800"/>
              <a:buNone/>
            </a:pPr>
            <a:r>
              <a:rPr lang="en-US" sz="1800">
                <a:latin typeface="Times New Roman"/>
                <a:ea typeface="Times New Roman"/>
                <a:cs typeface="Times New Roman"/>
                <a:sym typeface="Times New Roman"/>
              </a:rPr>
              <a:t>Có thể bổ sung thêm </a:t>
            </a:r>
            <a:r>
              <a:rPr b="1" lang="en-US" sz="1800">
                <a:latin typeface="Times New Roman"/>
                <a:ea typeface="Times New Roman"/>
                <a:cs typeface="Times New Roman"/>
                <a:sym typeface="Times New Roman"/>
              </a:rPr>
              <a:t>phương thức thanh toán, thông báo, báo cáo thống kê</a:t>
            </a:r>
            <a:r>
              <a:rPr lang="en-US" sz="1800">
                <a:latin typeface="Times New Roman"/>
                <a:ea typeface="Times New Roman"/>
                <a:cs typeface="Times New Roman"/>
                <a:sym typeface="Times New Roman"/>
              </a:rPr>
              <a:t>. </a:t>
            </a:r>
            <a:endParaRPr/>
          </a:p>
          <a:p>
            <a:pPr indent="0" lvl="0" marL="50800" rtl="0" algn="l">
              <a:lnSpc>
                <a:spcPct val="90000"/>
              </a:lnSpc>
              <a:spcBef>
                <a:spcPts val="1000"/>
              </a:spcBef>
              <a:spcAft>
                <a:spcPts val="0"/>
              </a:spcAft>
              <a:buSzPts val="2800"/>
              <a:buNone/>
            </a:pPr>
            <a:r>
              <a:rPr lang="en-US" sz="1800">
                <a:latin typeface="Times New Roman"/>
                <a:ea typeface="Times New Roman"/>
                <a:cs typeface="Times New Roman"/>
                <a:sym typeface="Times New Roman"/>
              </a:rPr>
              <a:t>Có khả năng quản lý </a:t>
            </a:r>
            <a:r>
              <a:rPr b="1" lang="en-US" sz="1800">
                <a:latin typeface="Times New Roman"/>
                <a:ea typeface="Times New Roman"/>
                <a:cs typeface="Times New Roman"/>
                <a:sym typeface="Times New Roman"/>
              </a:rPr>
              <a:t>nhiều khu trọ và số lượng phòng lớn hơn</a:t>
            </a:r>
            <a:r>
              <a:rPr lang="en-US" sz="1800">
                <a:latin typeface="Times New Roman"/>
                <a:ea typeface="Times New Roman"/>
                <a:cs typeface="Times New Roman"/>
                <a:sym typeface="Times New Roman"/>
              </a:rPr>
              <a:t>. </a:t>
            </a:r>
            <a:endParaRPr/>
          </a:p>
          <a:p>
            <a:pPr indent="0" lvl="0" marL="0" rtl="0" algn="l">
              <a:lnSpc>
                <a:spcPct val="90000"/>
              </a:lnSpc>
              <a:spcBef>
                <a:spcPts val="0"/>
              </a:spcBef>
              <a:spcAft>
                <a:spcPts val="0"/>
              </a:spcAft>
              <a:buSzPts val="2800"/>
              <a:buNone/>
            </a:pPr>
            <a:r>
              <a:t/>
            </a:r>
            <a:endParaRPr>
              <a:latin typeface="Arial"/>
              <a:ea typeface="Arial"/>
              <a:cs typeface="Arial"/>
              <a:sym typeface="Arial"/>
            </a:endParaRPr>
          </a:p>
        </p:txBody>
      </p:sp>
      <p:sp>
        <p:nvSpPr>
          <p:cNvPr id="174" name="Google Shape;174;p13"/>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4"/>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en-US">
                <a:latin typeface="Arial"/>
                <a:ea typeface="Arial"/>
                <a:cs typeface="Arial"/>
                <a:sym typeface="Arial"/>
              </a:rPr>
              <a:t>MỤC LỤC</a:t>
            </a:r>
            <a:endParaRPr>
              <a:latin typeface="Arial"/>
              <a:ea typeface="Arial"/>
              <a:cs typeface="Arial"/>
              <a:sym typeface="Arial"/>
            </a:endParaRPr>
          </a:p>
        </p:txBody>
      </p:sp>
      <p:sp>
        <p:nvSpPr>
          <p:cNvPr id="180" name="Google Shape;180;p14"/>
          <p:cNvSpPr txBox="1"/>
          <p:nvPr>
            <p:ph idx="1" type="body"/>
          </p:nvPr>
        </p:nvSpPr>
        <p:spPr>
          <a:xfrm>
            <a:off x="338736" y="1058844"/>
            <a:ext cx="11514600" cy="4909200"/>
          </a:xfrm>
          <a:prstGeom prst="rect">
            <a:avLst/>
          </a:prstGeom>
          <a:noFill/>
          <a:ln>
            <a:noFill/>
          </a:ln>
        </p:spPr>
        <p:txBody>
          <a:bodyPr anchorCtr="0" anchor="t" bIns="45700" lIns="91425" spcFirstLastPara="1" rIns="91425" wrap="square" tIns="45700">
            <a:noAutofit/>
          </a:bodyPr>
          <a:lstStyle/>
          <a:p>
            <a:pPr indent="-50800" lvl="0" marL="228600" rtl="0" algn="l">
              <a:lnSpc>
                <a:spcPct val="90000"/>
              </a:lnSpc>
              <a:spcBef>
                <a:spcPts val="0"/>
              </a:spcBef>
              <a:spcAft>
                <a:spcPts val="0"/>
              </a:spcAft>
              <a:buClr>
                <a:schemeClr val="dk1"/>
              </a:buClr>
              <a:buSzPts val="2800"/>
              <a:buNone/>
            </a:pPr>
            <a:r>
              <a:rPr lang="en-US">
                <a:latin typeface="Arial"/>
                <a:ea typeface="Arial"/>
                <a:cs typeface="Arial"/>
                <a:sym typeface="Arial"/>
              </a:rPr>
              <a:t>1. Giới thiệu thành viên &amp; Phân công nhiệm vụ</a:t>
            </a:r>
            <a:endParaRPr>
              <a:latin typeface="Arial"/>
              <a:ea typeface="Arial"/>
              <a:cs typeface="Arial"/>
              <a:sym typeface="Arial"/>
            </a:endParaRPr>
          </a:p>
          <a:p>
            <a:pPr indent="-50800" lvl="0" marL="228600" rtl="0" algn="l">
              <a:lnSpc>
                <a:spcPct val="90000"/>
              </a:lnSpc>
              <a:spcBef>
                <a:spcPts val="0"/>
              </a:spcBef>
              <a:spcAft>
                <a:spcPts val="0"/>
              </a:spcAft>
              <a:buClr>
                <a:schemeClr val="dk1"/>
              </a:buClr>
              <a:buSzPts val="2800"/>
              <a:buNone/>
            </a:pPr>
            <a:r>
              <a:rPr lang="en-US">
                <a:latin typeface="Arial"/>
                <a:ea typeface="Arial"/>
                <a:cs typeface="Arial"/>
                <a:sym typeface="Arial"/>
              </a:rPr>
              <a:t>2. Giới thiệu đề tài</a:t>
            </a:r>
            <a:endParaRPr>
              <a:latin typeface="Arial"/>
              <a:ea typeface="Arial"/>
              <a:cs typeface="Arial"/>
              <a:sym typeface="Arial"/>
            </a:endParaRPr>
          </a:p>
          <a:p>
            <a:pPr indent="-50800" lvl="0" marL="228600" rtl="0" algn="l">
              <a:lnSpc>
                <a:spcPct val="90000"/>
              </a:lnSpc>
              <a:spcBef>
                <a:spcPts val="0"/>
              </a:spcBef>
              <a:spcAft>
                <a:spcPts val="0"/>
              </a:spcAft>
              <a:buClr>
                <a:schemeClr val="dk1"/>
              </a:buClr>
              <a:buSzPts val="2800"/>
              <a:buNone/>
            </a:pPr>
            <a:r>
              <a:rPr lang="en-US">
                <a:solidFill>
                  <a:srgbClr val="FF0000"/>
                </a:solidFill>
                <a:latin typeface="Arial"/>
                <a:ea typeface="Arial"/>
                <a:cs typeface="Arial"/>
                <a:sym typeface="Arial"/>
              </a:rPr>
              <a:t>3. Timeline dự kiến</a:t>
            </a:r>
            <a:endParaRPr>
              <a:solidFill>
                <a:srgbClr val="FF0000"/>
              </a:solidFill>
              <a:latin typeface="Arial"/>
              <a:ea typeface="Arial"/>
              <a:cs typeface="Arial"/>
              <a:sym typeface="Arial"/>
            </a:endParaRPr>
          </a:p>
          <a:p>
            <a:pPr indent="-50800" lvl="0" marL="228600" rtl="0" algn="l">
              <a:lnSpc>
                <a:spcPct val="90000"/>
              </a:lnSpc>
              <a:spcBef>
                <a:spcPts val="0"/>
              </a:spcBef>
              <a:spcAft>
                <a:spcPts val="0"/>
              </a:spcAft>
              <a:buClr>
                <a:schemeClr val="dk1"/>
              </a:buClr>
              <a:buSzPts val="2800"/>
              <a:buNone/>
            </a:pPr>
            <a:r>
              <a:rPr lang="en-US">
                <a:solidFill>
                  <a:schemeClr val="dk1"/>
                </a:solidFill>
                <a:latin typeface="Arial"/>
                <a:ea typeface="Arial"/>
                <a:cs typeface="Arial"/>
                <a:sym typeface="Arial"/>
              </a:rPr>
              <a:t>4. Biểu đồ</a:t>
            </a:r>
            <a:endParaRPr>
              <a:solidFill>
                <a:schemeClr val="dk1"/>
              </a:solidFill>
              <a:latin typeface="Arial"/>
              <a:ea typeface="Arial"/>
              <a:cs typeface="Arial"/>
              <a:sym typeface="Arial"/>
            </a:endParaRPr>
          </a:p>
        </p:txBody>
      </p:sp>
      <p:sp>
        <p:nvSpPr>
          <p:cNvPr id="181" name="Google Shape;181;p14"/>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5"/>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en-US">
                <a:latin typeface="Arial"/>
                <a:ea typeface="Arial"/>
                <a:cs typeface="Arial"/>
                <a:sym typeface="Arial"/>
              </a:rPr>
              <a:t>3. Timeline dự kiến</a:t>
            </a:r>
            <a:endParaRPr>
              <a:latin typeface="Arial"/>
              <a:ea typeface="Arial"/>
              <a:cs typeface="Arial"/>
              <a:sym typeface="Arial"/>
            </a:endParaRPr>
          </a:p>
        </p:txBody>
      </p:sp>
      <p:sp>
        <p:nvSpPr>
          <p:cNvPr id="187" name="Google Shape;187;p15"/>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aphicFrame>
        <p:nvGraphicFramePr>
          <p:cNvPr id="188" name="Google Shape;188;p15"/>
          <p:cNvGraphicFramePr/>
          <p:nvPr/>
        </p:nvGraphicFramePr>
        <p:xfrm>
          <a:off x="1441548" y="1358200"/>
          <a:ext cx="3000000" cy="3000000"/>
        </p:xfrm>
        <a:graphic>
          <a:graphicData uri="http://schemas.openxmlformats.org/drawingml/2006/table">
            <a:tbl>
              <a:tblPr>
                <a:noFill/>
                <a:tableStyleId>{A73378FC-5060-42B1-B4D6-F3DC4F2D5391}</a:tableStyleId>
              </a:tblPr>
              <a:tblGrid>
                <a:gridCol w="3165650"/>
                <a:gridCol w="6143250"/>
              </a:tblGrid>
              <a:tr h="500800">
                <a:tc>
                  <a:txBody>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Thời gian</a:t>
                      </a:r>
                      <a:endParaRPr b="1" i="0" sz="2400" u="none" cap="none" strike="noStrike">
                        <a:solidFill>
                          <a:schemeClr val="dk1"/>
                        </a:solidFill>
                        <a:latin typeface="Times New Roman"/>
                        <a:ea typeface="Times New Roman"/>
                        <a:cs typeface="Times New Roman"/>
                        <a:sym typeface="Times New Roman"/>
                      </a:endParaRPr>
                    </a:p>
                  </a:txBody>
                  <a:tcPr marT="0" marB="0"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chemeClr val="dk1"/>
                          </a:solidFill>
                          <a:latin typeface="Arial"/>
                          <a:ea typeface="Arial"/>
                          <a:cs typeface="Arial"/>
                          <a:sym typeface="Arial"/>
                        </a:rPr>
                        <a:t>Nhiệm vụ</a:t>
                      </a:r>
                      <a:endParaRPr b="1" sz="2400" u="none" cap="none" strike="noStrike">
                        <a:solidFill>
                          <a:schemeClr val="dk1"/>
                        </a:solidFill>
                        <a:latin typeface="Arial"/>
                        <a:ea typeface="Arial"/>
                        <a:cs typeface="Arial"/>
                        <a:sym typeface="Arial"/>
                      </a:endParaRPr>
                    </a:p>
                  </a:txBody>
                  <a:tcPr marT="0" marB="0"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500800">
                <a:tc>
                  <a:txBody>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Times New Roman"/>
                          <a:ea typeface="Times New Roman"/>
                          <a:cs typeface="Times New Roman"/>
                          <a:sym typeface="Times New Roman"/>
                        </a:rPr>
                        <a:t>Tuần 1</a:t>
                      </a:r>
                      <a:endParaRPr b="1" i="0" sz="1600" u="none" cap="none" strike="noStrike">
                        <a:solidFill>
                          <a:schemeClr val="dk1"/>
                        </a:solidFill>
                        <a:latin typeface="Times New Roman"/>
                        <a:ea typeface="Times New Roman"/>
                        <a:cs typeface="Times New Roman"/>
                        <a:sym typeface="Times New Roman"/>
                      </a:endParaRPr>
                    </a:p>
                  </a:txBody>
                  <a:tcPr marT="0" marB="0"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solidFill>
                            <a:schemeClr val="dk1"/>
                          </a:solidFill>
                          <a:latin typeface="Arial"/>
                          <a:ea typeface="Arial"/>
                          <a:cs typeface="Arial"/>
                          <a:sym typeface="Arial"/>
                        </a:rPr>
                        <a:t>Tìm hiểu và lựa chọn đề tài</a:t>
                      </a:r>
                      <a:endParaRPr sz="1600" u="none" cap="none" strike="noStrike">
                        <a:solidFill>
                          <a:schemeClr val="dk1"/>
                        </a:solidFill>
                        <a:latin typeface="Arial"/>
                        <a:ea typeface="Arial"/>
                        <a:cs typeface="Arial"/>
                        <a:sym typeface="Arial"/>
                      </a:endParaRPr>
                    </a:p>
                  </a:txBody>
                  <a:tcPr marT="0" marB="0"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500800">
                <a:tc>
                  <a:txBody>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Times New Roman"/>
                          <a:ea typeface="Times New Roman"/>
                          <a:cs typeface="Times New Roman"/>
                          <a:sym typeface="Times New Roman"/>
                        </a:rPr>
                        <a:t>Tuần 2</a:t>
                      </a:r>
                      <a:endParaRPr b="1" i="0" sz="1600" u="none" cap="none" strike="noStrike">
                        <a:solidFill>
                          <a:schemeClr val="dk1"/>
                        </a:solidFill>
                        <a:latin typeface="Times New Roman"/>
                        <a:ea typeface="Times New Roman"/>
                        <a:cs typeface="Times New Roman"/>
                        <a:sym typeface="Times New Roman"/>
                      </a:endParaRPr>
                    </a:p>
                  </a:txBody>
                  <a:tcPr marT="0" marB="0"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solidFill>
                            <a:schemeClr val="dk1"/>
                          </a:solidFill>
                          <a:latin typeface="Arial"/>
                          <a:ea typeface="Arial"/>
                          <a:cs typeface="Arial"/>
                          <a:sym typeface="Arial"/>
                        </a:rPr>
                        <a:t>Làm powerpoint giới thiệu nhóm và đề tài</a:t>
                      </a:r>
                      <a:endParaRPr sz="1600" u="none" cap="none" strike="noStrike">
                        <a:solidFill>
                          <a:schemeClr val="dk1"/>
                        </a:solidFill>
                        <a:latin typeface="Arial"/>
                        <a:ea typeface="Arial"/>
                        <a:cs typeface="Arial"/>
                        <a:sym typeface="Arial"/>
                      </a:endParaRPr>
                    </a:p>
                  </a:txBody>
                  <a:tcPr marT="0" marB="0"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635975">
                <a:tc>
                  <a:txBody>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Times New Roman"/>
                          <a:ea typeface="Times New Roman"/>
                          <a:cs typeface="Times New Roman"/>
                          <a:sym typeface="Times New Roman"/>
                        </a:rPr>
                        <a:t>Tuần 3 - 8</a:t>
                      </a:r>
                      <a:endParaRPr b="1" i="0" sz="1600" u="none" cap="none" strike="noStrike">
                        <a:solidFill>
                          <a:schemeClr val="dk1"/>
                        </a:solidFill>
                        <a:latin typeface="Times New Roman"/>
                        <a:ea typeface="Times New Roman"/>
                        <a:cs typeface="Times New Roman"/>
                        <a:sym typeface="Times New Roman"/>
                      </a:endParaRPr>
                    </a:p>
                  </a:txBody>
                  <a:tcPr marT="0" marB="0"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solidFill>
                            <a:schemeClr val="dk1"/>
                          </a:solidFill>
                          <a:latin typeface="Arial"/>
                          <a:ea typeface="Arial"/>
                          <a:cs typeface="Arial"/>
                          <a:sym typeface="Arial"/>
                        </a:rPr>
                        <a:t>Thiết kế sản phẩm, làm báo cáo và powerpoint giữa kỳ</a:t>
                      </a:r>
                      <a:endParaRPr sz="1600" u="none" cap="none" strike="noStrike">
                        <a:solidFill>
                          <a:schemeClr val="dk1"/>
                        </a:solidFill>
                        <a:latin typeface="Arial"/>
                        <a:ea typeface="Arial"/>
                        <a:cs typeface="Arial"/>
                        <a:sym typeface="Arial"/>
                      </a:endParaRPr>
                    </a:p>
                  </a:txBody>
                  <a:tcPr marT="0" marB="0"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500800">
                <a:tc>
                  <a:txBody>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Times New Roman"/>
                          <a:ea typeface="Times New Roman"/>
                          <a:cs typeface="Times New Roman"/>
                          <a:sym typeface="Times New Roman"/>
                        </a:rPr>
                        <a:t>Tuần 9</a:t>
                      </a:r>
                      <a:endParaRPr b="1" i="0" sz="1600" u="none" cap="none" strike="noStrike">
                        <a:solidFill>
                          <a:schemeClr val="dk1"/>
                        </a:solidFill>
                        <a:latin typeface="Times New Roman"/>
                        <a:ea typeface="Times New Roman"/>
                        <a:cs typeface="Times New Roman"/>
                        <a:sym typeface="Times New Roman"/>
                      </a:endParaRPr>
                    </a:p>
                  </a:txBody>
                  <a:tcPr marT="0" marB="0"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solidFill>
                            <a:schemeClr val="dk1"/>
                          </a:solidFill>
                          <a:latin typeface="Arial"/>
                          <a:ea typeface="Arial"/>
                          <a:cs typeface="Arial"/>
                          <a:sym typeface="Arial"/>
                        </a:rPr>
                        <a:t>Hoàn thiện báo cáo giữa kỳ</a:t>
                      </a:r>
                      <a:endParaRPr sz="1600" u="none" cap="none" strike="noStrike">
                        <a:solidFill>
                          <a:schemeClr val="dk1"/>
                        </a:solidFill>
                        <a:latin typeface="Arial"/>
                        <a:ea typeface="Arial"/>
                        <a:cs typeface="Arial"/>
                        <a:sym typeface="Arial"/>
                      </a:endParaRPr>
                    </a:p>
                  </a:txBody>
                  <a:tcPr marT="0" marB="0"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500800">
                <a:tc>
                  <a:txBody>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Times New Roman"/>
                          <a:ea typeface="Times New Roman"/>
                          <a:cs typeface="Times New Roman"/>
                          <a:sym typeface="Times New Roman"/>
                        </a:rPr>
                        <a:t>Tuần 10 - 13</a:t>
                      </a:r>
                      <a:endParaRPr b="1" i="0" sz="1600" u="none" cap="none" strike="noStrike">
                        <a:solidFill>
                          <a:schemeClr val="dk1"/>
                        </a:solidFill>
                        <a:latin typeface="Times New Roman"/>
                        <a:ea typeface="Times New Roman"/>
                        <a:cs typeface="Times New Roman"/>
                        <a:sym typeface="Times New Roman"/>
                      </a:endParaRPr>
                    </a:p>
                  </a:txBody>
                  <a:tcPr marT="0" marB="0"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solidFill>
                            <a:schemeClr val="dk1"/>
                          </a:solidFill>
                          <a:latin typeface="Arial"/>
                          <a:ea typeface="Arial"/>
                          <a:cs typeface="Arial"/>
                          <a:sym typeface="Arial"/>
                        </a:rPr>
                        <a:t>Hoàn thiện sản phẩm, chạy thử và sửa lỗi</a:t>
                      </a:r>
                      <a:endParaRPr b="1" sz="1600" u="none" cap="none" strike="noStrike">
                        <a:solidFill>
                          <a:schemeClr val="dk1"/>
                        </a:solidFill>
                        <a:latin typeface="Arial"/>
                        <a:ea typeface="Arial"/>
                        <a:cs typeface="Arial"/>
                        <a:sym typeface="Arial"/>
                      </a:endParaRPr>
                    </a:p>
                  </a:txBody>
                  <a:tcPr marT="0" marB="0"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500800">
                <a:tc>
                  <a:txBody>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Times New Roman"/>
                          <a:ea typeface="Times New Roman"/>
                          <a:cs typeface="Times New Roman"/>
                          <a:sym typeface="Times New Roman"/>
                        </a:rPr>
                        <a:t>Tuần 14</a:t>
                      </a:r>
                      <a:endParaRPr b="1" i="0" sz="1600" u="none" cap="none" strike="noStrike">
                        <a:solidFill>
                          <a:schemeClr val="dk1"/>
                        </a:solidFill>
                        <a:latin typeface="Times New Roman"/>
                        <a:ea typeface="Times New Roman"/>
                        <a:cs typeface="Times New Roman"/>
                        <a:sym typeface="Times New Roman"/>
                      </a:endParaRPr>
                    </a:p>
                  </a:txBody>
                  <a:tcPr marT="0" marB="0"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0" lang="en-US" sz="1600" u="none" cap="none" strike="noStrike">
                          <a:solidFill>
                            <a:schemeClr val="dk1"/>
                          </a:solidFill>
                          <a:latin typeface="Arial"/>
                          <a:ea typeface="Arial"/>
                          <a:cs typeface="Arial"/>
                          <a:sym typeface="Arial"/>
                        </a:rPr>
                        <a:t>Hoàn thiện báo cáo và powerpoint</a:t>
                      </a:r>
                      <a:endParaRPr b="0" sz="1600" u="none" cap="none" strike="noStrike">
                        <a:solidFill>
                          <a:schemeClr val="dk1"/>
                        </a:solidFill>
                        <a:latin typeface="Arial"/>
                        <a:ea typeface="Arial"/>
                        <a:cs typeface="Arial"/>
                        <a:sym typeface="Arial"/>
                      </a:endParaRPr>
                    </a:p>
                  </a:txBody>
                  <a:tcPr marT="0" marB="0"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500800">
                <a:tc>
                  <a:txBody>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Times New Roman"/>
                          <a:ea typeface="Times New Roman"/>
                          <a:cs typeface="Times New Roman"/>
                          <a:sym typeface="Times New Roman"/>
                        </a:rPr>
                        <a:t>Tuần 15</a:t>
                      </a:r>
                      <a:endParaRPr b="1" i="0" sz="1600" u="none" cap="none" strike="noStrike">
                        <a:solidFill>
                          <a:schemeClr val="dk1"/>
                        </a:solidFill>
                        <a:latin typeface="Times New Roman"/>
                        <a:ea typeface="Times New Roman"/>
                        <a:cs typeface="Times New Roman"/>
                        <a:sym typeface="Times New Roman"/>
                      </a:endParaRPr>
                    </a:p>
                  </a:txBody>
                  <a:tcPr marT="0" marB="0"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0" lang="en-US" sz="1600" u="none" cap="none" strike="noStrike">
                          <a:solidFill>
                            <a:schemeClr val="dk1"/>
                          </a:solidFill>
                          <a:latin typeface="Arial"/>
                          <a:ea typeface="Arial"/>
                          <a:cs typeface="Arial"/>
                          <a:sym typeface="Arial"/>
                        </a:rPr>
                        <a:t>Báo cáo sản phẩm</a:t>
                      </a:r>
                      <a:endParaRPr b="0" sz="1600" u="none" cap="none" strike="noStrike">
                        <a:solidFill>
                          <a:schemeClr val="dk1"/>
                        </a:solidFill>
                        <a:latin typeface="Arial"/>
                        <a:ea typeface="Arial"/>
                        <a:cs typeface="Arial"/>
                        <a:sym typeface="Arial"/>
                      </a:endParaRPr>
                    </a:p>
                  </a:txBody>
                  <a:tcPr marT="0" marB="0"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6"/>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en-US">
                <a:latin typeface="Arial"/>
                <a:ea typeface="Arial"/>
                <a:cs typeface="Arial"/>
                <a:sym typeface="Arial"/>
              </a:rPr>
              <a:t>MỤC LỤC</a:t>
            </a:r>
            <a:endParaRPr>
              <a:latin typeface="Arial"/>
              <a:ea typeface="Arial"/>
              <a:cs typeface="Arial"/>
              <a:sym typeface="Arial"/>
            </a:endParaRPr>
          </a:p>
        </p:txBody>
      </p:sp>
      <p:sp>
        <p:nvSpPr>
          <p:cNvPr id="194" name="Google Shape;194;p16"/>
          <p:cNvSpPr txBox="1"/>
          <p:nvPr>
            <p:ph idx="1" type="body"/>
          </p:nvPr>
        </p:nvSpPr>
        <p:spPr>
          <a:xfrm>
            <a:off x="338736" y="1058844"/>
            <a:ext cx="11514600" cy="4909200"/>
          </a:xfrm>
          <a:prstGeom prst="rect">
            <a:avLst/>
          </a:prstGeom>
          <a:noFill/>
          <a:ln>
            <a:noFill/>
          </a:ln>
        </p:spPr>
        <p:txBody>
          <a:bodyPr anchorCtr="0" anchor="t" bIns="45700" lIns="91425" spcFirstLastPara="1" rIns="91425" wrap="square" tIns="45700">
            <a:noAutofit/>
          </a:bodyPr>
          <a:lstStyle/>
          <a:p>
            <a:pPr indent="-50800" lvl="0" marL="228600" rtl="0" algn="l">
              <a:lnSpc>
                <a:spcPct val="90000"/>
              </a:lnSpc>
              <a:spcBef>
                <a:spcPts val="0"/>
              </a:spcBef>
              <a:spcAft>
                <a:spcPts val="0"/>
              </a:spcAft>
              <a:buClr>
                <a:schemeClr val="dk1"/>
              </a:buClr>
              <a:buSzPts val="2800"/>
              <a:buNone/>
            </a:pPr>
            <a:r>
              <a:rPr lang="en-US">
                <a:latin typeface="Arial"/>
                <a:ea typeface="Arial"/>
                <a:cs typeface="Arial"/>
                <a:sym typeface="Arial"/>
              </a:rPr>
              <a:t>1. Giới thiệu thành viên &amp; Phân công nhiệm vụ</a:t>
            </a:r>
            <a:endParaRPr>
              <a:latin typeface="Arial"/>
              <a:ea typeface="Arial"/>
              <a:cs typeface="Arial"/>
              <a:sym typeface="Arial"/>
            </a:endParaRPr>
          </a:p>
          <a:p>
            <a:pPr indent="-50800" lvl="0" marL="228600" rtl="0" algn="l">
              <a:lnSpc>
                <a:spcPct val="90000"/>
              </a:lnSpc>
              <a:spcBef>
                <a:spcPts val="0"/>
              </a:spcBef>
              <a:spcAft>
                <a:spcPts val="0"/>
              </a:spcAft>
              <a:buClr>
                <a:schemeClr val="dk1"/>
              </a:buClr>
              <a:buSzPts val="2800"/>
              <a:buNone/>
            </a:pPr>
            <a:r>
              <a:rPr lang="en-US">
                <a:latin typeface="Arial"/>
                <a:ea typeface="Arial"/>
                <a:cs typeface="Arial"/>
                <a:sym typeface="Arial"/>
              </a:rPr>
              <a:t>2. Giới thiệu đề tài</a:t>
            </a:r>
            <a:endParaRPr>
              <a:latin typeface="Arial"/>
              <a:ea typeface="Arial"/>
              <a:cs typeface="Arial"/>
              <a:sym typeface="Arial"/>
            </a:endParaRPr>
          </a:p>
          <a:p>
            <a:pPr indent="-50800" lvl="0" marL="228600" rtl="0" algn="l">
              <a:lnSpc>
                <a:spcPct val="90000"/>
              </a:lnSpc>
              <a:spcBef>
                <a:spcPts val="0"/>
              </a:spcBef>
              <a:spcAft>
                <a:spcPts val="0"/>
              </a:spcAft>
              <a:buClr>
                <a:schemeClr val="dk1"/>
              </a:buClr>
              <a:buSzPts val="2800"/>
              <a:buNone/>
            </a:pPr>
            <a:r>
              <a:rPr lang="en-US">
                <a:solidFill>
                  <a:schemeClr val="dk1"/>
                </a:solidFill>
                <a:latin typeface="Arial"/>
                <a:ea typeface="Arial"/>
                <a:cs typeface="Arial"/>
                <a:sym typeface="Arial"/>
              </a:rPr>
              <a:t>3. Timeline dự kiến</a:t>
            </a:r>
            <a:endParaRPr>
              <a:solidFill>
                <a:schemeClr val="dk1"/>
              </a:solidFill>
              <a:latin typeface="Arial"/>
              <a:ea typeface="Arial"/>
              <a:cs typeface="Arial"/>
              <a:sym typeface="Arial"/>
            </a:endParaRPr>
          </a:p>
          <a:p>
            <a:pPr indent="-50800" lvl="0" marL="228600" rtl="0" algn="l">
              <a:lnSpc>
                <a:spcPct val="90000"/>
              </a:lnSpc>
              <a:spcBef>
                <a:spcPts val="0"/>
              </a:spcBef>
              <a:spcAft>
                <a:spcPts val="0"/>
              </a:spcAft>
              <a:buClr>
                <a:schemeClr val="dk1"/>
              </a:buClr>
              <a:buSzPts val="2800"/>
              <a:buNone/>
            </a:pPr>
            <a:r>
              <a:rPr lang="en-US">
                <a:solidFill>
                  <a:srgbClr val="FF0000"/>
                </a:solidFill>
                <a:latin typeface="Arial"/>
                <a:ea typeface="Arial"/>
                <a:cs typeface="Arial"/>
                <a:sym typeface="Arial"/>
              </a:rPr>
              <a:t>4. Biểu đồ</a:t>
            </a:r>
            <a:endParaRPr>
              <a:solidFill>
                <a:srgbClr val="FF0000"/>
              </a:solidFill>
              <a:latin typeface="Arial"/>
              <a:ea typeface="Arial"/>
              <a:cs typeface="Arial"/>
              <a:sym typeface="Arial"/>
            </a:endParaRPr>
          </a:p>
        </p:txBody>
      </p:sp>
      <p:sp>
        <p:nvSpPr>
          <p:cNvPr id="195" name="Google Shape;195;p16"/>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7"/>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lt1"/>
              </a:buClr>
              <a:buSzPts val="2800"/>
              <a:buFont typeface="Lato"/>
              <a:buNone/>
            </a:pPr>
            <a:r>
              <a:rPr lang="en-US"/>
              <a:t>Mô hình xây dựng hệ thống</a:t>
            </a:r>
            <a:endParaRPr/>
          </a:p>
        </p:txBody>
      </p:sp>
      <p:sp>
        <p:nvSpPr>
          <p:cNvPr id="201" name="Google Shape;201;p17"/>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02" name="Google Shape;202;p17"/>
          <p:cNvSpPr txBox="1"/>
          <p:nvPr/>
        </p:nvSpPr>
        <p:spPr>
          <a:xfrm>
            <a:off x="3092716" y="2084983"/>
            <a:ext cx="920405" cy="429216"/>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1600" u="none" cap="none" strike="noStrike">
                <a:solidFill>
                  <a:schemeClr val="dk1"/>
                </a:solidFill>
                <a:latin typeface="Times New Roman"/>
                <a:ea typeface="Times New Roman"/>
                <a:cs typeface="Times New Roman"/>
                <a:sym typeface="Times New Roman"/>
              </a:rPr>
              <a:t>Phân tích</a:t>
            </a:r>
            <a:endParaRPr b="1" i="0" sz="1600" u="none" cap="none" strike="noStrike">
              <a:solidFill>
                <a:schemeClr val="dk1"/>
              </a:solidFill>
              <a:latin typeface="Times New Roman"/>
              <a:ea typeface="Times New Roman"/>
              <a:cs typeface="Times New Roman"/>
              <a:sym typeface="Times New Roman"/>
            </a:endParaRPr>
          </a:p>
        </p:txBody>
      </p:sp>
      <p:sp>
        <p:nvSpPr>
          <p:cNvPr id="203" name="Google Shape;203;p17"/>
          <p:cNvSpPr txBox="1"/>
          <p:nvPr/>
        </p:nvSpPr>
        <p:spPr>
          <a:xfrm>
            <a:off x="4429802" y="2084983"/>
            <a:ext cx="1007449" cy="429216"/>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1600" u="none" cap="none" strike="noStrike">
                <a:solidFill>
                  <a:schemeClr val="dk1"/>
                </a:solidFill>
                <a:latin typeface="Times New Roman"/>
                <a:ea typeface="Times New Roman"/>
                <a:cs typeface="Times New Roman"/>
                <a:sym typeface="Times New Roman"/>
              </a:rPr>
              <a:t>Thiết kế</a:t>
            </a:r>
            <a:endParaRPr b="1" i="0" sz="1600" u="none" cap="none" strike="noStrike">
              <a:solidFill>
                <a:schemeClr val="dk1"/>
              </a:solidFill>
              <a:latin typeface="Times New Roman"/>
              <a:ea typeface="Times New Roman"/>
              <a:cs typeface="Times New Roman"/>
              <a:sym typeface="Times New Roman"/>
            </a:endParaRPr>
          </a:p>
        </p:txBody>
      </p:sp>
      <p:sp>
        <p:nvSpPr>
          <p:cNvPr id="204" name="Google Shape;204;p17"/>
          <p:cNvSpPr txBox="1"/>
          <p:nvPr/>
        </p:nvSpPr>
        <p:spPr>
          <a:xfrm>
            <a:off x="7186102" y="2084983"/>
            <a:ext cx="920405" cy="429216"/>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1600" u="none" cap="none" strike="noStrike">
                <a:solidFill>
                  <a:schemeClr val="dk1"/>
                </a:solidFill>
                <a:latin typeface="Times New Roman"/>
                <a:ea typeface="Times New Roman"/>
                <a:cs typeface="Times New Roman"/>
                <a:sym typeface="Times New Roman"/>
              </a:rPr>
              <a:t>Kiểm thử</a:t>
            </a:r>
            <a:endParaRPr b="1" i="0" sz="1600" u="none" cap="none" strike="noStrike">
              <a:solidFill>
                <a:schemeClr val="dk1"/>
              </a:solidFill>
              <a:latin typeface="Times New Roman"/>
              <a:ea typeface="Times New Roman"/>
              <a:cs typeface="Times New Roman"/>
              <a:sym typeface="Times New Roman"/>
            </a:endParaRPr>
          </a:p>
        </p:txBody>
      </p:sp>
      <p:sp>
        <p:nvSpPr>
          <p:cNvPr id="205" name="Google Shape;205;p17"/>
          <p:cNvSpPr txBox="1"/>
          <p:nvPr/>
        </p:nvSpPr>
        <p:spPr>
          <a:xfrm>
            <a:off x="5853932" y="2084983"/>
            <a:ext cx="920405" cy="429216"/>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1600" u="none" cap="none" strike="noStrike">
                <a:solidFill>
                  <a:schemeClr val="dk1"/>
                </a:solidFill>
                <a:latin typeface="Times New Roman"/>
                <a:ea typeface="Times New Roman"/>
                <a:cs typeface="Times New Roman"/>
                <a:sym typeface="Times New Roman"/>
              </a:rPr>
              <a:t>Code</a:t>
            </a:r>
            <a:endParaRPr b="1" i="0" sz="1600" u="none" cap="none" strike="noStrike">
              <a:solidFill>
                <a:schemeClr val="dk1"/>
              </a:solidFill>
              <a:latin typeface="Times New Roman"/>
              <a:ea typeface="Times New Roman"/>
              <a:cs typeface="Times New Roman"/>
              <a:sym typeface="Times New Roman"/>
            </a:endParaRPr>
          </a:p>
        </p:txBody>
      </p:sp>
      <p:cxnSp>
        <p:nvCxnSpPr>
          <p:cNvPr id="206" name="Google Shape;206;p17"/>
          <p:cNvCxnSpPr>
            <a:stCxn id="202" idx="3"/>
            <a:endCxn id="203" idx="1"/>
          </p:cNvCxnSpPr>
          <p:nvPr/>
        </p:nvCxnSpPr>
        <p:spPr>
          <a:xfrm>
            <a:off x="4013121" y="2299591"/>
            <a:ext cx="416700" cy="0"/>
          </a:xfrm>
          <a:prstGeom prst="straightConnector1">
            <a:avLst/>
          </a:prstGeom>
          <a:noFill/>
          <a:ln cap="flat" cmpd="sng" w="25400">
            <a:solidFill>
              <a:schemeClr val="dk1"/>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207" name="Google Shape;207;p17"/>
          <p:cNvCxnSpPr>
            <a:stCxn id="203" idx="3"/>
            <a:endCxn id="205" idx="1"/>
          </p:cNvCxnSpPr>
          <p:nvPr/>
        </p:nvCxnSpPr>
        <p:spPr>
          <a:xfrm>
            <a:off x="5437251" y="2299591"/>
            <a:ext cx="416700" cy="0"/>
          </a:xfrm>
          <a:prstGeom prst="straightConnector1">
            <a:avLst/>
          </a:prstGeom>
          <a:noFill/>
          <a:ln cap="flat" cmpd="sng" w="25400">
            <a:solidFill>
              <a:schemeClr val="dk1"/>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208" name="Google Shape;208;p17"/>
          <p:cNvCxnSpPr>
            <a:stCxn id="205" idx="3"/>
            <a:endCxn id="204" idx="1"/>
          </p:cNvCxnSpPr>
          <p:nvPr/>
        </p:nvCxnSpPr>
        <p:spPr>
          <a:xfrm>
            <a:off x="6774337" y="2299591"/>
            <a:ext cx="411900" cy="0"/>
          </a:xfrm>
          <a:prstGeom prst="straightConnector1">
            <a:avLst/>
          </a:prstGeom>
          <a:noFill/>
          <a:ln cap="flat" cmpd="sng" w="25400">
            <a:solidFill>
              <a:schemeClr val="dk1"/>
            </a:solidFill>
            <a:prstDash val="solid"/>
            <a:round/>
            <a:headEnd len="sm" w="sm" type="none"/>
            <a:tailEnd len="med" w="med" type="triangle"/>
          </a:ln>
          <a:effectLst>
            <a:outerShdw blurRad="40000" rotWithShape="0" dir="5400000" dist="20000">
              <a:srgbClr val="000000">
                <a:alpha val="38039"/>
              </a:srgbClr>
            </a:outerShdw>
          </a:effectLst>
        </p:spPr>
      </p:cxnSp>
      <p:sp>
        <p:nvSpPr>
          <p:cNvPr id="209" name="Google Shape;209;p17"/>
          <p:cNvSpPr txBox="1"/>
          <p:nvPr/>
        </p:nvSpPr>
        <p:spPr>
          <a:xfrm>
            <a:off x="8540615" y="2130333"/>
            <a:ext cx="987682" cy="33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Times New Roman"/>
                <a:ea typeface="Times New Roman"/>
                <a:cs typeface="Times New Roman"/>
                <a:sym typeface="Times New Roman"/>
              </a:rPr>
              <a:t>Bàn giao</a:t>
            </a:r>
            <a:endParaRPr b="1" i="0" sz="1600" u="none" cap="none" strike="noStrike">
              <a:solidFill>
                <a:srgbClr val="000000"/>
              </a:solidFill>
              <a:latin typeface="Times New Roman"/>
              <a:ea typeface="Times New Roman"/>
              <a:cs typeface="Times New Roman"/>
              <a:sym typeface="Times New Roman"/>
            </a:endParaRPr>
          </a:p>
        </p:txBody>
      </p:sp>
      <p:cxnSp>
        <p:nvCxnSpPr>
          <p:cNvPr id="210" name="Google Shape;210;p17"/>
          <p:cNvCxnSpPr>
            <a:stCxn id="204" idx="3"/>
            <a:endCxn id="209" idx="1"/>
          </p:cNvCxnSpPr>
          <p:nvPr/>
        </p:nvCxnSpPr>
        <p:spPr>
          <a:xfrm>
            <a:off x="8106507" y="2299591"/>
            <a:ext cx="434100" cy="0"/>
          </a:xfrm>
          <a:prstGeom prst="straightConnector1">
            <a:avLst/>
          </a:prstGeom>
          <a:noFill/>
          <a:ln cap="flat" cmpd="sng" w="25400">
            <a:solidFill>
              <a:schemeClr val="dk1"/>
            </a:solidFill>
            <a:prstDash val="solid"/>
            <a:round/>
            <a:headEnd len="sm" w="sm" type="none"/>
            <a:tailEnd len="med" w="med" type="triangle"/>
          </a:ln>
          <a:effectLst>
            <a:outerShdw blurRad="40000" rotWithShape="0" dir="5400000" dist="20000">
              <a:srgbClr val="000000">
                <a:alpha val="38039"/>
              </a:srgbClr>
            </a:outerShdw>
          </a:effectLst>
        </p:spPr>
      </p:cxnSp>
      <p:sp>
        <p:nvSpPr>
          <p:cNvPr id="211" name="Google Shape;211;p17"/>
          <p:cNvSpPr txBox="1"/>
          <p:nvPr/>
        </p:nvSpPr>
        <p:spPr>
          <a:xfrm>
            <a:off x="1941161" y="1930258"/>
            <a:ext cx="1151552" cy="8309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Times New Roman"/>
                <a:ea typeface="Times New Roman"/>
                <a:cs typeface="Times New Roman"/>
                <a:sym typeface="Times New Roman"/>
              </a:rPr>
              <a:t>Quản lý phòng + người thuê</a:t>
            </a:r>
            <a:endParaRPr b="1" i="0" sz="1600" u="none" cap="none" strike="noStrike">
              <a:solidFill>
                <a:srgbClr val="000000"/>
              </a:solidFill>
              <a:latin typeface="Times New Roman"/>
              <a:ea typeface="Times New Roman"/>
              <a:cs typeface="Times New Roman"/>
              <a:sym typeface="Times New Roman"/>
            </a:endParaRPr>
          </a:p>
        </p:txBody>
      </p:sp>
      <p:sp>
        <p:nvSpPr>
          <p:cNvPr id="212" name="Google Shape;212;p17"/>
          <p:cNvSpPr txBox="1"/>
          <p:nvPr/>
        </p:nvSpPr>
        <p:spPr>
          <a:xfrm>
            <a:off x="2310471" y="3027202"/>
            <a:ext cx="1011044" cy="58473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Times New Roman"/>
                <a:ea typeface="Times New Roman"/>
                <a:cs typeface="Times New Roman"/>
                <a:sym typeface="Times New Roman"/>
              </a:rPr>
              <a:t>Quản lý hợp đồng</a:t>
            </a:r>
            <a:endParaRPr b="1" i="0" sz="1600" u="none" cap="none" strike="noStrike">
              <a:solidFill>
                <a:srgbClr val="000000"/>
              </a:solidFill>
              <a:latin typeface="Times New Roman"/>
              <a:ea typeface="Times New Roman"/>
              <a:cs typeface="Times New Roman"/>
              <a:sym typeface="Times New Roman"/>
            </a:endParaRPr>
          </a:p>
        </p:txBody>
      </p:sp>
      <p:sp>
        <p:nvSpPr>
          <p:cNvPr id="213" name="Google Shape;213;p17"/>
          <p:cNvSpPr txBox="1"/>
          <p:nvPr/>
        </p:nvSpPr>
        <p:spPr>
          <a:xfrm>
            <a:off x="3408559" y="3044833"/>
            <a:ext cx="920405" cy="487957"/>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1600" u="none" cap="none" strike="noStrike">
                <a:solidFill>
                  <a:schemeClr val="dk1"/>
                </a:solidFill>
                <a:latin typeface="Times New Roman"/>
                <a:ea typeface="Times New Roman"/>
                <a:cs typeface="Times New Roman"/>
                <a:sym typeface="Times New Roman"/>
              </a:rPr>
              <a:t>Phân tích</a:t>
            </a:r>
            <a:endParaRPr b="1" i="0" sz="1600" u="none" cap="none" strike="noStrike">
              <a:solidFill>
                <a:schemeClr val="dk1"/>
              </a:solidFill>
              <a:latin typeface="Times New Roman"/>
              <a:ea typeface="Times New Roman"/>
              <a:cs typeface="Times New Roman"/>
              <a:sym typeface="Times New Roman"/>
            </a:endParaRPr>
          </a:p>
        </p:txBody>
      </p:sp>
      <p:sp>
        <p:nvSpPr>
          <p:cNvPr id="214" name="Google Shape;214;p17"/>
          <p:cNvSpPr txBox="1"/>
          <p:nvPr/>
        </p:nvSpPr>
        <p:spPr>
          <a:xfrm>
            <a:off x="4752808" y="3074204"/>
            <a:ext cx="1007449" cy="429216"/>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1600" u="none" cap="none" strike="noStrike">
                <a:solidFill>
                  <a:schemeClr val="dk1"/>
                </a:solidFill>
                <a:latin typeface="Times New Roman"/>
                <a:ea typeface="Times New Roman"/>
                <a:cs typeface="Times New Roman"/>
                <a:sym typeface="Times New Roman"/>
              </a:rPr>
              <a:t>Thiết kế</a:t>
            </a:r>
            <a:endParaRPr b="1" i="0" sz="1600" u="none" cap="none" strike="noStrike">
              <a:solidFill>
                <a:schemeClr val="dk1"/>
              </a:solidFill>
              <a:latin typeface="Times New Roman"/>
              <a:ea typeface="Times New Roman"/>
              <a:cs typeface="Times New Roman"/>
              <a:sym typeface="Times New Roman"/>
            </a:endParaRPr>
          </a:p>
        </p:txBody>
      </p:sp>
      <p:sp>
        <p:nvSpPr>
          <p:cNvPr id="215" name="Google Shape;215;p17"/>
          <p:cNvSpPr txBox="1"/>
          <p:nvPr/>
        </p:nvSpPr>
        <p:spPr>
          <a:xfrm>
            <a:off x="7509108" y="3074204"/>
            <a:ext cx="920405" cy="429216"/>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1600" u="none" cap="none" strike="noStrike">
                <a:solidFill>
                  <a:schemeClr val="dk1"/>
                </a:solidFill>
                <a:latin typeface="Times New Roman"/>
                <a:ea typeface="Times New Roman"/>
                <a:cs typeface="Times New Roman"/>
                <a:sym typeface="Times New Roman"/>
              </a:rPr>
              <a:t>Kiểm thử</a:t>
            </a:r>
            <a:endParaRPr b="1" i="0" sz="1600" u="none" cap="none" strike="noStrike">
              <a:solidFill>
                <a:schemeClr val="dk1"/>
              </a:solidFill>
              <a:latin typeface="Times New Roman"/>
              <a:ea typeface="Times New Roman"/>
              <a:cs typeface="Times New Roman"/>
              <a:sym typeface="Times New Roman"/>
            </a:endParaRPr>
          </a:p>
        </p:txBody>
      </p:sp>
      <p:sp>
        <p:nvSpPr>
          <p:cNvPr id="216" name="Google Shape;216;p17"/>
          <p:cNvSpPr txBox="1"/>
          <p:nvPr/>
        </p:nvSpPr>
        <p:spPr>
          <a:xfrm>
            <a:off x="6176938" y="3074204"/>
            <a:ext cx="920405" cy="429216"/>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1600" u="none" cap="none" strike="noStrike">
                <a:solidFill>
                  <a:schemeClr val="dk1"/>
                </a:solidFill>
                <a:latin typeface="Times New Roman"/>
                <a:ea typeface="Times New Roman"/>
                <a:cs typeface="Times New Roman"/>
                <a:sym typeface="Times New Roman"/>
              </a:rPr>
              <a:t>Code</a:t>
            </a:r>
            <a:endParaRPr b="1" i="0" sz="1600" u="none" cap="none" strike="noStrike">
              <a:solidFill>
                <a:schemeClr val="dk1"/>
              </a:solidFill>
              <a:latin typeface="Times New Roman"/>
              <a:ea typeface="Times New Roman"/>
              <a:cs typeface="Times New Roman"/>
              <a:sym typeface="Times New Roman"/>
            </a:endParaRPr>
          </a:p>
        </p:txBody>
      </p:sp>
      <p:cxnSp>
        <p:nvCxnSpPr>
          <p:cNvPr id="217" name="Google Shape;217;p17"/>
          <p:cNvCxnSpPr>
            <a:stCxn id="213" idx="3"/>
            <a:endCxn id="214" idx="1"/>
          </p:cNvCxnSpPr>
          <p:nvPr/>
        </p:nvCxnSpPr>
        <p:spPr>
          <a:xfrm>
            <a:off x="4328964" y="3288812"/>
            <a:ext cx="423900" cy="0"/>
          </a:xfrm>
          <a:prstGeom prst="straightConnector1">
            <a:avLst/>
          </a:prstGeom>
          <a:noFill/>
          <a:ln cap="flat" cmpd="sng" w="25400">
            <a:solidFill>
              <a:schemeClr val="dk1"/>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218" name="Google Shape;218;p17"/>
          <p:cNvCxnSpPr>
            <a:stCxn id="214" idx="3"/>
            <a:endCxn id="216" idx="1"/>
          </p:cNvCxnSpPr>
          <p:nvPr/>
        </p:nvCxnSpPr>
        <p:spPr>
          <a:xfrm>
            <a:off x="5760257" y="3288812"/>
            <a:ext cx="416700" cy="0"/>
          </a:xfrm>
          <a:prstGeom prst="straightConnector1">
            <a:avLst/>
          </a:prstGeom>
          <a:noFill/>
          <a:ln cap="flat" cmpd="sng" w="25400">
            <a:solidFill>
              <a:schemeClr val="dk1"/>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219" name="Google Shape;219;p17"/>
          <p:cNvCxnSpPr>
            <a:stCxn id="216" idx="3"/>
            <a:endCxn id="215" idx="1"/>
          </p:cNvCxnSpPr>
          <p:nvPr/>
        </p:nvCxnSpPr>
        <p:spPr>
          <a:xfrm>
            <a:off x="7097343" y="3288812"/>
            <a:ext cx="411900" cy="0"/>
          </a:xfrm>
          <a:prstGeom prst="straightConnector1">
            <a:avLst/>
          </a:prstGeom>
          <a:noFill/>
          <a:ln cap="flat" cmpd="sng" w="25400">
            <a:solidFill>
              <a:schemeClr val="dk1"/>
            </a:solidFill>
            <a:prstDash val="solid"/>
            <a:round/>
            <a:headEnd len="sm" w="sm" type="none"/>
            <a:tailEnd len="med" w="med" type="triangle"/>
          </a:ln>
          <a:effectLst>
            <a:outerShdw blurRad="40000" rotWithShape="0" dir="5400000" dist="20000">
              <a:srgbClr val="000000">
                <a:alpha val="38039"/>
              </a:srgbClr>
            </a:outerShdw>
          </a:effectLst>
        </p:spPr>
      </p:cxnSp>
      <p:sp>
        <p:nvSpPr>
          <p:cNvPr id="220" name="Google Shape;220;p17"/>
          <p:cNvSpPr txBox="1"/>
          <p:nvPr/>
        </p:nvSpPr>
        <p:spPr>
          <a:xfrm>
            <a:off x="8780266" y="3122284"/>
            <a:ext cx="1007448" cy="33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Times New Roman"/>
                <a:ea typeface="Times New Roman"/>
                <a:cs typeface="Times New Roman"/>
                <a:sym typeface="Times New Roman"/>
              </a:rPr>
              <a:t>Bàn giao</a:t>
            </a:r>
            <a:endParaRPr b="1" i="0" sz="1600" u="none" cap="none" strike="noStrike">
              <a:solidFill>
                <a:srgbClr val="000000"/>
              </a:solidFill>
              <a:latin typeface="Times New Roman"/>
              <a:ea typeface="Times New Roman"/>
              <a:cs typeface="Times New Roman"/>
              <a:sym typeface="Times New Roman"/>
            </a:endParaRPr>
          </a:p>
        </p:txBody>
      </p:sp>
      <p:cxnSp>
        <p:nvCxnSpPr>
          <p:cNvPr id="221" name="Google Shape;221;p17"/>
          <p:cNvCxnSpPr>
            <a:stCxn id="215" idx="3"/>
            <a:endCxn id="220" idx="1"/>
          </p:cNvCxnSpPr>
          <p:nvPr/>
        </p:nvCxnSpPr>
        <p:spPr>
          <a:xfrm>
            <a:off x="8429513" y="3288812"/>
            <a:ext cx="350700" cy="2700"/>
          </a:xfrm>
          <a:prstGeom prst="straightConnector1">
            <a:avLst/>
          </a:prstGeom>
          <a:noFill/>
          <a:ln cap="flat" cmpd="sng" w="25400">
            <a:solidFill>
              <a:schemeClr val="dk1"/>
            </a:solidFill>
            <a:prstDash val="solid"/>
            <a:round/>
            <a:headEnd len="sm" w="sm" type="none"/>
            <a:tailEnd len="med" w="med" type="triangle"/>
          </a:ln>
          <a:effectLst>
            <a:outerShdw blurRad="40000" rotWithShape="0" dir="5400000" dist="20000">
              <a:srgbClr val="000000">
                <a:alpha val="38039"/>
              </a:srgbClr>
            </a:outerShdw>
          </a:effectLst>
        </p:spPr>
      </p:cxnSp>
      <p:sp>
        <p:nvSpPr>
          <p:cNvPr id="222" name="Google Shape;222;p17"/>
          <p:cNvSpPr txBox="1"/>
          <p:nvPr/>
        </p:nvSpPr>
        <p:spPr>
          <a:xfrm>
            <a:off x="2866742" y="4007472"/>
            <a:ext cx="1014621" cy="58473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Times New Roman"/>
                <a:ea typeface="Times New Roman"/>
                <a:cs typeface="Times New Roman"/>
                <a:sym typeface="Times New Roman"/>
              </a:rPr>
              <a:t>Quản lý tài chính</a:t>
            </a:r>
            <a:endParaRPr b="1" i="0" sz="1600" u="none" cap="none" strike="noStrike">
              <a:solidFill>
                <a:srgbClr val="000000"/>
              </a:solidFill>
              <a:latin typeface="Times New Roman"/>
              <a:ea typeface="Times New Roman"/>
              <a:cs typeface="Times New Roman"/>
              <a:sym typeface="Times New Roman"/>
            </a:endParaRPr>
          </a:p>
        </p:txBody>
      </p:sp>
      <p:sp>
        <p:nvSpPr>
          <p:cNvPr id="223" name="Google Shape;223;p17"/>
          <p:cNvSpPr txBox="1"/>
          <p:nvPr/>
        </p:nvSpPr>
        <p:spPr>
          <a:xfrm>
            <a:off x="3924876" y="4054474"/>
            <a:ext cx="920405" cy="429216"/>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1600" u="none" cap="none" strike="noStrike">
                <a:solidFill>
                  <a:schemeClr val="dk1"/>
                </a:solidFill>
                <a:latin typeface="Times New Roman"/>
                <a:ea typeface="Times New Roman"/>
                <a:cs typeface="Times New Roman"/>
                <a:sym typeface="Times New Roman"/>
              </a:rPr>
              <a:t>Phân tích</a:t>
            </a:r>
            <a:endParaRPr b="1" i="0" sz="1600" u="none" cap="none" strike="noStrike">
              <a:solidFill>
                <a:schemeClr val="dk1"/>
              </a:solidFill>
              <a:latin typeface="Times New Roman"/>
              <a:ea typeface="Times New Roman"/>
              <a:cs typeface="Times New Roman"/>
              <a:sym typeface="Times New Roman"/>
            </a:endParaRPr>
          </a:p>
        </p:txBody>
      </p:sp>
      <p:sp>
        <p:nvSpPr>
          <p:cNvPr id="224" name="Google Shape;224;p17"/>
          <p:cNvSpPr txBox="1"/>
          <p:nvPr/>
        </p:nvSpPr>
        <p:spPr>
          <a:xfrm>
            <a:off x="5261962" y="4054474"/>
            <a:ext cx="1007449" cy="429216"/>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1600" u="none" cap="none" strike="noStrike">
                <a:solidFill>
                  <a:schemeClr val="dk1"/>
                </a:solidFill>
                <a:latin typeface="Times New Roman"/>
                <a:ea typeface="Times New Roman"/>
                <a:cs typeface="Times New Roman"/>
                <a:sym typeface="Times New Roman"/>
              </a:rPr>
              <a:t>Thiết kế</a:t>
            </a:r>
            <a:endParaRPr b="1" i="0" sz="1600" u="none" cap="none" strike="noStrike">
              <a:solidFill>
                <a:schemeClr val="dk1"/>
              </a:solidFill>
              <a:latin typeface="Times New Roman"/>
              <a:ea typeface="Times New Roman"/>
              <a:cs typeface="Times New Roman"/>
              <a:sym typeface="Times New Roman"/>
            </a:endParaRPr>
          </a:p>
        </p:txBody>
      </p:sp>
      <p:sp>
        <p:nvSpPr>
          <p:cNvPr id="225" name="Google Shape;225;p17"/>
          <p:cNvSpPr txBox="1"/>
          <p:nvPr/>
        </p:nvSpPr>
        <p:spPr>
          <a:xfrm>
            <a:off x="8018262" y="4054474"/>
            <a:ext cx="920405" cy="429216"/>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1600" u="none" cap="none" strike="noStrike">
                <a:solidFill>
                  <a:schemeClr val="dk1"/>
                </a:solidFill>
                <a:latin typeface="Times New Roman"/>
                <a:ea typeface="Times New Roman"/>
                <a:cs typeface="Times New Roman"/>
                <a:sym typeface="Times New Roman"/>
              </a:rPr>
              <a:t>Kiểm thử</a:t>
            </a:r>
            <a:endParaRPr b="1" i="0" sz="1600" u="none" cap="none" strike="noStrike">
              <a:solidFill>
                <a:schemeClr val="dk1"/>
              </a:solidFill>
              <a:latin typeface="Times New Roman"/>
              <a:ea typeface="Times New Roman"/>
              <a:cs typeface="Times New Roman"/>
              <a:sym typeface="Times New Roman"/>
            </a:endParaRPr>
          </a:p>
        </p:txBody>
      </p:sp>
      <p:sp>
        <p:nvSpPr>
          <p:cNvPr id="226" name="Google Shape;226;p17"/>
          <p:cNvSpPr txBox="1"/>
          <p:nvPr/>
        </p:nvSpPr>
        <p:spPr>
          <a:xfrm>
            <a:off x="6686092" y="4054474"/>
            <a:ext cx="920405" cy="429216"/>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1600" u="none" cap="none" strike="noStrike">
                <a:solidFill>
                  <a:schemeClr val="dk1"/>
                </a:solidFill>
                <a:latin typeface="Times New Roman"/>
                <a:ea typeface="Times New Roman"/>
                <a:cs typeface="Times New Roman"/>
                <a:sym typeface="Times New Roman"/>
              </a:rPr>
              <a:t>Code</a:t>
            </a:r>
            <a:endParaRPr b="1" i="0" sz="1600" u="none" cap="none" strike="noStrike">
              <a:solidFill>
                <a:schemeClr val="dk1"/>
              </a:solidFill>
              <a:latin typeface="Times New Roman"/>
              <a:ea typeface="Times New Roman"/>
              <a:cs typeface="Times New Roman"/>
              <a:sym typeface="Times New Roman"/>
            </a:endParaRPr>
          </a:p>
        </p:txBody>
      </p:sp>
      <p:cxnSp>
        <p:nvCxnSpPr>
          <p:cNvPr id="227" name="Google Shape;227;p17"/>
          <p:cNvCxnSpPr>
            <a:stCxn id="223" idx="3"/>
            <a:endCxn id="224" idx="1"/>
          </p:cNvCxnSpPr>
          <p:nvPr/>
        </p:nvCxnSpPr>
        <p:spPr>
          <a:xfrm>
            <a:off x="4845281" y="4269082"/>
            <a:ext cx="416700" cy="0"/>
          </a:xfrm>
          <a:prstGeom prst="straightConnector1">
            <a:avLst/>
          </a:prstGeom>
          <a:noFill/>
          <a:ln cap="flat" cmpd="sng" w="25400">
            <a:solidFill>
              <a:schemeClr val="dk1"/>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228" name="Google Shape;228;p17"/>
          <p:cNvCxnSpPr>
            <a:stCxn id="224" idx="3"/>
            <a:endCxn id="226" idx="1"/>
          </p:cNvCxnSpPr>
          <p:nvPr/>
        </p:nvCxnSpPr>
        <p:spPr>
          <a:xfrm>
            <a:off x="6269411" y="4269082"/>
            <a:ext cx="416700" cy="0"/>
          </a:xfrm>
          <a:prstGeom prst="straightConnector1">
            <a:avLst/>
          </a:prstGeom>
          <a:noFill/>
          <a:ln cap="flat" cmpd="sng" w="25400">
            <a:solidFill>
              <a:schemeClr val="dk1"/>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229" name="Google Shape;229;p17"/>
          <p:cNvCxnSpPr>
            <a:stCxn id="226" idx="3"/>
            <a:endCxn id="225" idx="1"/>
          </p:cNvCxnSpPr>
          <p:nvPr/>
        </p:nvCxnSpPr>
        <p:spPr>
          <a:xfrm>
            <a:off x="7606497" y="4269082"/>
            <a:ext cx="411900" cy="0"/>
          </a:xfrm>
          <a:prstGeom prst="straightConnector1">
            <a:avLst/>
          </a:prstGeom>
          <a:noFill/>
          <a:ln cap="flat" cmpd="sng" w="25400">
            <a:solidFill>
              <a:schemeClr val="dk1"/>
            </a:solidFill>
            <a:prstDash val="solid"/>
            <a:round/>
            <a:headEnd len="sm" w="sm" type="none"/>
            <a:tailEnd len="med" w="med" type="triangle"/>
          </a:ln>
          <a:effectLst>
            <a:outerShdw blurRad="40000" rotWithShape="0" dir="5400000" dist="20000">
              <a:srgbClr val="000000">
                <a:alpha val="38039"/>
              </a:srgbClr>
            </a:outerShdw>
          </a:effectLst>
        </p:spPr>
      </p:cxnSp>
      <p:sp>
        <p:nvSpPr>
          <p:cNvPr id="230" name="Google Shape;230;p17"/>
          <p:cNvSpPr txBox="1"/>
          <p:nvPr/>
        </p:nvSpPr>
        <p:spPr>
          <a:xfrm>
            <a:off x="9350432" y="4094389"/>
            <a:ext cx="1007448" cy="33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Times New Roman"/>
                <a:ea typeface="Times New Roman"/>
                <a:cs typeface="Times New Roman"/>
                <a:sym typeface="Times New Roman"/>
              </a:rPr>
              <a:t>Bàn giao</a:t>
            </a:r>
            <a:endParaRPr b="1" i="0" sz="1600" u="none" cap="none" strike="noStrike">
              <a:solidFill>
                <a:srgbClr val="000000"/>
              </a:solidFill>
              <a:latin typeface="Times New Roman"/>
              <a:ea typeface="Times New Roman"/>
              <a:cs typeface="Times New Roman"/>
              <a:sym typeface="Times New Roman"/>
            </a:endParaRPr>
          </a:p>
        </p:txBody>
      </p:sp>
      <p:cxnSp>
        <p:nvCxnSpPr>
          <p:cNvPr id="231" name="Google Shape;231;p17"/>
          <p:cNvCxnSpPr>
            <a:stCxn id="225" idx="3"/>
            <a:endCxn id="230" idx="1"/>
          </p:cNvCxnSpPr>
          <p:nvPr/>
        </p:nvCxnSpPr>
        <p:spPr>
          <a:xfrm flipH="1" rot="10800000">
            <a:off x="8938667" y="4263682"/>
            <a:ext cx="411900" cy="5400"/>
          </a:xfrm>
          <a:prstGeom prst="straightConnector1">
            <a:avLst/>
          </a:prstGeom>
          <a:noFill/>
          <a:ln cap="flat" cmpd="sng" w="25400">
            <a:solidFill>
              <a:schemeClr val="dk1"/>
            </a:solidFill>
            <a:prstDash val="solid"/>
            <a:round/>
            <a:headEnd len="sm" w="sm" type="none"/>
            <a:tailEnd len="med" w="med" type="triangle"/>
          </a:ln>
          <a:effectLst>
            <a:outerShdw blurRad="40000" rotWithShape="0" dir="5400000" dist="20000">
              <a:srgbClr val="000000">
                <a:alpha val="38039"/>
              </a:srgbClr>
            </a:outerShdw>
          </a:effectLst>
        </p:spPr>
      </p:cxnSp>
      <p:sp>
        <p:nvSpPr>
          <p:cNvPr id="232" name="Google Shape;232;p17"/>
          <p:cNvSpPr txBox="1"/>
          <p:nvPr/>
        </p:nvSpPr>
        <p:spPr>
          <a:xfrm>
            <a:off x="3251289" y="4920898"/>
            <a:ext cx="1178510" cy="58473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Times New Roman"/>
                <a:ea typeface="Times New Roman"/>
                <a:cs typeface="Times New Roman"/>
                <a:sym typeface="Times New Roman"/>
              </a:rPr>
              <a:t>Chức năng nâng cao</a:t>
            </a:r>
            <a:endParaRPr b="1" i="0" sz="1600" u="none" cap="none" strike="noStrike">
              <a:solidFill>
                <a:srgbClr val="000000"/>
              </a:solidFill>
              <a:latin typeface="Times New Roman"/>
              <a:ea typeface="Times New Roman"/>
              <a:cs typeface="Times New Roman"/>
              <a:sym typeface="Times New Roman"/>
            </a:endParaRPr>
          </a:p>
        </p:txBody>
      </p:sp>
      <p:sp>
        <p:nvSpPr>
          <p:cNvPr id="233" name="Google Shape;233;p17"/>
          <p:cNvSpPr txBox="1"/>
          <p:nvPr/>
        </p:nvSpPr>
        <p:spPr>
          <a:xfrm>
            <a:off x="4415029" y="4932727"/>
            <a:ext cx="920405" cy="471905"/>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1600" u="none" cap="none" strike="noStrike">
                <a:solidFill>
                  <a:schemeClr val="dk1"/>
                </a:solidFill>
                <a:latin typeface="Times New Roman"/>
                <a:ea typeface="Times New Roman"/>
                <a:cs typeface="Times New Roman"/>
                <a:sym typeface="Times New Roman"/>
              </a:rPr>
              <a:t>Phân tích</a:t>
            </a:r>
            <a:endParaRPr b="1" i="0" sz="1600" u="none" cap="none" strike="noStrike">
              <a:solidFill>
                <a:schemeClr val="dk1"/>
              </a:solidFill>
              <a:latin typeface="Times New Roman"/>
              <a:ea typeface="Times New Roman"/>
              <a:cs typeface="Times New Roman"/>
              <a:sym typeface="Times New Roman"/>
            </a:endParaRPr>
          </a:p>
        </p:txBody>
      </p:sp>
      <p:sp>
        <p:nvSpPr>
          <p:cNvPr id="234" name="Google Shape;234;p17"/>
          <p:cNvSpPr txBox="1"/>
          <p:nvPr/>
        </p:nvSpPr>
        <p:spPr>
          <a:xfrm>
            <a:off x="5766888" y="4954072"/>
            <a:ext cx="1007449" cy="429216"/>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1600" u="none" cap="none" strike="noStrike">
                <a:solidFill>
                  <a:schemeClr val="dk1"/>
                </a:solidFill>
                <a:latin typeface="Times New Roman"/>
                <a:ea typeface="Times New Roman"/>
                <a:cs typeface="Times New Roman"/>
                <a:sym typeface="Times New Roman"/>
              </a:rPr>
              <a:t>Thiết kế</a:t>
            </a:r>
            <a:endParaRPr b="1" i="0" sz="1600" u="none" cap="none" strike="noStrike">
              <a:solidFill>
                <a:schemeClr val="dk1"/>
              </a:solidFill>
              <a:latin typeface="Times New Roman"/>
              <a:ea typeface="Times New Roman"/>
              <a:cs typeface="Times New Roman"/>
              <a:sym typeface="Times New Roman"/>
            </a:endParaRPr>
          </a:p>
        </p:txBody>
      </p:sp>
      <p:sp>
        <p:nvSpPr>
          <p:cNvPr id="235" name="Google Shape;235;p17"/>
          <p:cNvSpPr txBox="1"/>
          <p:nvPr/>
        </p:nvSpPr>
        <p:spPr>
          <a:xfrm>
            <a:off x="8523188" y="4954072"/>
            <a:ext cx="920405" cy="429216"/>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1600" u="none" cap="none" strike="noStrike">
                <a:solidFill>
                  <a:schemeClr val="dk1"/>
                </a:solidFill>
                <a:latin typeface="Times New Roman"/>
                <a:ea typeface="Times New Roman"/>
                <a:cs typeface="Times New Roman"/>
                <a:sym typeface="Times New Roman"/>
              </a:rPr>
              <a:t>Kiểm thử</a:t>
            </a:r>
            <a:endParaRPr b="1" i="0" sz="1600" u="none" cap="none" strike="noStrike">
              <a:solidFill>
                <a:schemeClr val="dk1"/>
              </a:solidFill>
              <a:latin typeface="Times New Roman"/>
              <a:ea typeface="Times New Roman"/>
              <a:cs typeface="Times New Roman"/>
              <a:sym typeface="Times New Roman"/>
            </a:endParaRPr>
          </a:p>
        </p:txBody>
      </p:sp>
      <p:sp>
        <p:nvSpPr>
          <p:cNvPr id="236" name="Google Shape;236;p17"/>
          <p:cNvSpPr txBox="1"/>
          <p:nvPr/>
        </p:nvSpPr>
        <p:spPr>
          <a:xfrm>
            <a:off x="7191018" y="4954072"/>
            <a:ext cx="920405" cy="429216"/>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1600" u="none" cap="none" strike="noStrike">
                <a:solidFill>
                  <a:schemeClr val="dk1"/>
                </a:solidFill>
                <a:latin typeface="Times New Roman"/>
                <a:ea typeface="Times New Roman"/>
                <a:cs typeface="Times New Roman"/>
                <a:sym typeface="Times New Roman"/>
              </a:rPr>
              <a:t>Code</a:t>
            </a:r>
            <a:endParaRPr b="1" i="0" sz="1600" u="none" cap="none" strike="noStrike">
              <a:solidFill>
                <a:schemeClr val="dk1"/>
              </a:solidFill>
              <a:latin typeface="Times New Roman"/>
              <a:ea typeface="Times New Roman"/>
              <a:cs typeface="Times New Roman"/>
              <a:sym typeface="Times New Roman"/>
            </a:endParaRPr>
          </a:p>
        </p:txBody>
      </p:sp>
      <p:cxnSp>
        <p:nvCxnSpPr>
          <p:cNvPr id="237" name="Google Shape;237;p17"/>
          <p:cNvCxnSpPr>
            <a:stCxn id="233" idx="3"/>
            <a:endCxn id="234" idx="1"/>
          </p:cNvCxnSpPr>
          <p:nvPr/>
        </p:nvCxnSpPr>
        <p:spPr>
          <a:xfrm>
            <a:off x="5335434" y="5168680"/>
            <a:ext cx="431400" cy="0"/>
          </a:xfrm>
          <a:prstGeom prst="straightConnector1">
            <a:avLst/>
          </a:prstGeom>
          <a:noFill/>
          <a:ln cap="flat" cmpd="sng" w="25400">
            <a:solidFill>
              <a:schemeClr val="dk1"/>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238" name="Google Shape;238;p17"/>
          <p:cNvCxnSpPr>
            <a:stCxn id="234" idx="3"/>
            <a:endCxn id="236" idx="1"/>
          </p:cNvCxnSpPr>
          <p:nvPr/>
        </p:nvCxnSpPr>
        <p:spPr>
          <a:xfrm>
            <a:off x="6774337" y="5168680"/>
            <a:ext cx="416700" cy="0"/>
          </a:xfrm>
          <a:prstGeom prst="straightConnector1">
            <a:avLst/>
          </a:prstGeom>
          <a:noFill/>
          <a:ln cap="flat" cmpd="sng" w="25400">
            <a:solidFill>
              <a:schemeClr val="dk1"/>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239" name="Google Shape;239;p17"/>
          <p:cNvCxnSpPr>
            <a:stCxn id="236" idx="3"/>
            <a:endCxn id="235" idx="1"/>
          </p:cNvCxnSpPr>
          <p:nvPr/>
        </p:nvCxnSpPr>
        <p:spPr>
          <a:xfrm>
            <a:off x="8111423" y="5168680"/>
            <a:ext cx="411900" cy="0"/>
          </a:xfrm>
          <a:prstGeom prst="straightConnector1">
            <a:avLst/>
          </a:prstGeom>
          <a:noFill/>
          <a:ln cap="flat" cmpd="sng" w="25400">
            <a:solidFill>
              <a:schemeClr val="dk1"/>
            </a:solidFill>
            <a:prstDash val="solid"/>
            <a:round/>
            <a:headEnd len="sm" w="sm" type="none"/>
            <a:tailEnd len="med" w="med" type="triangle"/>
          </a:ln>
          <a:effectLst>
            <a:outerShdw blurRad="40000" rotWithShape="0" dir="5400000" dist="20000">
              <a:srgbClr val="000000">
                <a:alpha val="38039"/>
              </a:srgbClr>
            </a:outerShdw>
          </a:effectLst>
        </p:spPr>
      </p:cxnSp>
      <p:sp>
        <p:nvSpPr>
          <p:cNvPr id="240" name="Google Shape;240;p17"/>
          <p:cNvSpPr txBox="1"/>
          <p:nvPr/>
        </p:nvSpPr>
        <p:spPr>
          <a:xfrm>
            <a:off x="9854156" y="5005738"/>
            <a:ext cx="1007448" cy="33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Times New Roman"/>
                <a:ea typeface="Times New Roman"/>
                <a:cs typeface="Times New Roman"/>
                <a:sym typeface="Times New Roman"/>
              </a:rPr>
              <a:t>Bàn giao</a:t>
            </a:r>
            <a:endParaRPr b="1" i="0" sz="1600" u="none" cap="none" strike="noStrike">
              <a:solidFill>
                <a:srgbClr val="000000"/>
              </a:solidFill>
              <a:latin typeface="Times New Roman"/>
              <a:ea typeface="Times New Roman"/>
              <a:cs typeface="Times New Roman"/>
              <a:sym typeface="Times New Roman"/>
            </a:endParaRPr>
          </a:p>
        </p:txBody>
      </p:sp>
      <p:cxnSp>
        <p:nvCxnSpPr>
          <p:cNvPr id="241" name="Google Shape;241;p17"/>
          <p:cNvCxnSpPr>
            <a:stCxn id="235" idx="3"/>
            <a:endCxn id="240" idx="1"/>
          </p:cNvCxnSpPr>
          <p:nvPr/>
        </p:nvCxnSpPr>
        <p:spPr>
          <a:xfrm>
            <a:off x="9443593" y="5168680"/>
            <a:ext cx="410700" cy="6300"/>
          </a:xfrm>
          <a:prstGeom prst="straightConnector1">
            <a:avLst/>
          </a:prstGeom>
          <a:noFill/>
          <a:ln cap="flat" cmpd="sng" w="25400">
            <a:solidFill>
              <a:schemeClr val="dk1"/>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242" name="Google Shape;242;p17"/>
          <p:cNvCxnSpPr/>
          <p:nvPr/>
        </p:nvCxnSpPr>
        <p:spPr>
          <a:xfrm>
            <a:off x="1750192" y="1711771"/>
            <a:ext cx="0" cy="3969834"/>
          </a:xfrm>
          <a:prstGeom prst="straightConnector1">
            <a:avLst/>
          </a:prstGeom>
          <a:noFill/>
          <a:ln cap="flat" cmpd="sng" w="38100">
            <a:solidFill>
              <a:schemeClr val="dk1"/>
            </a:solidFill>
            <a:prstDash val="solid"/>
            <a:round/>
            <a:headEnd len="sm" w="sm" type="none"/>
            <a:tailEnd len="sm" w="sm" type="none"/>
          </a:ln>
          <a:effectLst>
            <a:outerShdw blurRad="40000" rotWithShape="0" dir="5400000" dist="23000">
              <a:srgbClr val="000000">
                <a:alpha val="34902"/>
              </a:srgbClr>
            </a:outerShdw>
          </a:effectLst>
        </p:spPr>
      </p:cxnSp>
      <p:cxnSp>
        <p:nvCxnSpPr>
          <p:cNvPr id="243" name="Google Shape;243;p17"/>
          <p:cNvCxnSpPr/>
          <p:nvPr/>
        </p:nvCxnSpPr>
        <p:spPr>
          <a:xfrm>
            <a:off x="1757626" y="5689040"/>
            <a:ext cx="9236088" cy="0"/>
          </a:xfrm>
          <a:prstGeom prst="straightConnector1">
            <a:avLst/>
          </a:prstGeom>
          <a:noFill/>
          <a:ln cap="flat" cmpd="sng" w="38100">
            <a:solidFill>
              <a:schemeClr val="dk1"/>
            </a:solidFill>
            <a:prstDash val="solid"/>
            <a:round/>
            <a:headEnd len="sm" w="sm" type="none"/>
            <a:tailEnd len="med" w="med" type="triangle"/>
          </a:ln>
          <a:effectLst>
            <a:outerShdw blurRad="40000" rotWithShape="0" dir="5400000" dist="23000">
              <a:srgbClr val="000000">
                <a:alpha val="34902"/>
              </a:srgbClr>
            </a:outerShdw>
          </a:effectLst>
        </p:spPr>
      </p:cxnSp>
      <p:sp>
        <p:nvSpPr>
          <p:cNvPr id="244" name="Google Shape;244;p17"/>
          <p:cNvSpPr txBox="1"/>
          <p:nvPr/>
        </p:nvSpPr>
        <p:spPr>
          <a:xfrm>
            <a:off x="160500" y="865142"/>
            <a:ext cx="2932213"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Mô hình tăng dần</a:t>
            </a:r>
            <a:endParaRPr b="1" i="0" sz="28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8"/>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SzPts val="2800"/>
              <a:buNone/>
            </a:pPr>
            <a:r>
              <a:rPr lang="en-US"/>
              <a:t>Mô hình xây dựng hệ thống</a:t>
            </a:r>
            <a:endParaRPr/>
          </a:p>
        </p:txBody>
      </p:sp>
      <p:sp>
        <p:nvSpPr>
          <p:cNvPr id="250" name="Google Shape;250;p18"/>
          <p:cNvSpPr txBox="1"/>
          <p:nvPr>
            <p:ph idx="1" type="body"/>
          </p:nvPr>
        </p:nvSpPr>
        <p:spPr>
          <a:xfrm>
            <a:off x="337539" y="1032510"/>
            <a:ext cx="11515725" cy="4938713"/>
          </a:xfrm>
          <a:prstGeom prst="rect">
            <a:avLst/>
          </a:prstGeom>
          <a:noFill/>
          <a:ln>
            <a:noFill/>
          </a:ln>
        </p:spPr>
        <p:txBody>
          <a:bodyPr anchorCtr="0" anchor="t" bIns="45700" lIns="91425" spcFirstLastPara="1" rIns="91425" wrap="square" tIns="45700">
            <a:noAutofit/>
          </a:bodyPr>
          <a:lstStyle/>
          <a:p>
            <a:pPr indent="0" lvl="0" marL="50800" rtl="0" algn="l">
              <a:lnSpc>
                <a:spcPct val="90000"/>
              </a:lnSpc>
              <a:spcBef>
                <a:spcPts val="1000"/>
              </a:spcBef>
              <a:spcAft>
                <a:spcPts val="0"/>
              </a:spcAft>
              <a:buSzPts val="2800"/>
              <a:buNone/>
            </a:pPr>
            <a:r>
              <a:rPr b="1" lang="en-US" sz="1800">
                <a:latin typeface="Times New Roman"/>
                <a:ea typeface="Times New Roman"/>
                <a:cs typeface="Times New Roman"/>
                <a:sym typeface="Times New Roman"/>
              </a:rPr>
              <a:t>Lý do chọn mô hình tăng dần:</a:t>
            </a:r>
            <a:endParaRPr b="1" sz="1800">
              <a:latin typeface="Times New Roman"/>
              <a:ea typeface="Times New Roman"/>
              <a:cs typeface="Times New Roman"/>
              <a:sym typeface="Times New Roman"/>
            </a:endParaRPr>
          </a:p>
          <a:p>
            <a:pPr indent="-406400" lvl="0" marL="457200" rtl="0" algn="l">
              <a:lnSpc>
                <a:spcPct val="90000"/>
              </a:lnSpc>
              <a:spcBef>
                <a:spcPts val="1000"/>
              </a:spcBef>
              <a:spcAft>
                <a:spcPts val="0"/>
              </a:spcAft>
              <a:buSzPts val="2800"/>
              <a:buChar char="•"/>
            </a:pPr>
            <a:r>
              <a:rPr b="1" lang="en-US" sz="1800">
                <a:latin typeface="Times New Roman"/>
                <a:ea typeface="Times New Roman"/>
                <a:cs typeface="Times New Roman"/>
                <a:sym typeface="Times New Roman"/>
              </a:rPr>
              <a:t>Phù hợp với phạm vi đề tài:</a:t>
            </a:r>
            <a:r>
              <a:rPr lang="en-US" sz="1800">
                <a:latin typeface="Times New Roman"/>
                <a:ea typeface="Times New Roman"/>
                <a:cs typeface="Times New Roman"/>
                <a:sym typeface="Times New Roman"/>
              </a:rPr>
              <a:t> Hệ thống quản lý nhà trọ có nhiều nhóm chức năng, có thể chia thành các module độc lập. </a:t>
            </a:r>
            <a:endParaRPr/>
          </a:p>
          <a:p>
            <a:pPr indent="-406400" lvl="0" marL="457200" rtl="0" algn="l">
              <a:lnSpc>
                <a:spcPct val="90000"/>
              </a:lnSpc>
              <a:spcBef>
                <a:spcPts val="1000"/>
              </a:spcBef>
              <a:spcAft>
                <a:spcPts val="0"/>
              </a:spcAft>
              <a:buSzPts val="2800"/>
              <a:buChar char="•"/>
            </a:pPr>
            <a:r>
              <a:rPr b="1" lang="en-US" sz="1800">
                <a:latin typeface="Times New Roman"/>
                <a:ea typeface="Times New Roman"/>
                <a:cs typeface="Times New Roman"/>
                <a:sym typeface="Times New Roman"/>
              </a:rPr>
              <a:t>Dễ quản lý tiến độ:</a:t>
            </a:r>
            <a:r>
              <a:rPr lang="en-US" sz="1800">
                <a:latin typeface="Times New Roman"/>
                <a:ea typeface="Times New Roman"/>
                <a:cs typeface="Times New Roman"/>
                <a:sym typeface="Times New Roman"/>
              </a:rPr>
              <a:t> Mỗi module được thực hiện qua các bước </a:t>
            </a:r>
            <a:r>
              <a:rPr b="1" lang="en-US" sz="1800">
                <a:latin typeface="Times New Roman"/>
                <a:ea typeface="Times New Roman"/>
                <a:cs typeface="Times New Roman"/>
                <a:sym typeface="Times New Roman"/>
              </a:rPr>
              <a:t>phân tích → thiết kế → code → kiểm thử → bàn giao</a:t>
            </a:r>
            <a:r>
              <a:rPr lang="en-US" sz="1800">
                <a:latin typeface="Times New Roman"/>
                <a:ea typeface="Times New Roman"/>
                <a:cs typeface="Times New Roman"/>
                <a:sym typeface="Times New Roman"/>
              </a:rPr>
              <a:t>. </a:t>
            </a:r>
            <a:endParaRPr/>
          </a:p>
          <a:p>
            <a:pPr indent="-406400" lvl="0" marL="457200" rtl="0" algn="l">
              <a:lnSpc>
                <a:spcPct val="90000"/>
              </a:lnSpc>
              <a:spcBef>
                <a:spcPts val="1000"/>
              </a:spcBef>
              <a:spcAft>
                <a:spcPts val="0"/>
              </a:spcAft>
              <a:buSzPts val="2800"/>
              <a:buChar char="•"/>
            </a:pPr>
            <a:r>
              <a:rPr b="1" lang="en-US" sz="1800">
                <a:latin typeface="Times New Roman"/>
                <a:ea typeface="Times New Roman"/>
                <a:cs typeface="Times New Roman"/>
                <a:sym typeface="Times New Roman"/>
              </a:rPr>
              <a:t>Có sản phẩm từng giai đoạn:</a:t>
            </a:r>
            <a:r>
              <a:rPr lang="en-US" sz="1800">
                <a:latin typeface="Times New Roman"/>
                <a:ea typeface="Times New Roman"/>
                <a:cs typeface="Times New Roman"/>
                <a:sym typeface="Times New Roman"/>
              </a:rPr>
              <a:t> Sau mỗi Increment, nhóm có thể hoàn thành và kiểm tra một phần chức năng thay vì chờ toàn bộ hệ thống. </a:t>
            </a:r>
            <a:endParaRPr/>
          </a:p>
          <a:p>
            <a:pPr indent="-406400" lvl="0" marL="457200" rtl="0" algn="l">
              <a:lnSpc>
                <a:spcPct val="90000"/>
              </a:lnSpc>
              <a:spcBef>
                <a:spcPts val="1000"/>
              </a:spcBef>
              <a:spcAft>
                <a:spcPts val="0"/>
              </a:spcAft>
              <a:buSzPts val="2800"/>
              <a:buChar char="•"/>
            </a:pPr>
            <a:r>
              <a:rPr b="1" lang="en-US" sz="1800">
                <a:latin typeface="Times New Roman"/>
                <a:ea typeface="Times New Roman"/>
                <a:cs typeface="Times New Roman"/>
                <a:sym typeface="Times New Roman"/>
              </a:rPr>
              <a:t>Dễ phát hiện và sửa lỗi:</a:t>
            </a:r>
            <a:r>
              <a:rPr lang="en-US" sz="1800">
                <a:latin typeface="Times New Roman"/>
                <a:ea typeface="Times New Roman"/>
                <a:cs typeface="Times New Roman"/>
                <a:sym typeface="Times New Roman"/>
              </a:rPr>
              <a:t> Lỗi của từng module được phát hiện sớm, hạn chế ảnh hưởng đến toàn bộ hệ thống. </a:t>
            </a:r>
            <a:endParaRPr/>
          </a:p>
          <a:p>
            <a:pPr indent="-406400" lvl="0" marL="457200" rtl="0" algn="l">
              <a:lnSpc>
                <a:spcPct val="90000"/>
              </a:lnSpc>
              <a:spcBef>
                <a:spcPts val="1000"/>
              </a:spcBef>
              <a:spcAft>
                <a:spcPts val="0"/>
              </a:spcAft>
              <a:buSzPts val="2800"/>
              <a:buChar char="•"/>
            </a:pPr>
            <a:r>
              <a:rPr b="1" lang="en-US" sz="1800">
                <a:latin typeface="Times New Roman"/>
                <a:ea typeface="Times New Roman"/>
                <a:cs typeface="Times New Roman"/>
                <a:sym typeface="Times New Roman"/>
              </a:rPr>
              <a:t>Phù hợp với nhóm sinh viên:</a:t>
            </a:r>
            <a:r>
              <a:rPr lang="en-US" sz="1800">
                <a:latin typeface="Times New Roman"/>
                <a:ea typeface="Times New Roman"/>
                <a:cs typeface="Times New Roman"/>
                <a:sym typeface="Times New Roman"/>
              </a:rPr>
              <a:t> Có thể phân chia các module cho từng thành viên và phát triển song song. </a:t>
            </a:r>
            <a:endParaRPr/>
          </a:p>
          <a:p>
            <a:pPr indent="-406400" lvl="0" marL="457200" rtl="0" algn="l">
              <a:lnSpc>
                <a:spcPct val="90000"/>
              </a:lnSpc>
              <a:spcBef>
                <a:spcPts val="1000"/>
              </a:spcBef>
              <a:spcAft>
                <a:spcPts val="0"/>
              </a:spcAft>
              <a:buSzPts val="2800"/>
              <a:buChar char="•"/>
            </a:pPr>
            <a:r>
              <a:rPr b="1" lang="en-US" sz="1800">
                <a:latin typeface="Times New Roman"/>
                <a:ea typeface="Times New Roman"/>
                <a:cs typeface="Times New Roman"/>
                <a:sym typeface="Times New Roman"/>
              </a:rPr>
              <a:t>Dễ mở rộng:</a:t>
            </a:r>
            <a:r>
              <a:rPr lang="en-US" sz="1800">
                <a:latin typeface="Times New Roman"/>
                <a:ea typeface="Times New Roman"/>
                <a:cs typeface="Times New Roman"/>
                <a:sym typeface="Times New Roman"/>
              </a:rPr>
              <a:t> Sau khi hoàn thành các chức năng cơ bản, có thể tiếp tục bổ sung các chức năng nâng cao. </a:t>
            </a:r>
            <a:endParaRPr/>
          </a:p>
          <a:p>
            <a:pPr indent="0" lvl="0" marL="50800" rtl="0" algn="l">
              <a:lnSpc>
                <a:spcPct val="90000"/>
              </a:lnSpc>
              <a:spcBef>
                <a:spcPts val="1000"/>
              </a:spcBef>
              <a:spcAft>
                <a:spcPts val="0"/>
              </a:spcAft>
              <a:buSzPts val="2800"/>
              <a:buNone/>
            </a:pPr>
            <a:r>
              <a:rPr b="1" lang="en-US" sz="1800">
                <a:latin typeface="Times New Roman"/>
                <a:ea typeface="Times New Roman"/>
                <a:cs typeface="Times New Roman"/>
                <a:sym typeface="Times New Roman"/>
              </a:rPr>
              <a:t>→ Kết luận:</a:t>
            </a:r>
            <a:r>
              <a:rPr lang="en-US" sz="1800">
                <a:latin typeface="Times New Roman"/>
                <a:ea typeface="Times New Roman"/>
                <a:cs typeface="Times New Roman"/>
                <a:sym typeface="Times New Roman"/>
              </a:rPr>
              <a:t> Mô hình tăng dần phù hợp vì giúp nhóm </a:t>
            </a:r>
            <a:r>
              <a:rPr b="1" lang="en-US" sz="1800">
                <a:latin typeface="Times New Roman"/>
                <a:ea typeface="Times New Roman"/>
                <a:cs typeface="Times New Roman"/>
                <a:sym typeface="Times New Roman"/>
              </a:rPr>
              <a:t>chia nhỏ hệ thống, dễ phân công, kiểm soát tiến độ và từng bước hoàn thiện phần mềm quản lý nhà trọ</a:t>
            </a:r>
            <a:r>
              <a:rPr lang="en-US" sz="1800">
                <a:latin typeface="Times New Roman"/>
                <a:ea typeface="Times New Roman"/>
                <a:cs typeface="Times New Roman"/>
                <a:sym typeface="Times New Roman"/>
              </a:rPr>
              <a:t>.</a:t>
            </a:r>
            <a:endParaRPr/>
          </a:p>
          <a:p>
            <a:pPr indent="-228600" lvl="0" marL="457200" marR="0" rtl="0" algn="l">
              <a:lnSpc>
                <a:spcPct val="90000"/>
              </a:lnSpc>
              <a:spcBef>
                <a:spcPts val="1000"/>
              </a:spcBef>
              <a:spcAft>
                <a:spcPts val="0"/>
              </a:spcAft>
              <a:buClr>
                <a:schemeClr val="dk1"/>
              </a:buClr>
              <a:buSzPts val="2800"/>
              <a:buFont typeface="Arial"/>
              <a:buNone/>
            </a:pPr>
            <a:r>
              <a:t/>
            </a:r>
            <a:endParaRPr/>
          </a:p>
        </p:txBody>
      </p:sp>
      <p:sp>
        <p:nvSpPr>
          <p:cNvPr id="251" name="Google Shape;251;p18"/>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9"/>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lt1"/>
              </a:buClr>
              <a:buSzPts val="2800"/>
              <a:buFont typeface="Lato"/>
              <a:buNone/>
            </a:pPr>
            <a:r>
              <a:rPr lang="en-US"/>
              <a:t>Sơ đồ cấu trúc hệ thống</a:t>
            </a:r>
            <a:endParaRPr/>
          </a:p>
        </p:txBody>
      </p:sp>
      <p:sp>
        <p:nvSpPr>
          <p:cNvPr id="257" name="Google Shape;257;p19"/>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258" name="Google Shape;258;p19" title="so_do_quan_ly_nha_tro_PPT_nen_trong_suot.png"/>
          <p:cNvPicPr preferRelativeResize="0"/>
          <p:nvPr/>
        </p:nvPicPr>
        <p:blipFill rotWithShape="1">
          <a:blip r:embed="rId3">
            <a:alphaModFix/>
          </a:blip>
          <a:srcRect b="0" l="0" r="0" t="0"/>
          <a:stretch/>
        </p:blipFill>
        <p:spPr>
          <a:xfrm>
            <a:off x="452045" y="1283776"/>
            <a:ext cx="11287909" cy="456641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0"/>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lt1"/>
              </a:buClr>
              <a:buSzPts val="2800"/>
              <a:buFont typeface="Lato"/>
              <a:buNone/>
            </a:pPr>
            <a:r>
              <a:rPr lang="en-US"/>
              <a:t>Use case - Tổng thể</a:t>
            </a:r>
            <a:endParaRPr/>
          </a:p>
        </p:txBody>
      </p:sp>
      <p:sp>
        <p:nvSpPr>
          <p:cNvPr id="264" name="Google Shape;264;p20"/>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265" name="Google Shape;265;p20"/>
          <p:cNvPicPr preferRelativeResize="0"/>
          <p:nvPr/>
        </p:nvPicPr>
        <p:blipFill rotWithShape="1">
          <a:blip r:embed="rId3">
            <a:alphaModFix/>
          </a:blip>
          <a:srcRect b="0" l="0" r="0" t="0"/>
          <a:stretch/>
        </p:blipFill>
        <p:spPr>
          <a:xfrm>
            <a:off x="2615380" y="1209368"/>
            <a:ext cx="6961239" cy="501690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1"/>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71" name="Google Shape;271;p21"/>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lt1"/>
              </a:buClr>
              <a:buSzPts val="2800"/>
              <a:buFont typeface="Lato"/>
              <a:buNone/>
            </a:pPr>
            <a:r>
              <a:rPr lang="en-US"/>
              <a:t>Use Case – Đăng nhập, phân quyền</a:t>
            </a:r>
            <a:endParaRPr/>
          </a:p>
        </p:txBody>
      </p:sp>
      <p:pic>
        <p:nvPicPr>
          <p:cNvPr id="272" name="Google Shape;272;p21"/>
          <p:cNvPicPr preferRelativeResize="0"/>
          <p:nvPr/>
        </p:nvPicPr>
        <p:blipFill rotWithShape="1">
          <a:blip r:embed="rId3">
            <a:alphaModFix/>
          </a:blip>
          <a:srcRect b="0" l="0" r="0" t="0"/>
          <a:stretch/>
        </p:blipFill>
        <p:spPr>
          <a:xfrm>
            <a:off x="2419350" y="1371600"/>
            <a:ext cx="7353300" cy="41148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2"/>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78" name="Google Shape;278;p22"/>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SzPts val="2800"/>
              <a:buNone/>
            </a:pPr>
            <a:r>
              <a:rPr lang="en-US"/>
              <a:t>Use Case – Quản lý phòng, người thuê</a:t>
            </a:r>
            <a:endParaRPr/>
          </a:p>
        </p:txBody>
      </p:sp>
      <p:pic>
        <p:nvPicPr>
          <p:cNvPr id="279" name="Google Shape;279;p22"/>
          <p:cNvPicPr preferRelativeResize="0"/>
          <p:nvPr/>
        </p:nvPicPr>
        <p:blipFill rotWithShape="1">
          <a:blip r:embed="rId3">
            <a:alphaModFix/>
          </a:blip>
          <a:srcRect b="0" l="0" r="0" t="0"/>
          <a:stretch/>
        </p:blipFill>
        <p:spPr>
          <a:xfrm>
            <a:off x="330201" y="1406769"/>
            <a:ext cx="5765799" cy="4648200"/>
          </a:xfrm>
          <a:prstGeom prst="rect">
            <a:avLst/>
          </a:prstGeom>
          <a:noFill/>
          <a:ln>
            <a:noFill/>
          </a:ln>
        </p:spPr>
      </p:pic>
      <p:pic>
        <p:nvPicPr>
          <p:cNvPr id="280" name="Google Shape;280;p22"/>
          <p:cNvPicPr preferRelativeResize="0"/>
          <p:nvPr/>
        </p:nvPicPr>
        <p:blipFill rotWithShape="1">
          <a:blip r:embed="rId4">
            <a:alphaModFix/>
          </a:blip>
          <a:srcRect b="0" l="0" r="0" t="0"/>
          <a:stretch/>
        </p:blipFill>
        <p:spPr>
          <a:xfrm>
            <a:off x="6219210" y="1406769"/>
            <a:ext cx="5634054" cy="465589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3"/>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86" name="Google Shape;286;p23"/>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SzPts val="2800"/>
              <a:buNone/>
            </a:pPr>
            <a:r>
              <a:rPr lang="en-US"/>
              <a:t>Use Case – Quản lý hợp đồng </a:t>
            </a:r>
            <a:endParaRPr/>
          </a:p>
        </p:txBody>
      </p:sp>
      <p:pic>
        <p:nvPicPr>
          <p:cNvPr id="287" name="Google Shape;287;p23"/>
          <p:cNvPicPr preferRelativeResize="0"/>
          <p:nvPr/>
        </p:nvPicPr>
        <p:blipFill rotWithShape="1">
          <a:blip r:embed="rId3">
            <a:alphaModFix/>
          </a:blip>
          <a:srcRect b="0" l="0" r="0" t="0"/>
          <a:stretch/>
        </p:blipFill>
        <p:spPr>
          <a:xfrm>
            <a:off x="2371725" y="1368108"/>
            <a:ext cx="7448550" cy="43053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4"/>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93" name="Google Shape;293;p24"/>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SzPts val="2800"/>
              <a:buNone/>
            </a:pPr>
            <a:r>
              <a:rPr lang="en-US"/>
              <a:t>Use Case – Quản lý khoản phí và hóa đơn</a:t>
            </a:r>
            <a:endParaRPr/>
          </a:p>
        </p:txBody>
      </p:sp>
      <p:pic>
        <p:nvPicPr>
          <p:cNvPr id="294" name="Google Shape;294;p24"/>
          <p:cNvPicPr preferRelativeResize="0"/>
          <p:nvPr/>
        </p:nvPicPr>
        <p:blipFill rotWithShape="1">
          <a:blip r:embed="rId3">
            <a:alphaModFix/>
          </a:blip>
          <a:srcRect b="0" l="0" r="0" t="0"/>
          <a:stretch/>
        </p:blipFill>
        <p:spPr>
          <a:xfrm>
            <a:off x="338736" y="1406769"/>
            <a:ext cx="5757264" cy="4655894"/>
          </a:xfrm>
          <a:prstGeom prst="rect">
            <a:avLst/>
          </a:prstGeom>
          <a:noFill/>
          <a:ln>
            <a:noFill/>
          </a:ln>
        </p:spPr>
      </p:pic>
      <p:pic>
        <p:nvPicPr>
          <p:cNvPr id="295" name="Google Shape;295;p24"/>
          <p:cNvPicPr preferRelativeResize="0"/>
          <p:nvPr/>
        </p:nvPicPr>
        <p:blipFill rotWithShape="1">
          <a:blip r:embed="rId4">
            <a:alphaModFix/>
          </a:blip>
          <a:srcRect b="0" l="0" r="0" t="0"/>
          <a:stretch/>
        </p:blipFill>
        <p:spPr>
          <a:xfrm>
            <a:off x="6277879" y="1406769"/>
            <a:ext cx="5757264" cy="465589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25"/>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01" name="Google Shape;301;p25"/>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SzPts val="2800"/>
              <a:buNone/>
            </a:pPr>
            <a:r>
              <a:rPr lang="en-US"/>
              <a:t>Use Case – Tìm kiếm, thống kê</a:t>
            </a:r>
            <a:endParaRPr/>
          </a:p>
        </p:txBody>
      </p:sp>
      <p:pic>
        <p:nvPicPr>
          <p:cNvPr id="302" name="Google Shape;302;p25"/>
          <p:cNvPicPr preferRelativeResize="0"/>
          <p:nvPr/>
        </p:nvPicPr>
        <p:blipFill rotWithShape="1">
          <a:blip r:embed="rId3">
            <a:alphaModFix/>
          </a:blip>
          <a:srcRect b="0" l="0" r="0" t="0"/>
          <a:stretch/>
        </p:blipFill>
        <p:spPr>
          <a:xfrm>
            <a:off x="2324100" y="1368108"/>
            <a:ext cx="7543800" cy="43053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26"/>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08" name="Google Shape;308;p26"/>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SzPts val="2800"/>
              <a:buNone/>
            </a:pPr>
            <a:r>
              <a:rPr lang="en-US"/>
              <a:t>Use Case – Quản lý thông báo, báo cáo</a:t>
            </a:r>
            <a:endParaRPr/>
          </a:p>
        </p:txBody>
      </p:sp>
      <p:pic>
        <p:nvPicPr>
          <p:cNvPr id="309" name="Google Shape;309;p26"/>
          <p:cNvPicPr preferRelativeResize="0"/>
          <p:nvPr/>
        </p:nvPicPr>
        <p:blipFill rotWithShape="1">
          <a:blip r:embed="rId3">
            <a:alphaModFix/>
          </a:blip>
          <a:srcRect b="0" l="0" r="0" t="0"/>
          <a:stretch/>
        </p:blipFill>
        <p:spPr>
          <a:xfrm>
            <a:off x="6277879" y="1406769"/>
            <a:ext cx="5757264" cy="4655894"/>
          </a:xfrm>
          <a:prstGeom prst="rect">
            <a:avLst/>
          </a:prstGeom>
          <a:noFill/>
          <a:ln>
            <a:noFill/>
          </a:ln>
        </p:spPr>
      </p:pic>
      <p:pic>
        <p:nvPicPr>
          <p:cNvPr id="310" name="Google Shape;310;p26"/>
          <p:cNvPicPr preferRelativeResize="0"/>
          <p:nvPr/>
        </p:nvPicPr>
        <p:blipFill rotWithShape="1">
          <a:blip r:embed="rId4">
            <a:alphaModFix/>
          </a:blip>
          <a:srcRect b="0" l="0" r="0" t="0"/>
          <a:stretch/>
        </p:blipFill>
        <p:spPr>
          <a:xfrm>
            <a:off x="330201" y="1406769"/>
            <a:ext cx="5765799" cy="465589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7"/>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lt1"/>
              </a:buClr>
              <a:buSzPts val="2800"/>
              <a:buFont typeface="Lato"/>
              <a:buNone/>
            </a:pPr>
            <a:r>
              <a:rPr lang="en-US"/>
              <a:t>Sequence – Đăng nhập, phân quyền</a:t>
            </a:r>
            <a:endParaRPr/>
          </a:p>
        </p:txBody>
      </p:sp>
      <p:sp>
        <p:nvSpPr>
          <p:cNvPr id="316" name="Google Shape;316;p27"/>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317" name="Google Shape;317;p27"/>
          <p:cNvPicPr preferRelativeResize="0"/>
          <p:nvPr/>
        </p:nvPicPr>
        <p:blipFill rotWithShape="1">
          <a:blip r:embed="rId3">
            <a:alphaModFix/>
          </a:blip>
          <a:srcRect b="0" l="0" r="0" t="0"/>
          <a:stretch/>
        </p:blipFill>
        <p:spPr>
          <a:xfrm>
            <a:off x="2782529" y="648928"/>
            <a:ext cx="6626941" cy="6209072"/>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28"/>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lt1"/>
              </a:buClr>
              <a:buSzPts val="2800"/>
              <a:buFont typeface="Lato"/>
              <a:buNone/>
            </a:pPr>
            <a:r>
              <a:rPr lang="en-US"/>
              <a:t>Sequence – Quản lý phòng, người thuê, hợp đồng</a:t>
            </a:r>
            <a:endParaRPr/>
          </a:p>
        </p:txBody>
      </p:sp>
      <p:sp>
        <p:nvSpPr>
          <p:cNvPr id="323" name="Google Shape;323;p28"/>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324" name="Google Shape;324;p28"/>
          <p:cNvPicPr preferRelativeResize="0"/>
          <p:nvPr/>
        </p:nvPicPr>
        <p:blipFill rotWithShape="1">
          <a:blip r:embed="rId3">
            <a:alphaModFix/>
          </a:blip>
          <a:srcRect b="0" l="0" r="0" t="0"/>
          <a:stretch/>
        </p:blipFill>
        <p:spPr>
          <a:xfrm>
            <a:off x="2874596" y="764458"/>
            <a:ext cx="6442808" cy="610091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29"/>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lt1"/>
              </a:buClr>
              <a:buSzPts val="2800"/>
              <a:buFont typeface="Lato"/>
              <a:buNone/>
            </a:pPr>
            <a:r>
              <a:rPr lang="en-US"/>
              <a:t>Sequence – Quản lý thanh toán, hóa đơn</a:t>
            </a:r>
            <a:endParaRPr/>
          </a:p>
        </p:txBody>
      </p:sp>
      <p:sp>
        <p:nvSpPr>
          <p:cNvPr id="330" name="Google Shape;330;p29"/>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331" name="Google Shape;331;p29"/>
          <p:cNvPicPr preferRelativeResize="0"/>
          <p:nvPr/>
        </p:nvPicPr>
        <p:blipFill rotWithShape="1">
          <a:blip r:embed="rId3">
            <a:alphaModFix/>
          </a:blip>
          <a:srcRect b="0" l="0" r="0" t="0"/>
          <a:stretch/>
        </p:blipFill>
        <p:spPr>
          <a:xfrm>
            <a:off x="2950288" y="715333"/>
            <a:ext cx="6291423" cy="6142667"/>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30"/>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lt1"/>
              </a:buClr>
              <a:buSzPts val="2800"/>
              <a:buFont typeface="Lato"/>
              <a:buNone/>
            </a:pPr>
            <a:r>
              <a:rPr lang="en-US"/>
              <a:t>Sequence – Tìm kiếm, thống kê</a:t>
            </a:r>
            <a:endParaRPr/>
          </a:p>
        </p:txBody>
      </p:sp>
      <p:sp>
        <p:nvSpPr>
          <p:cNvPr id="337" name="Google Shape;337;p30"/>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338" name="Google Shape;338;p30"/>
          <p:cNvPicPr preferRelativeResize="0"/>
          <p:nvPr/>
        </p:nvPicPr>
        <p:blipFill rotWithShape="1">
          <a:blip r:embed="rId3">
            <a:alphaModFix/>
          </a:blip>
          <a:srcRect b="0" l="0" r="0" t="0"/>
          <a:stretch/>
        </p:blipFill>
        <p:spPr>
          <a:xfrm>
            <a:off x="1807546" y="658762"/>
            <a:ext cx="8576907" cy="608669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1"/>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lt1"/>
              </a:buClr>
              <a:buSzPts val="2800"/>
              <a:buFont typeface="Lato"/>
              <a:buNone/>
            </a:pPr>
            <a:r>
              <a:rPr lang="en-US"/>
              <a:t>Sequence – Báo cáo sự cố, thông báo</a:t>
            </a:r>
            <a:endParaRPr/>
          </a:p>
        </p:txBody>
      </p:sp>
      <p:sp>
        <p:nvSpPr>
          <p:cNvPr id="344" name="Google Shape;344;p31"/>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345" name="Google Shape;345;p31"/>
          <p:cNvPicPr preferRelativeResize="0"/>
          <p:nvPr/>
        </p:nvPicPr>
        <p:blipFill rotWithShape="1">
          <a:blip r:embed="rId3">
            <a:alphaModFix/>
          </a:blip>
          <a:srcRect b="0" l="0" r="0" t="0"/>
          <a:stretch/>
        </p:blipFill>
        <p:spPr>
          <a:xfrm>
            <a:off x="2580967" y="629264"/>
            <a:ext cx="7030065" cy="6228736"/>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32"/>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SzPts val="2800"/>
              <a:buNone/>
            </a:pPr>
            <a:r>
              <a:rPr lang="en-US"/>
              <a:t>Activity – Đăng nhập, phân quyền </a:t>
            </a:r>
            <a:endParaRPr/>
          </a:p>
        </p:txBody>
      </p:sp>
      <p:sp>
        <p:nvSpPr>
          <p:cNvPr id="351" name="Google Shape;351;p32"/>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352" name="Google Shape;352;p32"/>
          <p:cNvPicPr preferRelativeResize="0"/>
          <p:nvPr/>
        </p:nvPicPr>
        <p:blipFill rotWithShape="1">
          <a:blip r:embed="rId3">
            <a:alphaModFix/>
          </a:blip>
          <a:srcRect b="0" l="0" r="0" t="0"/>
          <a:stretch/>
        </p:blipFill>
        <p:spPr>
          <a:xfrm>
            <a:off x="2091813" y="907977"/>
            <a:ext cx="8008373" cy="540366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33"/>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SzPts val="2800"/>
              <a:buNone/>
            </a:pPr>
            <a:r>
              <a:rPr lang="en-US"/>
              <a:t>Activity – Quản lý phòng, người thuê</a:t>
            </a:r>
            <a:endParaRPr/>
          </a:p>
        </p:txBody>
      </p:sp>
      <p:sp>
        <p:nvSpPr>
          <p:cNvPr id="358" name="Google Shape;358;p33"/>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359" name="Google Shape;359;p33"/>
          <p:cNvPicPr preferRelativeResize="0"/>
          <p:nvPr/>
        </p:nvPicPr>
        <p:blipFill rotWithShape="1">
          <a:blip r:embed="rId3">
            <a:alphaModFix/>
          </a:blip>
          <a:srcRect b="0" l="0" r="0" t="0"/>
          <a:stretch/>
        </p:blipFill>
        <p:spPr>
          <a:xfrm>
            <a:off x="78658" y="1294688"/>
            <a:ext cx="5732206" cy="4268624"/>
          </a:xfrm>
          <a:prstGeom prst="rect">
            <a:avLst/>
          </a:prstGeom>
          <a:noFill/>
          <a:ln>
            <a:noFill/>
          </a:ln>
        </p:spPr>
      </p:pic>
      <p:pic>
        <p:nvPicPr>
          <p:cNvPr id="360" name="Google Shape;360;p33"/>
          <p:cNvPicPr preferRelativeResize="0"/>
          <p:nvPr/>
        </p:nvPicPr>
        <p:blipFill rotWithShape="1">
          <a:blip r:embed="rId4">
            <a:alphaModFix/>
          </a:blip>
          <a:srcRect b="0" l="0" r="0" t="0"/>
          <a:stretch/>
        </p:blipFill>
        <p:spPr>
          <a:xfrm>
            <a:off x="6381136" y="1294688"/>
            <a:ext cx="5732206" cy="426862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34"/>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SzPts val="2800"/>
              <a:buNone/>
            </a:pPr>
            <a:r>
              <a:rPr lang="en-US"/>
              <a:t>Activity – Quản lý hợp đồng</a:t>
            </a:r>
            <a:endParaRPr/>
          </a:p>
        </p:txBody>
      </p:sp>
      <p:sp>
        <p:nvSpPr>
          <p:cNvPr id="366" name="Google Shape;366;p34"/>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367" name="Google Shape;367;p34"/>
          <p:cNvPicPr preferRelativeResize="0"/>
          <p:nvPr/>
        </p:nvPicPr>
        <p:blipFill rotWithShape="1">
          <a:blip r:embed="rId3">
            <a:alphaModFix/>
          </a:blip>
          <a:srcRect b="0" l="0" r="0" t="0"/>
          <a:stretch/>
        </p:blipFill>
        <p:spPr>
          <a:xfrm>
            <a:off x="2222091" y="913980"/>
            <a:ext cx="7747818" cy="5370871"/>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35"/>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SzPts val="2800"/>
              <a:buNone/>
            </a:pPr>
            <a:r>
              <a:rPr lang="en-US"/>
              <a:t>Activity – Quản lý than toán, hóa đơn </a:t>
            </a:r>
            <a:endParaRPr/>
          </a:p>
        </p:txBody>
      </p:sp>
      <p:sp>
        <p:nvSpPr>
          <p:cNvPr id="373" name="Google Shape;373;p35"/>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374" name="Google Shape;374;p35"/>
          <p:cNvPicPr preferRelativeResize="0"/>
          <p:nvPr/>
        </p:nvPicPr>
        <p:blipFill rotWithShape="1">
          <a:blip r:embed="rId3">
            <a:alphaModFix/>
          </a:blip>
          <a:srcRect b="0" l="0" r="0" t="0"/>
          <a:stretch/>
        </p:blipFill>
        <p:spPr>
          <a:xfrm>
            <a:off x="2305665" y="920444"/>
            <a:ext cx="7580670" cy="5352538"/>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36"/>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SzPts val="2800"/>
              <a:buNone/>
            </a:pPr>
            <a:r>
              <a:rPr lang="en-US"/>
              <a:t>Activity – Tìm kiếm, thống kê </a:t>
            </a:r>
            <a:endParaRPr/>
          </a:p>
        </p:txBody>
      </p:sp>
      <p:sp>
        <p:nvSpPr>
          <p:cNvPr id="380" name="Google Shape;380;p36"/>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381" name="Google Shape;381;p36"/>
          <p:cNvPicPr preferRelativeResize="0"/>
          <p:nvPr/>
        </p:nvPicPr>
        <p:blipFill rotWithShape="1">
          <a:blip r:embed="rId3">
            <a:alphaModFix/>
          </a:blip>
          <a:srcRect b="0" l="0" r="0" t="0"/>
          <a:stretch/>
        </p:blipFill>
        <p:spPr>
          <a:xfrm>
            <a:off x="2222090" y="981609"/>
            <a:ext cx="7747820" cy="5275292"/>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37"/>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SzPts val="2800"/>
              <a:buNone/>
            </a:pPr>
            <a:r>
              <a:rPr lang="en-US"/>
              <a:t>Activity – Báo cáo sự cố, thông báo</a:t>
            </a:r>
            <a:endParaRPr/>
          </a:p>
        </p:txBody>
      </p:sp>
      <p:sp>
        <p:nvSpPr>
          <p:cNvPr id="387" name="Google Shape;387;p37"/>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388" name="Google Shape;388;p37"/>
          <p:cNvPicPr preferRelativeResize="0"/>
          <p:nvPr/>
        </p:nvPicPr>
        <p:blipFill rotWithShape="1">
          <a:blip r:embed="rId3">
            <a:alphaModFix/>
          </a:blip>
          <a:srcRect b="0" l="0" r="0" t="0"/>
          <a:stretch/>
        </p:blipFill>
        <p:spPr>
          <a:xfrm>
            <a:off x="1668403" y="924693"/>
            <a:ext cx="8855193" cy="5279462"/>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38"/>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800"/>
              <a:buFont typeface="Lato"/>
              <a:buNone/>
            </a:pPr>
            <a:r>
              <a:rPr lang="en-US"/>
              <a:t>Tài liệu tham khảo	</a:t>
            </a:r>
            <a:endParaRPr/>
          </a:p>
        </p:txBody>
      </p:sp>
      <p:sp>
        <p:nvSpPr>
          <p:cNvPr id="394" name="Google Shape;394;p38"/>
          <p:cNvSpPr txBox="1"/>
          <p:nvPr>
            <p:ph idx="1" type="body"/>
          </p:nvPr>
        </p:nvSpPr>
        <p:spPr>
          <a:xfrm>
            <a:off x="337539" y="1032510"/>
            <a:ext cx="11515725" cy="4938713"/>
          </a:xfrm>
          <a:prstGeom prst="rect">
            <a:avLst/>
          </a:prstGeom>
          <a:noFill/>
          <a:ln>
            <a:noFill/>
          </a:ln>
        </p:spPr>
        <p:txBody>
          <a:bodyPr anchorCtr="0" anchor="t" bIns="45700" lIns="91425" spcFirstLastPara="1" rIns="91425" wrap="square" tIns="45700">
            <a:noAutofit/>
          </a:bodyPr>
          <a:lstStyle/>
          <a:p>
            <a:pPr indent="-406400" lvl="0" marL="457200" marR="0" rtl="0" algn="l">
              <a:lnSpc>
                <a:spcPct val="90000"/>
              </a:lnSpc>
              <a:spcBef>
                <a:spcPts val="1000"/>
              </a:spcBef>
              <a:spcAft>
                <a:spcPts val="0"/>
              </a:spcAft>
              <a:buClr>
                <a:schemeClr val="dk1"/>
              </a:buClr>
              <a:buSzPts val="2800"/>
              <a:buFont typeface="Arial"/>
              <a:buChar char="•"/>
            </a:pPr>
            <a:r>
              <a:rPr lang="en-US" u="sng">
                <a:solidFill>
                  <a:schemeClr val="hlink"/>
                </a:solidFill>
                <a:hlinkClick r:id="rId3"/>
              </a:rPr>
              <a:t>https://fptshop.com.vn/tin-tuc/danh-gia/phan-mem-quan-ly-nha-tro-172485</a:t>
            </a:r>
            <a:endParaRPr/>
          </a:p>
          <a:p>
            <a:pPr indent="-406400" lvl="0" marL="457200" marR="0" rtl="0" algn="l">
              <a:lnSpc>
                <a:spcPct val="90000"/>
              </a:lnSpc>
              <a:spcBef>
                <a:spcPts val="1000"/>
              </a:spcBef>
              <a:spcAft>
                <a:spcPts val="0"/>
              </a:spcAft>
              <a:buClr>
                <a:schemeClr val="dk1"/>
              </a:buClr>
              <a:buSzPts val="2800"/>
              <a:buFont typeface="Arial"/>
              <a:buChar char="•"/>
            </a:pPr>
            <a:r>
              <a:rPr lang="en-US" u="sng">
                <a:solidFill>
                  <a:schemeClr val="hlink"/>
                </a:solidFill>
                <a:hlinkClick r:id="rId4"/>
              </a:rPr>
              <a:t>https://fossbk-spec.github.io/ktpmud-book/ch02_yeu_cau_thiet_ke_c4</a:t>
            </a:r>
            <a:endParaRPr/>
          </a:p>
          <a:p>
            <a:pPr indent="-406400" lvl="0" marL="457200" marR="0" rtl="0" algn="l">
              <a:lnSpc>
                <a:spcPct val="90000"/>
              </a:lnSpc>
              <a:spcBef>
                <a:spcPts val="1000"/>
              </a:spcBef>
              <a:spcAft>
                <a:spcPts val="0"/>
              </a:spcAft>
              <a:buClr>
                <a:schemeClr val="dk1"/>
              </a:buClr>
              <a:buSzPts val="2800"/>
              <a:buFont typeface="Arial"/>
              <a:buChar char="•"/>
            </a:pPr>
            <a:r>
              <a:rPr lang="en-US" u="sng">
                <a:solidFill>
                  <a:schemeClr val="hlink"/>
                </a:solidFill>
                <a:hlinkClick r:id="rId5"/>
              </a:rPr>
              <a:t>https://fossbk-spec.github.io/ktpmud-book/ch01_tong_quan_sdlc</a:t>
            </a:r>
            <a:endParaRPr/>
          </a:p>
          <a:p>
            <a:pPr indent="-406400" lvl="0" marL="457200" marR="0" rtl="0" algn="l">
              <a:lnSpc>
                <a:spcPct val="90000"/>
              </a:lnSpc>
              <a:spcBef>
                <a:spcPts val="1000"/>
              </a:spcBef>
              <a:spcAft>
                <a:spcPts val="0"/>
              </a:spcAft>
              <a:buClr>
                <a:schemeClr val="dk1"/>
              </a:buClr>
              <a:buSzPts val="2800"/>
              <a:buFont typeface="Arial"/>
              <a:buChar char="•"/>
            </a:pPr>
            <a:r>
              <a:rPr lang="en-US"/>
              <a:t>https://drive.google.com/drive/folders/1M_H4gYIb4BR8nvHoAhMrnJVDAq33Alk5</a:t>
            </a:r>
            <a:endParaRPr/>
          </a:p>
        </p:txBody>
      </p:sp>
      <p:sp>
        <p:nvSpPr>
          <p:cNvPr id="395" name="Google Shape;395;p38"/>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39"/>
          <p:cNvSpPr txBox="1"/>
          <p:nvPr/>
        </p:nvSpPr>
        <p:spPr>
          <a:xfrm>
            <a:off x="5605763" y="2869457"/>
            <a:ext cx="5422456" cy="971304"/>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C00000"/>
              </a:buClr>
              <a:buSzPts val="6000"/>
              <a:buFont typeface="Lato"/>
              <a:buNone/>
            </a:pPr>
            <a:r>
              <a:rPr b="1" i="0" lang="en-US" sz="6000" u="none" cap="none" strike="noStrike">
                <a:solidFill>
                  <a:srgbClr val="C00000"/>
                </a:solidFill>
                <a:latin typeface="Lato"/>
                <a:ea typeface="Lato"/>
                <a:cs typeface="Lato"/>
                <a:sym typeface="Lato"/>
              </a:rPr>
              <a:t>THANK YOU !</a:t>
            </a:r>
            <a:endParaRPr b="0" i="0" sz="1400" u="none" cap="none" strike="noStrike">
              <a:solidFill>
                <a:srgbClr val="000000"/>
              </a:solidFill>
              <a:latin typeface="Arial"/>
              <a:ea typeface="Arial"/>
              <a:cs typeface="Arial"/>
              <a:sym typeface="Arial"/>
            </a:endParaRPr>
          </a:p>
        </p:txBody>
      </p:sp>
      <p:sp>
        <p:nvSpPr>
          <p:cNvPr id="401" name="Google Shape;401;p39"/>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