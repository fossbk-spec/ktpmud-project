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9753600" cy="7315200"/>
  <p:notesSz cx="6858000" cy="9144000"/>
  <p:embeddedFontLst>
    <p:embeddedFont>
      <p:font typeface="Arial Bold" charset="1" panose="020B0704020202020204"/>
      <p:regular r:id="rId33"/>
    </p:embeddedFont>
    <p:embeddedFont>
      <p:font typeface="Arial" charset="1" panose="020B0604020202020204"/>
      <p:regular r:id="rId34"/>
    </p:embeddedFont>
    <p:embeddedFont>
      <p:font typeface="Montserrat" charset="1" panose="00000500000000000000"/>
      <p:regular r:id="rId35"/>
    </p:embeddedFont>
    <p:embeddedFont>
      <p:font typeface="Calibri (MS)" charset="1" panose="020F0502020204030204"/>
      <p:regular r:id="rId36"/>
    </p:embeddedFont>
    <p:embeddedFont>
      <p:font typeface="Lato Bold" charset="1" panose="020F0502020204030203"/>
      <p:regular r:id="rId38"/>
    </p:embeddedFont>
    <p:embeddedFont>
      <p:font typeface="Montserrat Bold" charset="1" panose="00000800000000000000"/>
      <p:regular r:id="rId39"/>
    </p:embeddedFont>
    <p:embeddedFont>
      <p:font typeface="Inter" charset="1" panose="02000503000000020004"/>
      <p:regular r:id="rId40"/>
    </p:embeddedFont>
    <p:embeddedFont>
      <p:font typeface="Inter Bold" charset="1" panose="020005030000000200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notesSlides/notesSlide2.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notesSlides/notesSlide3.xml" Type="http://schemas.openxmlformats.org/officeDocument/2006/relationships/note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4.xml" Type="http://schemas.openxmlformats.org/officeDocument/2006/relationships/notesSlide"/><Relationship Id="rId42" Target="fonts/font42.fntdata" Type="http://schemas.openxmlformats.org/officeDocument/2006/relationships/font"/><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png" Type="http://schemas.openxmlformats.org/officeDocument/2006/relationships/image"/><Relationship Id="rId4"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4.png" Type="http://schemas.openxmlformats.org/officeDocument/2006/relationships/image"/><Relationship Id="rId4"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4.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 Id="rId4" Target="../media/image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4.png" Type="http://schemas.openxmlformats.org/officeDocument/2006/relationships/image"/><Relationship Id="rId4"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4.png" Type="http://schemas.openxmlformats.org/officeDocument/2006/relationships/image"/><Relationship Id="rId4"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4.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p:nvPr/>
        </p:nvGrpSpPr>
        <p:grpSpPr>
          <a:xfrm rot="0">
            <a:off x="421224" y="-333076"/>
            <a:ext cx="9753600" cy="7315200"/>
            <a:chOff x="0" y="0"/>
            <a:chExt cx="635000" cy="476250"/>
          </a:xfrm>
        </p:grpSpPr>
        <p:sp>
          <p:nvSpPr>
            <p:cNvPr name="Freeform 4" id="4"/>
            <p:cNvSpPr/>
            <p:nvPr/>
          </p:nvSpPr>
          <p:spPr>
            <a:xfrm flipH="false" flipV="false" rot="0">
              <a:off x="0" y="0"/>
              <a:ext cx="635000" cy="476250"/>
            </a:xfrm>
            <a:custGeom>
              <a:avLst/>
              <a:gdLst/>
              <a:ahLst/>
              <a:cxnLst/>
              <a:rect r="r" b="b" t="t" l="l"/>
              <a:pathLst>
                <a:path h="476250" w="635000">
                  <a:moveTo>
                    <a:pt x="11162" y="0"/>
                  </a:moveTo>
                  <a:lnTo>
                    <a:pt x="623838" y="0"/>
                  </a:lnTo>
                  <a:cubicBezTo>
                    <a:pt x="630003" y="0"/>
                    <a:pt x="635000" y="4997"/>
                    <a:pt x="635000" y="11162"/>
                  </a:cubicBezTo>
                  <a:lnTo>
                    <a:pt x="635000" y="465088"/>
                  </a:lnTo>
                  <a:cubicBezTo>
                    <a:pt x="635000" y="471253"/>
                    <a:pt x="630003" y="476250"/>
                    <a:pt x="623838" y="476250"/>
                  </a:cubicBezTo>
                  <a:lnTo>
                    <a:pt x="11162" y="476250"/>
                  </a:lnTo>
                  <a:cubicBezTo>
                    <a:pt x="4997" y="476250"/>
                    <a:pt x="0" y="471253"/>
                    <a:pt x="0" y="465088"/>
                  </a:cubicBezTo>
                  <a:lnTo>
                    <a:pt x="0" y="11162"/>
                  </a:lnTo>
                  <a:cubicBezTo>
                    <a:pt x="0" y="4997"/>
                    <a:pt x="4997" y="0"/>
                    <a:pt x="11162" y="0"/>
                  </a:cubicBezTo>
                  <a:close/>
                </a:path>
              </a:pathLst>
            </a:custGeom>
            <a:solidFill>
              <a:srgbClr val="FFFFFF">
                <a:alpha val="9804"/>
              </a:srgbClr>
            </a:solidFill>
          </p:spPr>
        </p:sp>
        <p:sp>
          <p:nvSpPr>
            <p:cNvPr name="TextBox 5" id="5"/>
            <p:cNvSpPr txBox="true"/>
            <p:nvPr/>
          </p:nvSpPr>
          <p:spPr>
            <a:xfrm>
              <a:off x="0" y="0"/>
              <a:ext cx="635000" cy="476250"/>
            </a:xfrm>
            <a:prstGeom prst="rect">
              <a:avLst/>
            </a:prstGeom>
          </p:spPr>
          <p:txBody>
            <a:bodyPr anchor="ctr" rtlCol="false" tIns="50800" lIns="50800" bIns="50800" rIns="50800"/>
            <a:lstStyle/>
            <a:p>
              <a:pPr algn="ctr">
                <a:lnSpc>
                  <a:spcPts val="1612"/>
                </a:lnSpc>
              </a:pPr>
            </a:p>
          </p:txBody>
        </p:sp>
      </p:grpSp>
      <p:grpSp>
        <p:nvGrpSpPr>
          <p:cNvPr name="Group 6" id="6"/>
          <p:cNvGrpSpPr/>
          <p:nvPr/>
        </p:nvGrpSpPr>
        <p:grpSpPr>
          <a:xfrm rot="0">
            <a:off x="531971" y="307114"/>
            <a:ext cx="2827404" cy="848812"/>
            <a:chOff x="0" y="0"/>
            <a:chExt cx="2897391" cy="869823"/>
          </a:xfrm>
        </p:grpSpPr>
        <p:sp>
          <p:nvSpPr>
            <p:cNvPr name="Freeform 7" id="7"/>
            <p:cNvSpPr/>
            <p:nvPr/>
          </p:nvSpPr>
          <p:spPr>
            <a:xfrm flipH="false" flipV="false" rot="0">
              <a:off x="0" y="0"/>
              <a:ext cx="2897378" cy="869823"/>
            </a:xfrm>
            <a:custGeom>
              <a:avLst/>
              <a:gdLst/>
              <a:ahLst/>
              <a:cxnLst/>
              <a:rect r="r" b="b" t="t" l="l"/>
              <a:pathLst>
                <a:path h="869823" w="2897378">
                  <a:moveTo>
                    <a:pt x="0" y="0"/>
                  </a:moveTo>
                  <a:lnTo>
                    <a:pt x="2897378" y="0"/>
                  </a:lnTo>
                  <a:lnTo>
                    <a:pt x="2897378" y="869823"/>
                  </a:lnTo>
                  <a:lnTo>
                    <a:pt x="0" y="869823"/>
                  </a:lnTo>
                  <a:lnTo>
                    <a:pt x="0" y="0"/>
                  </a:lnTo>
                  <a:close/>
                </a:path>
              </a:pathLst>
            </a:custGeom>
            <a:blipFill>
              <a:blip r:embed="rId4"/>
              <a:stretch>
                <a:fillRect l="0" t="0" r="0" b="0"/>
              </a:stretch>
            </a:blipFill>
          </p:spPr>
        </p:sp>
      </p:grpSp>
      <p:sp>
        <p:nvSpPr>
          <p:cNvPr name="TextBox 8" id="8"/>
          <p:cNvSpPr txBox="true"/>
          <p:nvPr/>
        </p:nvSpPr>
        <p:spPr>
          <a:xfrm rot="0">
            <a:off x="531971" y="2674307"/>
            <a:ext cx="8061557" cy="1493139"/>
          </a:xfrm>
          <a:prstGeom prst="rect">
            <a:avLst/>
          </a:prstGeom>
        </p:spPr>
        <p:txBody>
          <a:bodyPr anchor="t" rtlCol="false" tIns="0" lIns="0" bIns="0" rIns="0">
            <a:spAutoFit/>
          </a:bodyPr>
          <a:lstStyle/>
          <a:p>
            <a:pPr algn="l">
              <a:lnSpc>
                <a:spcPts val="3887"/>
              </a:lnSpc>
            </a:pPr>
            <a:r>
              <a:rPr lang="en-US" b="true" sz="3599">
                <a:solidFill>
                  <a:srgbClr val="0F172A"/>
                </a:solidFill>
                <a:latin typeface="Arial Bold"/>
                <a:ea typeface="Arial Bold"/>
                <a:cs typeface="Arial Bold"/>
                <a:sym typeface="Arial Bold"/>
              </a:rPr>
              <a:t>HỆ</a:t>
            </a:r>
            <a:r>
              <a:rPr lang="en-US" b="true" sz="3599">
                <a:solidFill>
                  <a:srgbClr val="0F172A"/>
                </a:solidFill>
                <a:latin typeface="Arial Bold"/>
                <a:ea typeface="Arial Bold"/>
                <a:cs typeface="Arial Bold"/>
                <a:sym typeface="Arial Bold"/>
              </a:rPr>
              <a:t> THỐNG HỖ TRỢ THEO DÕI TIẾN ĐỘ VÀ LẬP KẾ HOẠCH HỌC TẬP CHO SINH VIÊN</a:t>
            </a:r>
          </a:p>
        </p:txBody>
      </p:sp>
      <p:sp>
        <p:nvSpPr>
          <p:cNvPr name="TextBox 9" id="9"/>
          <p:cNvSpPr txBox="true"/>
          <p:nvPr/>
        </p:nvSpPr>
        <p:spPr>
          <a:xfrm rot="0">
            <a:off x="531971" y="4176971"/>
            <a:ext cx="4766053" cy="319278"/>
          </a:xfrm>
          <a:prstGeom prst="rect">
            <a:avLst/>
          </a:prstGeom>
        </p:spPr>
        <p:txBody>
          <a:bodyPr anchor="t" rtlCol="false" tIns="0" lIns="0" bIns="0" rIns="0">
            <a:spAutoFit/>
          </a:bodyPr>
          <a:lstStyle/>
          <a:p>
            <a:pPr algn="l">
              <a:lnSpc>
                <a:spcPts val="2375"/>
              </a:lnSpc>
            </a:pPr>
            <a:r>
              <a:rPr lang="en-US" sz="2199">
                <a:solidFill>
                  <a:srgbClr val="475569"/>
                </a:solidFill>
                <a:latin typeface="Arial"/>
                <a:ea typeface="Arial"/>
                <a:cs typeface="Arial"/>
                <a:sym typeface="Arial"/>
              </a:rPr>
              <a:t>GVHD: TS. Hoàng Quang Huy </a:t>
            </a:r>
          </a:p>
        </p:txBody>
      </p:sp>
      <p:sp>
        <p:nvSpPr>
          <p:cNvPr name="TextBox 10" id="10"/>
          <p:cNvSpPr txBox="true"/>
          <p:nvPr/>
        </p:nvSpPr>
        <p:spPr>
          <a:xfrm rot="0">
            <a:off x="531971" y="1964599"/>
            <a:ext cx="3824564" cy="304800"/>
          </a:xfrm>
          <a:prstGeom prst="rect">
            <a:avLst/>
          </a:prstGeom>
        </p:spPr>
        <p:txBody>
          <a:bodyPr anchor="t" rtlCol="false" tIns="0" lIns="0" bIns="0" rIns="0">
            <a:spAutoFit/>
          </a:bodyPr>
          <a:lstStyle/>
          <a:p>
            <a:pPr algn="l">
              <a:lnSpc>
                <a:spcPts val="2400"/>
              </a:lnSpc>
              <a:spcBef>
                <a:spcPct val="0"/>
              </a:spcBef>
            </a:pPr>
            <a:r>
              <a:rPr lang="en-US" sz="2000">
                <a:solidFill>
                  <a:srgbClr val="760303"/>
                </a:solidFill>
                <a:latin typeface="Montserrat"/>
                <a:ea typeface="Montserrat"/>
                <a:cs typeface="Montserrat"/>
                <a:sym typeface="Montserrat"/>
              </a:rPr>
              <a:t>BÁO CÁO TIẾN ĐỘ TUẦN 2 + 3</a:t>
            </a:r>
          </a:p>
        </p:txBody>
      </p:sp>
      <p:sp>
        <p:nvSpPr>
          <p:cNvPr name="TextBox 11" id="11"/>
          <p:cNvSpPr txBox="true"/>
          <p:nvPr/>
        </p:nvSpPr>
        <p:spPr>
          <a:xfrm rot="0">
            <a:off x="531971" y="4505678"/>
            <a:ext cx="5319657" cy="1019175"/>
          </a:xfrm>
          <a:prstGeom prst="rect">
            <a:avLst/>
          </a:prstGeom>
        </p:spPr>
        <p:txBody>
          <a:bodyPr anchor="t" rtlCol="false" tIns="0" lIns="0" bIns="0" rIns="0">
            <a:spAutoFit/>
          </a:bodyPr>
          <a:lstStyle/>
          <a:p>
            <a:pPr algn="l">
              <a:lnSpc>
                <a:spcPts val="2559"/>
              </a:lnSpc>
            </a:pPr>
            <a:r>
              <a:rPr lang="en-US" sz="2133">
                <a:solidFill>
                  <a:srgbClr val="475569"/>
                </a:solidFill>
                <a:latin typeface="Calibri (MS)"/>
                <a:ea typeface="Calibri (MS)"/>
                <a:cs typeface="Calibri (MS)"/>
                <a:sym typeface="Calibri (MS)"/>
              </a:rPr>
              <a:t>Nhóm thực hiện: Nhóm 3</a:t>
            </a:r>
          </a:p>
          <a:p>
            <a:pPr algn="l" marL="460586" indent="-230293" lvl="1">
              <a:lnSpc>
                <a:spcPts val="2559"/>
              </a:lnSpc>
              <a:buFont typeface="Arial"/>
              <a:buChar char="•"/>
            </a:pPr>
            <a:r>
              <a:rPr lang="en-US" sz="2133">
                <a:solidFill>
                  <a:srgbClr val="475569"/>
                </a:solidFill>
                <a:latin typeface="Calibri (MS)"/>
                <a:ea typeface="Calibri (MS)"/>
                <a:cs typeface="Calibri (MS)"/>
                <a:sym typeface="Calibri (MS)"/>
              </a:rPr>
              <a:t>Trần Quang Minh - 202414248</a:t>
            </a:r>
          </a:p>
          <a:p>
            <a:pPr algn="l" marL="460586" indent="-230293" lvl="1">
              <a:lnSpc>
                <a:spcPts val="2559"/>
              </a:lnSpc>
              <a:spcBef>
                <a:spcPct val="0"/>
              </a:spcBef>
              <a:buFont typeface="Arial"/>
              <a:buChar char="•"/>
            </a:pPr>
            <a:r>
              <a:rPr lang="en-US" sz="2133">
                <a:solidFill>
                  <a:srgbClr val="475569"/>
                </a:solidFill>
                <a:latin typeface="Calibri (MS)"/>
                <a:ea typeface="Calibri (MS)"/>
                <a:cs typeface="Calibri (MS)"/>
                <a:sym typeface="Calibri (MS)"/>
              </a:rPr>
              <a:t>Trần Minh Hoàng Anh - 202413961</a:t>
            </a:r>
          </a:p>
        </p:txBody>
      </p:sp>
      <p:sp>
        <p:nvSpPr>
          <p:cNvPr name="TextBox 12" id="12"/>
          <p:cNvSpPr txBox="true"/>
          <p:nvPr/>
        </p:nvSpPr>
        <p:spPr>
          <a:xfrm rot="0">
            <a:off x="531971" y="2278376"/>
            <a:ext cx="1092309" cy="438150"/>
          </a:xfrm>
          <a:prstGeom prst="rect">
            <a:avLst/>
          </a:prstGeom>
        </p:spPr>
        <p:txBody>
          <a:bodyPr anchor="t" rtlCol="false" tIns="0" lIns="0" bIns="0" rIns="0">
            <a:spAutoFit/>
          </a:bodyPr>
          <a:lstStyle/>
          <a:p>
            <a:pPr algn="l">
              <a:lnSpc>
                <a:spcPts val="3039"/>
              </a:lnSpc>
              <a:spcBef>
                <a:spcPct val="0"/>
              </a:spcBef>
            </a:pPr>
            <a:r>
              <a:rPr lang="en-US" sz="2533">
                <a:solidFill>
                  <a:srgbClr val="000000"/>
                </a:solidFill>
                <a:latin typeface="Calibri (MS)"/>
                <a:ea typeface="Calibri (MS)"/>
                <a:cs typeface="Calibri (MS)"/>
                <a:sym typeface="Calibri (MS)"/>
              </a:rPr>
              <a:t>Đ</a:t>
            </a:r>
            <a:r>
              <a:rPr lang="en-US" sz="2533">
                <a:solidFill>
                  <a:srgbClr val="000000"/>
                </a:solidFill>
                <a:latin typeface="Calibri (MS)"/>
                <a:ea typeface="Calibri (MS)"/>
                <a:cs typeface="Calibri (MS)"/>
                <a:sym typeface="Calibri (MS)"/>
              </a:rPr>
              <a:t>Ề TÀI: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pSp>
        <p:nvGrpSpPr>
          <p:cNvPr name="Group 3" id="3"/>
          <p:cNvGrpSpPr>
            <a:grpSpLocks noChangeAspect="true"/>
          </p:cNvGrpSpPr>
          <p:nvPr/>
        </p:nvGrpSpPr>
        <p:grpSpPr>
          <a:xfrm rot="0">
            <a:off x="1374765" y="1866787"/>
            <a:ext cx="2330662" cy="2330662"/>
            <a:chOff x="0" y="0"/>
            <a:chExt cx="11671300" cy="11671300"/>
          </a:xfrm>
        </p:grpSpPr>
        <p:sp>
          <p:nvSpPr>
            <p:cNvPr name="Freeform 4" id="4"/>
            <p:cNvSpPr/>
            <p:nvPr/>
          </p:nvSpPr>
          <p:spPr>
            <a:xfrm flipH="false" flipV="false" rot="0">
              <a:off x="213265" y="189084"/>
              <a:ext cx="11324780" cy="11346497"/>
            </a:xfrm>
            <a:custGeom>
              <a:avLst/>
              <a:gdLst/>
              <a:ahLst/>
              <a:cxnLst/>
              <a:rect r="r" b="b" t="t" l="l"/>
              <a:pathLst>
                <a:path h="11346497" w="11324780">
                  <a:moveTo>
                    <a:pt x="5662390" y="57"/>
                  </a:moveTo>
                  <a:cubicBezTo>
                    <a:pt x="3642434" y="-9034"/>
                    <a:pt x="1772041" y="1070277"/>
                    <a:pt x="759446" y="2829304"/>
                  </a:cubicBezTo>
                  <a:cubicBezTo>
                    <a:pt x="-253149" y="4588330"/>
                    <a:pt x="-253149" y="6758168"/>
                    <a:pt x="759446" y="8517194"/>
                  </a:cubicBezTo>
                  <a:cubicBezTo>
                    <a:pt x="1772041" y="10276221"/>
                    <a:pt x="3642434" y="11355532"/>
                    <a:pt x="5662390" y="11346441"/>
                  </a:cubicBezTo>
                  <a:cubicBezTo>
                    <a:pt x="7682346" y="11355532"/>
                    <a:pt x="9552740" y="10276221"/>
                    <a:pt x="10565334" y="8517194"/>
                  </a:cubicBezTo>
                  <a:cubicBezTo>
                    <a:pt x="11577928" y="6758168"/>
                    <a:pt x="11577928" y="4588330"/>
                    <a:pt x="10565334" y="2829304"/>
                  </a:cubicBezTo>
                  <a:cubicBezTo>
                    <a:pt x="9552740" y="1070277"/>
                    <a:pt x="7682346" y="-9034"/>
                    <a:pt x="5662390" y="57"/>
                  </a:cubicBezTo>
                  <a:close/>
                </a:path>
              </a:pathLst>
            </a:custGeom>
            <a:blipFill>
              <a:blip r:embed="rId4"/>
              <a:stretch>
                <a:fillRect l="-95" t="0" r="-95" b="0"/>
              </a:stretch>
            </a:blipFill>
          </p:spPr>
        </p:sp>
        <p:sp>
          <p:nvSpPr>
            <p:cNvPr name="Freeform 5" id="5"/>
            <p:cNvSpPr/>
            <p:nvPr/>
          </p:nvSpPr>
          <p:spPr>
            <a:xfrm flipH="false" flipV="false" rot="0">
              <a:off x="0" y="0"/>
              <a:ext cx="11663362" cy="11663350"/>
            </a:xfrm>
            <a:custGeom>
              <a:avLst/>
              <a:gdLst/>
              <a:ahLst/>
              <a:cxnLst/>
              <a:rect r="r" b="b" t="t" l="l"/>
              <a:pathLst>
                <a:path h="11663350" w="11663362">
                  <a:moveTo>
                    <a:pt x="0" y="0"/>
                  </a:moveTo>
                  <a:lnTo>
                    <a:pt x="11663362" y="0"/>
                  </a:lnTo>
                  <a:lnTo>
                    <a:pt x="11663362" y="11663350"/>
                  </a:lnTo>
                  <a:lnTo>
                    <a:pt x="0" y="11663350"/>
                  </a:lnTo>
                  <a:close/>
                </a:path>
              </a:pathLst>
            </a:custGeom>
            <a:blipFill>
              <a:blip r:embed="rId5"/>
              <a:stretch>
                <a:fillRect l="0" t="0" r="0" b="0"/>
              </a:stretch>
            </a:blipFill>
          </p:spPr>
        </p:sp>
      </p:grpSp>
      <p:grpSp>
        <p:nvGrpSpPr>
          <p:cNvPr name="Group 6" id="6"/>
          <p:cNvGrpSpPr>
            <a:grpSpLocks noChangeAspect="true"/>
          </p:cNvGrpSpPr>
          <p:nvPr/>
        </p:nvGrpSpPr>
        <p:grpSpPr>
          <a:xfrm rot="0">
            <a:off x="6091824" y="1866787"/>
            <a:ext cx="2330662" cy="2330662"/>
            <a:chOff x="0" y="0"/>
            <a:chExt cx="11671300" cy="11671300"/>
          </a:xfrm>
        </p:grpSpPr>
        <p:sp>
          <p:nvSpPr>
            <p:cNvPr name="Freeform 7" id="7"/>
            <p:cNvSpPr/>
            <p:nvPr/>
          </p:nvSpPr>
          <p:spPr>
            <a:xfrm flipH="false" flipV="false" rot="0">
              <a:off x="213265" y="189084"/>
              <a:ext cx="11324780" cy="11346497"/>
            </a:xfrm>
            <a:custGeom>
              <a:avLst/>
              <a:gdLst/>
              <a:ahLst/>
              <a:cxnLst/>
              <a:rect r="r" b="b" t="t" l="l"/>
              <a:pathLst>
                <a:path h="11346497" w="11324780">
                  <a:moveTo>
                    <a:pt x="5662390" y="57"/>
                  </a:moveTo>
                  <a:cubicBezTo>
                    <a:pt x="3642434" y="-9034"/>
                    <a:pt x="1772041" y="1070277"/>
                    <a:pt x="759446" y="2829304"/>
                  </a:cubicBezTo>
                  <a:cubicBezTo>
                    <a:pt x="-253149" y="4588330"/>
                    <a:pt x="-253149" y="6758168"/>
                    <a:pt x="759446" y="8517194"/>
                  </a:cubicBezTo>
                  <a:cubicBezTo>
                    <a:pt x="1772041" y="10276221"/>
                    <a:pt x="3642434" y="11355532"/>
                    <a:pt x="5662390" y="11346441"/>
                  </a:cubicBezTo>
                  <a:cubicBezTo>
                    <a:pt x="7682346" y="11355532"/>
                    <a:pt x="9552740" y="10276221"/>
                    <a:pt x="10565334" y="8517194"/>
                  </a:cubicBezTo>
                  <a:cubicBezTo>
                    <a:pt x="11577928" y="6758168"/>
                    <a:pt x="11577928" y="4588330"/>
                    <a:pt x="10565334" y="2829304"/>
                  </a:cubicBezTo>
                  <a:cubicBezTo>
                    <a:pt x="9552740" y="1070277"/>
                    <a:pt x="7682346" y="-9034"/>
                    <a:pt x="5662390" y="57"/>
                  </a:cubicBezTo>
                  <a:close/>
                </a:path>
              </a:pathLst>
            </a:custGeom>
            <a:blipFill>
              <a:blip r:embed="rId6"/>
              <a:stretch>
                <a:fillRect l="-276" t="0" r="-276" b="0"/>
              </a:stretch>
            </a:blipFill>
          </p:spPr>
        </p:sp>
        <p:sp>
          <p:nvSpPr>
            <p:cNvPr name="Freeform 8" id="8"/>
            <p:cNvSpPr/>
            <p:nvPr/>
          </p:nvSpPr>
          <p:spPr>
            <a:xfrm flipH="false" flipV="false" rot="0">
              <a:off x="0" y="0"/>
              <a:ext cx="11663362" cy="11663350"/>
            </a:xfrm>
            <a:custGeom>
              <a:avLst/>
              <a:gdLst/>
              <a:ahLst/>
              <a:cxnLst/>
              <a:rect r="r" b="b" t="t" l="l"/>
              <a:pathLst>
                <a:path h="11663350" w="11663362">
                  <a:moveTo>
                    <a:pt x="0" y="0"/>
                  </a:moveTo>
                  <a:lnTo>
                    <a:pt x="11663362" y="0"/>
                  </a:lnTo>
                  <a:lnTo>
                    <a:pt x="11663362" y="11663350"/>
                  </a:lnTo>
                  <a:lnTo>
                    <a:pt x="0" y="11663350"/>
                  </a:lnTo>
                  <a:close/>
                </a:path>
              </a:pathLst>
            </a:custGeom>
            <a:blipFill>
              <a:blip r:embed="rId5"/>
              <a:stretch>
                <a:fillRect l="0" t="0" r="0" b="0"/>
              </a:stretch>
            </a:blipFill>
          </p:spPr>
        </p:sp>
      </p:grpSp>
      <p:sp>
        <p:nvSpPr>
          <p:cNvPr name="TextBox 9" id="9"/>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3</a:t>
            </a:r>
          </a:p>
        </p:txBody>
      </p:sp>
      <p:sp>
        <p:nvSpPr>
          <p:cNvPr name="TextBox 10" id="10"/>
          <p:cNvSpPr txBox="true"/>
          <p:nvPr/>
        </p:nvSpPr>
        <p:spPr>
          <a:xfrm rot="0">
            <a:off x="342176" y="158125"/>
            <a:ext cx="4331486" cy="426517"/>
          </a:xfrm>
          <a:prstGeom prst="rect">
            <a:avLst/>
          </a:prstGeom>
        </p:spPr>
        <p:txBody>
          <a:bodyPr anchor="t" rtlCol="false" tIns="0" lIns="0" bIns="0" rIns="0">
            <a:spAutoFit/>
          </a:bodyPr>
          <a:lstStyle/>
          <a:p>
            <a:pPr algn="l">
              <a:lnSpc>
                <a:spcPts val="3225"/>
              </a:lnSpc>
            </a:pPr>
            <a:r>
              <a:rPr lang="en-US" b="true" sz="2986">
                <a:solidFill>
                  <a:srgbClr val="FFFFFF"/>
                </a:solidFill>
                <a:latin typeface="Montserrat Bold"/>
                <a:ea typeface="Montserrat Bold"/>
                <a:cs typeface="Montserrat Bold"/>
                <a:sym typeface="Montserrat Bold"/>
              </a:rPr>
              <a:t>Giới thiệu thành viên </a:t>
            </a:r>
          </a:p>
        </p:txBody>
      </p:sp>
      <p:sp>
        <p:nvSpPr>
          <p:cNvPr name="TextBox 11" id="11"/>
          <p:cNvSpPr txBox="true"/>
          <p:nvPr/>
        </p:nvSpPr>
        <p:spPr>
          <a:xfrm rot="0">
            <a:off x="1066497" y="4489163"/>
            <a:ext cx="2882845" cy="733425"/>
          </a:xfrm>
          <a:prstGeom prst="rect">
            <a:avLst/>
          </a:prstGeom>
        </p:spPr>
        <p:txBody>
          <a:bodyPr anchor="t" rtlCol="false" tIns="0" lIns="0" bIns="0" rIns="0">
            <a:spAutoFit/>
          </a:bodyPr>
          <a:lstStyle/>
          <a:p>
            <a:pPr algn="ctr">
              <a:lnSpc>
                <a:spcPts val="2999"/>
              </a:lnSpc>
            </a:pPr>
            <a:r>
              <a:rPr lang="en-US" sz="2499">
                <a:solidFill>
                  <a:srgbClr val="000000"/>
                </a:solidFill>
                <a:latin typeface="Inter"/>
                <a:ea typeface="Inter"/>
                <a:cs typeface="Inter"/>
                <a:sym typeface="Inter"/>
              </a:rPr>
              <a:t>Trần Quang Minh</a:t>
            </a:r>
          </a:p>
          <a:p>
            <a:pPr algn="ctr">
              <a:lnSpc>
                <a:spcPts val="2999"/>
              </a:lnSpc>
              <a:spcBef>
                <a:spcPct val="0"/>
              </a:spcBef>
            </a:pPr>
            <a:r>
              <a:rPr lang="en-US" sz="2499">
                <a:solidFill>
                  <a:srgbClr val="000000"/>
                </a:solidFill>
                <a:latin typeface="Inter"/>
                <a:ea typeface="Inter"/>
                <a:cs typeface="Inter"/>
                <a:sym typeface="Inter"/>
              </a:rPr>
              <a:t>202414248</a:t>
            </a:r>
          </a:p>
        </p:txBody>
      </p:sp>
      <p:sp>
        <p:nvSpPr>
          <p:cNvPr name="TextBox 12" id="12"/>
          <p:cNvSpPr txBox="true"/>
          <p:nvPr/>
        </p:nvSpPr>
        <p:spPr>
          <a:xfrm rot="0">
            <a:off x="5620371" y="4489163"/>
            <a:ext cx="3273567" cy="733425"/>
          </a:xfrm>
          <a:prstGeom prst="rect">
            <a:avLst/>
          </a:prstGeom>
        </p:spPr>
        <p:txBody>
          <a:bodyPr anchor="t" rtlCol="false" tIns="0" lIns="0" bIns="0" rIns="0">
            <a:spAutoFit/>
          </a:bodyPr>
          <a:lstStyle/>
          <a:p>
            <a:pPr algn="ctr">
              <a:lnSpc>
                <a:spcPts val="2999"/>
              </a:lnSpc>
            </a:pPr>
            <a:r>
              <a:rPr lang="en-US" sz="2499">
                <a:solidFill>
                  <a:srgbClr val="000000"/>
                </a:solidFill>
                <a:latin typeface="Inter"/>
                <a:ea typeface="Inter"/>
                <a:cs typeface="Inter"/>
                <a:sym typeface="Inter"/>
              </a:rPr>
              <a:t>Trần Minh Hoàng Anh</a:t>
            </a:r>
          </a:p>
          <a:p>
            <a:pPr algn="ctr">
              <a:lnSpc>
                <a:spcPts val="2999"/>
              </a:lnSpc>
              <a:spcBef>
                <a:spcPct val="0"/>
              </a:spcBef>
            </a:pPr>
            <a:r>
              <a:rPr lang="en-US" sz="2499">
                <a:solidFill>
                  <a:srgbClr val="000000"/>
                </a:solidFill>
                <a:latin typeface="Inter"/>
                <a:ea typeface="Inter"/>
                <a:cs typeface="Inter"/>
                <a:sym typeface="Inter"/>
              </a:rPr>
              <a:t>202413961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aphicFrame>
        <p:nvGraphicFramePr>
          <p:cNvPr name="Table 3" id="3"/>
          <p:cNvGraphicFramePr>
            <a:graphicFrameLocks noGrp="true"/>
          </p:cNvGraphicFramePr>
          <p:nvPr/>
        </p:nvGraphicFramePr>
        <p:xfrm>
          <a:off x="333718" y="1230777"/>
          <a:ext cx="9086164" cy="5019082"/>
        </p:xfrm>
        <a:graphic>
          <a:graphicData uri="http://schemas.openxmlformats.org/drawingml/2006/table">
            <a:tbl>
              <a:tblPr/>
              <a:tblGrid>
                <a:gridCol w="3283596"/>
                <a:gridCol w="1956286"/>
                <a:gridCol w="3846282"/>
              </a:tblGrid>
              <a:tr h="784250">
                <a:tc>
                  <a:txBody>
                    <a:bodyPr anchor="t" rtlCol="false"/>
                    <a:lstStyle/>
                    <a:p>
                      <a:pPr algn="ctr">
                        <a:lnSpc>
                          <a:spcPts val="3079"/>
                        </a:lnSpc>
                        <a:defRPr/>
                      </a:pPr>
                      <a:r>
                        <a:rPr lang="en-US" b="true" sz="2199">
                          <a:solidFill>
                            <a:srgbClr val="FFFFFF"/>
                          </a:solidFill>
                          <a:latin typeface="Montserrat Bold"/>
                          <a:ea typeface="Montserrat Bold"/>
                          <a:cs typeface="Montserrat Bold"/>
                          <a:sym typeface="Montserrat Bold"/>
                        </a:rPr>
                        <a:t>Họ và tên</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E2338"/>
                    </a:solidFill>
                  </a:tcPr>
                </a:tc>
                <a:tc>
                  <a:txBody>
                    <a:bodyPr anchor="t" rtlCol="false"/>
                    <a:lstStyle/>
                    <a:p>
                      <a:pPr algn="ctr">
                        <a:lnSpc>
                          <a:spcPts val="3079"/>
                        </a:lnSpc>
                        <a:defRPr/>
                      </a:pPr>
                      <a:r>
                        <a:rPr lang="en-US" b="true" sz="2199">
                          <a:solidFill>
                            <a:srgbClr val="FFFFFF"/>
                          </a:solidFill>
                          <a:latin typeface="Montserrat Bold"/>
                          <a:ea typeface="Montserrat Bold"/>
                          <a:cs typeface="Montserrat Bold"/>
                          <a:sym typeface="Montserrat Bold"/>
                        </a:rPr>
                        <a:t>MSSV</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E2338"/>
                    </a:solidFill>
                  </a:tcPr>
                </a:tc>
                <a:tc>
                  <a:txBody>
                    <a:bodyPr anchor="t" rtlCol="false"/>
                    <a:lstStyle/>
                    <a:p>
                      <a:pPr algn="ctr">
                        <a:lnSpc>
                          <a:spcPts val="3079"/>
                        </a:lnSpc>
                        <a:defRPr/>
                      </a:pPr>
                      <a:r>
                        <a:rPr lang="en-US" b="true" sz="2199">
                          <a:solidFill>
                            <a:srgbClr val="FFFFFF"/>
                          </a:solidFill>
                          <a:latin typeface="Montserrat Bold"/>
                          <a:ea typeface="Montserrat Bold"/>
                          <a:cs typeface="Montserrat Bold"/>
                          <a:sym typeface="Montserrat Bold"/>
                        </a:rPr>
                        <a:t>Phân công, nhiệm vụ</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CE2338"/>
                    </a:solidFill>
                  </a:tcPr>
                </a:tc>
              </a:tr>
              <a:tr h="2333625">
                <a:tc>
                  <a:txBody>
                    <a:bodyPr anchor="t" rtlCol="false"/>
                    <a:lstStyle/>
                    <a:p>
                      <a:pPr algn="ctr">
                        <a:lnSpc>
                          <a:spcPts val="3079"/>
                        </a:lnSpc>
                        <a:defRPr/>
                      </a:pPr>
                      <a:r>
                        <a:rPr lang="en-US" sz="2199" b="true">
                          <a:solidFill>
                            <a:srgbClr val="000000"/>
                          </a:solidFill>
                          <a:latin typeface="Inter Bold"/>
                          <a:ea typeface="Inter Bold"/>
                          <a:cs typeface="Inter Bold"/>
                          <a:sym typeface="Inter Bold"/>
                        </a:rPr>
                        <a:t>Trần Quang Minh</a:t>
                      </a:r>
                      <a:endParaRPr lang="en-US" sz="1100"/>
                    </a:p>
                    <a:p>
                      <a:pPr algn="ctr">
                        <a:lnSpc>
                          <a:spcPts val="3079"/>
                        </a:lnSpc>
                      </a:pPr>
                      <a:r>
                        <a:rPr lang="en-US" sz="2199" b="true">
                          <a:solidFill>
                            <a:srgbClr val="000000"/>
                          </a:solidFill>
                          <a:latin typeface="Inter Bold"/>
                          <a:ea typeface="Inter Bold"/>
                          <a:cs typeface="Inter Bold"/>
                          <a:sym typeface="Inter Bold"/>
                        </a:rPr>
                        <a:t>(Trưởng nhóm)</a:t>
                      </a:r>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1F5F9"/>
                    </a:solidFill>
                  </a:tcPr>
                </a:tc>
                <a:tc>
                  <a:txBody>
                    <a:bodyPr anchor="t" rtlCol="false"/>
                    <a:lstStyle/>
                    <a:p>
                      <a:pPr algn="ctr">
                        <a:lnSpc>
                          <a:spcPts val="3079"/>
                        </a:lnSpc>
                        <a:defRPr/>
                      </a:pPr>
                      <a:r>
                        <a:rPr lang="en-US" sz="2199" b="true">
                          <a:solidFill>
                            <a:srgbClr val="000000"/>
                          </a:solidFill>
                          <a:latin typeface="Inter Bold"/>
                          <a:ea typeface="Inter Bold"/>
                          <a:cs typeface="Inter Bold"/>
                          <a:sym typeface="Inter Bold"/>
                        </a:rPr>
                        <a:t>202414248</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1F5F9"/>
                    </a:solidFill>
                  </a:tcPr>
                </a:tc>
                <a:tc>
                  <a:txBody>
                    <a:bodyPr anchor="t" rtlCol="false"/>
                    <a:lstStyle/>
                    <a:p>
                      <a:pPr algn="l" marL="474979" indent="-237490" lvl="1">
                        <a:lnSpc>
                          <a:spcPts val="3079"/>
                        </a:lnSpc>
                        <a:buFont typeface="Arial"/>
                        <a:buChar char="•"/>
                        <a:defRPr/>
                      </a:pPr>
                      <a:r>
                        <a:rPr lang="en-US" b="true" sz="2199">
                          <a:solidFill>
                            <a:srgbClr val="000000"/>
                          </a:solidFill>
                          <a:latin typeface="Inter Bold"/>
                          <a:ea typeface="Inter Bold"/>
                          <a:cs typeface="Inter Bold"/>
                          <a:sym typeface="Inter Bold"/>
                        </a:rPr>
                        <a:t>Tìm hiểu nội dung &amp; Phân tích yêu cầu</a:t>
                      </a:r>
                      <a:endParaRPr lang="en-US" sz="1100"/>
                    </a:p>
                    <a:p>
                      <a:pPr algn="l" marL="474979" indent="-237490" lvl="1">
                        <a:lnSpc>
                          <a:spcPts val="3079"/>
                        </a:lnSpc>
                        <a:buFont typeface="Arial"/>
                        <a:buChar char="•"/>
                      </a:pPr>
                      <a:r>
                        <a:rPr lang="en-US" b="true" sz="2199">
                          <a:solidFill>
                            <a:srgbClr val="000000"/>
                          </a:solidFill>
                          <a:latin typeface="Inter Bold"/>
                          <a:ea typeface="Inter Bold"/>
                          <a:cs typeface="Inter Bold"/>
                          <a:sym typeface="Inter Bold"/>
                        </a:rPr>
                        <a:t>L</a:t>
                      </a:r>
                      <a:r>
                        <a:rPr lang="en-US" b="true" sz="2199">
                          <a:solidFill>
                            <a:srgbClr val="000000"/>
                          </a:solidFill>
                          <a:latin typeface="Inter Bold"/>
                          <a:ea typeface="Inter Bold"/>
                          <a:cs typeface="Inter Bold"/>
                          <a:sym typeface="Inter Bold"/>
                        </a:rPr>
                        <a:t>àm slide, báo cáo</a:t>
                      </a:r>
                    </a:p>
                    <a:p>
                      <a:pPr algn="l" marL="474979" indent="-237490" lvl="1">
                        <a:lnSpc>
                          <a:spcPts val="3079"/>
                        </a:lnSpc>
                        <a:buFont typeface="Arial"/>
                        <a:buChar char="•"/>
                      </a:pPr>
                      <a:r>
                        <a:rPr lang="en-US" b="true" sz="2199">
                          <a:solidFill>
                            <a:srgbClr val="000000"/>
                          </a:solidFill>
                          <a:latin typeface="Inter Bold"/>
                          <a:ea typeface="Inter Bold"/>
                          <a:cs typeface="Inter Bold"/>
                          <a:sym typeface="Inter Bold"/>
                        </a:rPr>
                        <a:t>Frontend, Backend</a:t>
                      </a:r>
                    </a:p>
                    <a:p>
                      <a:pPr algn="l" marL="474979" indent="-237490" lvl="1">
                        <a:lnSpc>
                          <a:spcPts val="3079"/>
                        </a:lnSpc>
                        <a:buFont typeface="Arial"/>
                        <a:buChar char="•"/>
                      </a:pPr>
                      <a:r>
                        <a:rPr lang="en-US" b="true" sz="2199">
                          <a:solidFill>
                            <a:srgbClr val="000000"/>
                          </a:solidFill>
                          <a:latin typeface="Inter Bold"/>
                          <a:ea typeface="Inter Bold"/>
                          <a:cs typeface="Inter Bold"/>
                          <a:sym typeface="Inter Bold"/>
                        </a:rPr>
                        <a:t>Database</a:t>
                      </a:r>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1F5F9"/>
                    </a:solidFill>
                  </a:tcPr>
                </a:tc>
              </a:tr>
              <a:tr h="1901207">
                <a:tc>
                  <a:txBody>
                    <a:bodyPr anchor="t" rtlCol="false"/>
                    <a:lstStyle/>
                    <a:p>
                      <a:pPr algn="ctr">
                        <a:lnSpc>
                          <a:spcPts val="3079"/>
                        </a:lnSpc>
                        <a:defRPr/>
                      </a:pPr>
                      <a:r>
                        <a:rPr lang="en-US" sz="2199" b="true">
                          <a:solidFill>
                            <a:srgbClr val="000000"/>
                          </a:solidFill>
                          <a:latin typeface="Inter Bold"/>
                          <a:ea typeface="Inter Bold"/>
                          <a:cs typeface="Inter Bold"/>
                          <a:sym typeface="Inter Bold"/>
                        </a:rPr>
                        <a:t>Trần Minh Hoàng Anh</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Inter Bold"/>
                          <a:ea typeface="Inter Bold"/>
                          <a:cs typeface="Inter Bold"/>
                          <a:sym typeface="Inter Bold"/>
                        </a:rPr>
                        <a:t>202413961</a:t>
                      </a:r>
                      <a:endParaRPr lang="en-US" sz="1100"/>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474979" indent="-237490" lvl="1">
                        <a:lnSpc>
                          <a:spcPts val="3079"/>
                        </a:lnSpc>
                        <a:buFont typeface="Arial"/>
                        <a:buChar char="•"/>
                        <a:defRPr/>
                      </a:pPr>
                      <a:r>
                        <a:rPr lang="en-US" b="true" sz="2199">
                          <a:solidFill>
                            <a:srgbClr val="000000"/>
                          </a:solidFill>
                          <a:latin typeface="Inter Bold"/>
                          <a:ea typeface="Inter Bold"/>
                          <a:cs typeface="Inter Bold"/>
                          <a:sym typeface="Inter Bold"/>
                        </a:rPr>
                        <a:t>Xây dựng biểu đồ </a:t>
                      </a:r>
                      <a:endParaRPr lang="en-US" sz="1100"/>
                    </a:p>
                    <a:p>
                      <a:pPr algn="l" marL="474979" indent="-237490" lvl="1">
                        <a:lnSpc>
                          <a:spcPts val="3079"/>
                        </a:lnSpc>
                        <a:buFont typeface="Arial"/>
                        <a:buChar char="•"/>
                      </a:pPr>
                      <a:r>
                        <a:rPr lang="en-US" b="true" sz="2199">
                          <a:solidFill>
                            <a:srgbClr val="000000"/>
                          </a:solidFill>
                          <a:latin typeface="Inter Bold"/>
                          <a:ea typeface="Inter Bold"/>
                          <a:cs typeface="Inter Bold"/>
                          <a:sym typeface="Inter Bold"/>
                        </a:rPr>
                        <a:t>Backend</a:t>
                      </a:r>
                    </a:p>
                    <a:p>
                      <a:pPr algn="l" marL="474979" indent="-237490" lvl="1">
                        <a:lnSpc>
                          <a:spcPts val="3079"/>
                        </a:lnSpc>
                        <a:buFont typeface="Arial"/>
                        <a:buChar char="•"/>
                      </a:pPr>
                      <a:r>
                        <a:rPr lang="en-US" b="true" sz="2199">
                          <a:solidFill>
                            <a:srgbClr val="000000"/>
                          </a:solidFill>
                          <a:latin typeface="Inter Bold"/>
                          <a:ea typeface="Inter Bold"/>
                          <a:cs typeface="Inter Bold"/>
                          <a:sym typeface="Inter Bold"/>
                        </a:rPr>
                        <a:t>Database</a:t>
                      </a:r>
                    </a:p>
                  </a:txBody>
                  <a:tcPr marL="152400" marR="152400" marT="152400" marB="1524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4</a:t>
            </a:r>
          </a:p>
        </p:txBody>
      </p:sp>
      <p:sp>
        <p:nvSpPr>
          <p:cNvPr name="TextBox 5" id="5"/>
          <p:cNvSpPr txBox="true"/>
          <p:nvPr/>
        </p:nvSpPr>
        <p:spPr>
          <a:xfrm rot="0">
            <a:off x="342176" y="158125"/>
            <a:ext cx="4331486" cy="426517"/>
          </a:xfrm>
          <a:prstGeom prst="rect">
            <a:avLst/>
          </a:prstGeom>
        </p:spPr>
        <p:txBody>
          <a:bodyPr anchor="t" rtlCol="false" tIns="0" lIns="0" bIns="0" rIns="0">
            <a:spAutoFit/>
          </a:bodyPr>
          <a:lstStyle/>
          <a:p>
            <a:pPr algn="l">
              <a:lnSpc>
                <a:spcPts val="3225"/>
              </a:lnSpc>
            </a:pPr>
            <a:r>
              <a:rPr lang="en-US" b="true" sz="2986">
                <a:solidFill>
                  <a:srgbClr val="FFFFFF"/>
                </a:solidFill>
                <a:latin typeface="Montserrat Bold"/>
                <a:ea typeface="Montserrat Bold"/>
                <a:cs typeface="Montserrat Bold"/>
                <a:sym typeface="Montserrat Bold"/>
              </a:rPr>
              <a:t>Phân công nhiệm vụ:</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graphicFrame>
        <p:nvGraphicFramePr>
          <p:cNvPr name="Table 3" id="3"/>
          <p:cNvGraphicFramePr>
            <a:graphicFrameLocks noGrp="true"/>
          </p:cNvGraphicFramePr>
          <p:nvPr/>
        </p:nvGraphicFramePr>
        <p:xfrm>
          <a:off x="351116" y="1337313"/>
          <a:ext cx="9051368" cy="4976708"/>
        </p:xfrm>
        <a:graphic>
          <a:graphicData uri="http://schemas.openxmlformats.org/drawingml/2006/table">
            <a:tbl>
              <a:tblPr/>
              <a:tblGrid>
                <a:gridCol w="2159353"/>
                <a:gridCol w="6892015"/>
              </a:tblGrid>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Thời gian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Công việc</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1-3</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Chọn đề tài &amp; tìm hiểu nghiệp vụ, khảo sát &amp; phân tích yêu cầu</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4-6</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Thiết kế hệ thống</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7-10</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Phát triển phiên bản ban đầu, báo cáo giữa kỳ</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11-12</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Tiếp tục phát triển &amp; hoàn thiện tính năng</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712895">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13-14</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Kiểm thử &amp; sửa lỗi, thu thập feedback</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99340">
                <a:tc>
                  <a:txBody>
                    <a:bodyPr anchor="t" rtlCol="false"/>
                    <a:lstStyle/>
                    <a:p>
                      <a:pPr algn="ctr">
                        <a:lnSpc>
                          <a:spcPts val="2380"/>
                        </a:lnSpc>
                        <a:defRPr/>
                      </a:pPr>
                      <a:r>
                        <a:rPr lang="en-US" sz="1700" b="true">
                          <a:solidFill>
                            <a:srgbClr val="000000"/>
                          </a:solidFill>
                          <a:latin typeface="Inter Bold"/>
                          <a:ea typeface="Inter Bold"/>
                          <a:cs typeface="Inter Bold"/>
                          <a:sym typeface="Inter Bold"/>
                        </a:rPr>
                        <a:t>Tuần 15</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80"/>
                        </a:lnSpc>
                        <a:defRPr/>
                      </a:pPr>
                      <a:r>
                        <a:rPr lang="en-US" sz="1700">
                          <a:solidFill>
                            <a:srgbClr val="000000"/>
                          </a:solidFill>
                          <a:latin typeface="Inter"/>
                          <a:ea typeface="Inter"/>
                          <a:cs typeface="Inter"/>
                          <a:sym typeface="Inter"/>
                        </a:rPr>
                        <a:t>Hoàn thiện báo cáo &amp; thuyết trình</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5</a:t>
            </a:r>
          </a:p>
        </p:txBody>
      </p:sp>
      <p:sp>
        <p:nvSpPr>
          <p:cNvPr name="TextBox 5" id="5"/>
          <p:cNvSpPr txBox="true"/>
          <p:nvPr/>
        </p:nvSpPr>
        <p:spPr>
          <a:xfrm rot="0">
            <a:off x="-434136" y="138167"/>
            <a:ext cx="4876800" cy="457200"/>
          </a:xfrm>
          <a:prstGeom prst="rect">
            <a:avLst/>
          </a:prstGeom>
        </p:spPr>
        <p:txBody>
          <a:bodyPr anchor="t" rtlCol="false" tIns="0" lIns="0" bIns="0" rIns="0">
            <a:spAutoFit/>
          </a:bodyPr>
          <a:lstStyle/>
          <a:p>
            <a:pPr algn="ctr">
              <a:lnSpc>
                <a:spcPts val="3600"/>
              </a:lnSpc>
              <a:spcBef>
                <a:spcPct val="0"/>
              </a:spcBef>
            </a:pPr>
            <a:r>
              <a:rPr lang="en-US" b="true" sz="3000">
                <a:solidFill>
                  <a:srgbClr val="FFFFFF"/>
                </a:solidFill>
                <a:latin typeface="Montserrat Bold"/>
                <a:ea typeface="Montserrat Bold"/>
                <a:cs typeface="Montserrat Bold"/>
                <a:sym typeface="Montserrat Bold"/>
              </a:rPr>
              <a:t>Timeline dự kiến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6</a:t>
            </a:r>
          </a:p>
        </p:txBody>
      </p:sp>
      <p:sp>
        <p:nvSpPr>
          <p:cNvPr name="TextBox 4" id="4"/>
          <p:cNvSpPr txBox="true"/>
          <p:nvPr/>
        </p:nvSpPr>
        <p:spPr>
          <a:xfrm rot="0">
            <a:off x="393408" y="141094"/>
            <a:ext cx="2194255" cy="457200"/>
          </a:xfrm>
          <a:prstGeom prst="rect">
            <a:avLst/>
          </a:prstGeom>
        </p:spPr>
        <p:txBody>
          <a:bodyPr anchor="t" rtlCol="false" tIns="0" lIns="0" bIns="0" rIns="0">
            <a:spAutoFit/>
          </a:bodyPr>
          <a:lstStyle/>
          <a:p>
            <a:pPr algn="l">
              <a:lnSpc>
                <a:spcPts val="3600"/>
              </a:lnSpc>
              <a:spcBef>
                <a:spcPct val="0"/>
              </a:spcBef>
            </a:pPr>
            <a:r>
              <a:rPr lang="en-US" b="true" sz="3000">
                <a:solidFill>
                  <a:srgbClr val="FFFFFF"/>
                </a:solidFill>
                <a:latin typeface="Montserrat Bold"/>
                <a:ea typeface="Montserrat Bold"/>
                <a:cs typeface="Montserrat Bold"/>
                <a:sym typeface="Montserrat Bold"/>
              </a:rPr>
              <a:t>Nội dung</a:t>
            </a:r>
          </a:p>
        </p:txBody>
      </p:sp>
      <p:sp>
        <p:nvSpPr>
          <p:cNvPr name="TextBox 5" id="5"/>
          <p:cNvSpPr txBox="true"/>
          <p:nvPr/>
        </p:nvSpPr>
        <p:spPr>
          <a:xfrm rot="0">
            <a:off x="563676" y="1143367"/>
            <a:ext cx="4733231" cy="2486025"/>
          </a:xfrm>
          <a:prstGeom prst="rect">
            <a:avLst/>
          </a:prstGeom>
        </p:spPr>
        <p:txBody>
          <a:bodyPr anchor="t" rtlCol="false" tIns="0" lIns="0" bIns="0" rIns="0">
            <a:spAutoFit/>
          </a:bodyPr>
          <a:lstStyle/>
          <a:p>
            <a:pPr algn="l">
              <a:lnSpc>
                <a:spcPts val="3945"/>
              </a:lnSpc>
            </a:pPr>
            <a:r>
              <a:rPr lang="en-US" sz="3288" b="true">
                <a:solidFill>
                  <a:srgbClr val="C00000"/>
                </a:solidFill>
                <a:latin typeface="Inter Bold"/>
                <a:ea typeface="Inter Bold"/>
                <a:cs typeface="Inter Bold"/>
                <a:sym typeface="Inter Bold"/>
              </a:rPr>
              <a:t>I. Giới thiệu đề tài</a:t>
            </a:r>
          </a:p>
          <a:p>
            <a:pPr algn="l">
              <a:lnSpc>
                <a:spcPts val="3945"/>
              </a:lnSpc>
            </a:pPr>
            <a:r>
              <a:rPr lang="en-US" sz="3288" b="true">
                <a:solidFill>
                  <a:srgbClr val="C00000"/>
                </a:solidFill>
                <a:latin typeface="Inter Bold"/>
                <a:ea typeface="Inter Bold"/>
                <a:cs typeface="Inter Bold"/>
                <a:sym typeface="Inter Bold"/>
              </a:rPr>
              <a:t>II. Phân tích yêu cầu</a:t>
            </a:r>
          </a:p>
          <a:p>
            <a:pPr algn="l">
              <a:lnSpc>
                <a:spcPts val="3945"/>
              </a:lnSpc>
            </a:pPr>
            <a:r>
              <a:rPr lang="en-US" sz="3288" b="true">
                <a:solidFill>
                  <a:srgbClr val="C00000"/>
                </a:solidFill>
                <a:latin typeface="Inter Bold"/>
                <a:ea typeface="Inter Bold"/>
                <a:cs typeface="Inter Bold"/>
                <a:sym typeface="Inter Bold"/>
              </a:rPr>
              <a:t>III. Kiến trúc &amp; thiết kế</a:t>
            </a:r>
          </a:p>
          <a:p>
            <a:pPr algn="l">
              <a:lnSpc>
                <a:spcPts val="3945"/>
              </a:lnSpc>
            </a:pPr>
            <a:r>
              <a:rPr lang="en-US" sz="3288" b="true">
                <a:solidFill>
                  <a:srgbClr val="C00000"/>
                </a:solidFill>
                <a:latin typeface="Inter Bold"/>
                <a:ea typeface="Inter Bold"/>
                <a:cs typeface="Inter Bold"/>
                <a:sym typeface="Inter Bold"/>
              </a:rPr>
              <a:t>IV. Xây dựng &amp; kiểm thử</a:t>
            </a:r>
          </a:p>
          <a:p>
            <a:pPr algn="l">
              <a:lnSpc>
                <a:spcPts val="3945"/>
              </a:lnSpc>
              <a:spcBef>
                <a:spcPct val="0"/>
              </a:spcBef>
            </a:pPr>
            <a:r>
              <a:rPr lang="en-US" b="true" sz="3288">
                <a:solidFill>
                  <a:srgbClr val="C00000"/>
                </a:solidFill>
                <a:latin typeface="Inter Bold"/>
                <a:ea typeface="Inter Bold"/>
                <a:cs typeface="Inter Bold"/>
                <a:sym typeface="Inter Bold"/>
              </a:rPr>
              <a:t>V. Kết luận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7</a:t>
            </a:r>
          </a:p>
        </p:txBody>
      </p:sp>
      <p:sp>
        <p:nvSpPr>
          <p:cNvPr name="TextBox 4" id="4"/>
          <p:cNvSpPr txBox="true"/>
          <p:nvPr/>
        </p:nvSpPr>
        <p:spPr>
          <a:xfrm rot="0">
            <a:off x="357032" y="132672"/>
            <a:ext cx="3677950" cy="457200"/>
          </a:xfrm>
          <a:prstGeom prst="rect">
            <a:avLst/>
          </a:prstGeom>
        </p:spPr>
        <p:txBody>
          <a:bodyPr anchor="t" rtlCol="false" tIns="0" lIns="0" bIns="0" rIns="0">
            <a:spAutoFit/>
          </a:bodyPr>
          <a:lstStyle/>
          <a:p>
            <a:pPr algn="l">
              <a:lnSpc>
                <a:spcPts val="3600"/>
              </a:lnSpc>
              <a:spcBef>
                <a:spcPct val="0"/>
              </a:spcBef>
            </a:pPr>
            <a:r>
              <a:rPr lang="en-US" b="true" sz="3000">
                <a:solidFill>
                  <a:srgbClr val="FFFFFF"/>
                </a:solidFill>
                <a:latin typeface="Montserrat Bold"/>
                <a:ea typeface="Montserrat Bold"/>
                <a:cs typeface="Montserrat Bold"/>
                <a:sym typeface="Montserrat Bold"/>
              </a:rPr>
              <a:t>I. Giới thiệu đề tài</a:t>
            </a:r>
          </a:p>
        </p:txBody>
      </p:sp>
      <p:sp>
        <p:nvSpPr>
          <p:cNvPr name="TextBox 5" id="5"/>
          <p:cNvSpPr txBox="true"/>
          <p:nvPr/>
        </p:nvSpPr>
        <p:spPr>
          <a:xfrm rot="0">
            <a:off x="357032" y="1077795"/>
            <a:ext cx="3732123" cy="504825"/>
          </a:xfrm>
          <a:prstGeom prst="rect">
            <a:avLst/>
          </a:prstGeom>
        </p:spPr>
        <p:txBody>
          <a:bodyPr anchor="t" rtlCol="false" tIns="0" lIns="0" bIns="0" rIns="0">
            <a:spAutoFit/>
          </a:bodyPr>
          <a:lstStyle/>
          <a:p>
            <a:pPr algn="l">
              <a:lnSpc>
                <a:spcPts val="3945"/>
              </a:lnSpc>
              <a:spcBef>
                <a:spcPct val="0"/>
              </a:spcBef>
            </a:pPr>
            <a:r>
              <a:rPr lang="en-US" b="true" sz="3288">
                <a:solidFill>
                  <a:srgbClr val="C00000"/>
                </a:solidFill>
                <a:latin typeface="Inter Bold"/>
                <a:ea typeface="Inter Bold"/>
                <a:cs typeface="Inter Bold"/>
                <a:sym typeface="Inter Bold"/>
              </a:rPr>
              <a:t>1. Đặt vấn đề</a:t>
            </a:r>
          </a:p>
        </p:txBody>
      </p:sp>
      <p:sp>
        <p:nvSpPr>
          <p:cNvPr name="TextBox 6" id="6"/>
          <p:cNvSpPr txBox="true"/>
          <p:nvPr/>
        </p:nvSpPr>
        <p:spPr>
          <a:xfrm rot="0">
            <a:off x="731520" y="2015640"/>
            <a:ext cx="9071308" cy="1447800"/>
          </a:xfrm>
          <a:prstGeom prst="rect">
            <a:avLst/>
          </a:prstGeom>
        </p:spPr>
        <p:txBody>
          <a:bodyPr anchor="t" rtlCol="false" tIns="0" lIns="0" bIns="0" rIns="0">
            <a:spAutoFit/>
          </a:bodyPr>
          <a:lstStyle/>
          <a:p>
            <a:pPr algn="l" marL="518158" indent="-259079" lvl="1">
              <a:lnSpc>
                <a:spcPts val="2879"/>
              </a:lnSpc>
              <a:buFont typeface="Arial"/>
              <a:buChar char="•"/>
            </a:pPr>
            <a:r>
              <a:rPr lang="en-US" b="true" sz="2399">
                <a:solidFill>
                  <a:srgbClr val="000000"/>
                </a:solidFill>
                <a:latin typeface="Inter Bold"/>
                <a:ea typeface="Inter Bold"/>
                <a:cs typeface="Inter Bold"/>
                <a:sym typeface="Inter Bold"/>
              </a:rPr>
              <a:t>Khó theo dõi dữ liệu: </a:t>
            </a:r>
            <a:r>
              <a:rPr lang="en-US" sz="2399">
                <a:solidFill>
                  <a:srgbClr val="000000"/>
                </a:solidFill>
                <a:latin typeface="Inter"/>
                <a:ea typeface="Inter"/>
                <a:cs typeface="Inter"/>
                <a:sym typeface="Inter"/>
              </a:rPr>
              <a:t>SInh viên cần tổng hợp kết quả học tập, điểm số và tín chỉ qua nhiều học kỳ</a:t>
            </a:r>
          </a:p>
          <a:p>
            <a:pPr algn="l" marL="518158" indent="-259079" lvl="1">
              <a:lnSpc>
                <a:spcPts val="2879"/>
              </a:lnSpc>
              <a:spcBef>
                <a:spcPct val="0"/>
              </a:spcBef>
              <a:buFont typeface="Arial"/>
              <a:buChar char="•"/>
            </a:pPr>
            <a:r>
              <a:rPr lang="en-US" b="true" sz="2399">
                <a:solidFill>
                  <a:srgbClr val="000000"/>
                </a:solidFill>
                <a:latin typeface="Inter Bold"/>
                <a:ea typeface="Inter Bold"/>
                <a:cs typeface="Inter Bold"/>
                <a:sym typeface="Inter Bold"/>
              </a:rPr>
              <a:t>Khó lập kế hoạch: </a:t>
            </a:r>
            <a:r>
              <a:rPr lang="en-US" sz="2399">
                <a:solidFill>
                  <a:srgbClr val="000000"/>
                </a:solidFill>
                <a:latin typeface="Inter"/>
                <a:ea typeface="Inter"/>
                <a:cs typeface="Inter"/>
                <a:sym typeface="Inter"/>
              </a:rPr>
              <a:t>Cần đối chiếu học phần đã hoàn thành, môn tiên quyết và số tín chỉ dự kiến</a:t>
            </a:r>
          </a:p>
        </p:txBody>
      </p:sp>
      <p:sp>
        <p:nvSpPr>
          <p:cNvPr name="TextBox 7" id="7"/>
          <p:cNvSpPr txBox="true"/>
          <p:nvPr/>
        </p:nvSpPr>
        <p:spPr>
          <a:xfrm rot="0">
            <a:off x="406260" y="3530115"/>
            <a:ext cx="9022080" cy="685800"/>
          </a:xfrm>
          <a:prstGeom prst="rect">
            <a:avLst/>
          </a:prstGeom>
        </p:spPr>
        <p:txBody>
          <a:bodyPr anchor="t" rtlCol="false" tIns="0" lIns="0" bIns="0" rIns="0">
            <a:spAutoFit/>
          </a:bodyPr>
          <a:lstStyle/>
          <a:p>
            <a:pPr algn="l">
              <a:lnSpc>
                <a:spcPts val="2759"/>
              </a:lnSpc>
              <a:spcBef>
                <a:spcPct val="0"/>
              </a:spcBef>
            </a:pPr>
            <a:r>
              <a:rPr lang="en-US" sz="2299">
                <a:solidFill>
                  <a:srgbClr val="000000"/>
                </a:solidFill>
                <a:latin typeface="Inter"/>
                <a:ea typeface="Inter"/>
                <a:cs typeface="Inter"/>
                <a:sym typeface="Inter"/>
              </a:rPr>
              <a:t>=&gt; Cần một hệ thống hỗ trợ sinh viên theo dõi kết quả, tiến độ và xây dựng kế hoạch học tập phù hợp.</a:t>
            </a:r>
          </a:p>
        </p:txBody>
      </p:sp>
      <p:sp>
        <p:nvSpPr>
          <p:cNvPr name="TextBox 8" id="8"/>
          <p:cNvSpPr txBox="true"/>
          <p:nvPr/>
        </p:nvSpPr>
        <p:spPr>
          <a:xfrm rot="0">
            <a:off x="731520" y="1653690"/>
            <a:ext cx="3211513" cy="361950"/>
          </a:xfrm>
          <a:prstGeom prst="rect">
            <a:avLst/>
          </a:prstGeom>
        </p:spPr>
        <p:txBody>
          <a:bodyPr anchor="t" rtlCol="false" tIns="0" lIns="0" bIns="0" rIns="0">
            <a:spAutoFit/>
          </a:bodyPr>
          <a:lstStyle/>
          <a:p>
            <a:pPr algn="ctr">
              <a:lnSpc>
                <a:spcPts val="2865"/>
              </a:lnSpc>
              <a:spcBef>
                <a:spcPct val="0"/>
              </a:spcBef>
            </a:pPr>
            <a:r>
              <a:rPr lang="en-US" b="true" sz="2388">
                <a:solidFill>
                  <a:srgbClr val="000000"/>
                </a:solidFill>
                <a:latin typeface="Inter Bold"/>
                <a:ea typeface="Inter Bold"/>
                <a:cs typeface="Inter Bold"/>
                <a:sym typeface="Inter Bold"/>
              </a:rPr>
              <a:t>Vấn đề cần giải quyết: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8</a:t>
            </a:r>
          </a:p>
        </p:txBody>
      </p:sp>
      <p:sp>
        <p:nvSpPr>
          <p:cNvPr name="TextBox 4" id="4"/>
          <p:cNvSpPr txBox="true"/>
          <p:nvPr/>
        </p:nvSpPr>
        <p:spPr>
          <a:xfrm rot="0">
            <a:off x="357032" y="132672"/>
            <a:ext cx="3677950" cy="457200"/>
          </a:xfrm>
          <a:prstGeom prst="rect">
            <a:avLst/>
          </a:prstGeom>
        </p:spPr>
        <p:txBody>
          <a:bodyPr anchor="t" rtlCol="false" tIns="0" lIns="0" bIns="0" rIns="0">
            <a:spAutoFit/>
          </a:bodyPr>
          <a:lstStyle/>
          <a:p>
            <a:pPr algn="l">
              <a:lnSpc>
                <a:spcPts val="3600"/>
              </a:lnSpc>
              <a:spcBef>
                <a:spcPct val="0"/>
              </a:spcBef>
            </a:pPr>
            <a:r>
              <a:rPr lang="en-US" b="true" sz="3000">
                <a:solidFill>
                  <a:srgbClr val="FFFFFF"/>
                </a:solidFill>
                <a:latin typeface="Montserrat Bold"/>
                <a:ea typeface="Montserrat Bold"/>
                <a:cs typeface="Montserrat Bold"/>
                <a:sym typeface="Montserrat Bold"/>
              </a:rPr>
              <a:t>I. Giới thiệu đề tài</a:t>
            </a:r>
          </a:p>
        </p:txBody>
      </p:sp>
      <p:sp>
        <p:nvSpPr>
          <p:cNvPr name="TextBox 5" id="5"/>
          <p:cNvSpPr txBox="true"/>
          <p:nvPr/>
        </p:nvSpPr>
        <p:spPr>
          <a:xfrm rot="0">
            <a:off x="357032" y="1077795"/>
            <a:ext cx="9202243" cy="504825"/>
          </a:xfrm>
          <a:prstGeom prst="rect">
            <a:avLst/>
          </a:prstGeom>
        </p:spPr>
        <p:txBody>
          <a:bodyPr anchor="t" rtlCol="false" tIns="0" lIns="0" bIns="0" rIns="0">
            <a:spAutoFit/>
          </a:bodyPr>
          <a:lstStyle/>
          <a:p>
            <a:pPr algn="l">
              <a:lnSpc>
                <a:spcPts val="3945"/>
              </a:lnSpc>
              <a:spcBef>
                <a:spcPct val="0"/>
              </a:spcBef>
            </a:pPr>
            <a:r>
              <a:rPr lang="en-US" b="true" sz="3288">
                <a:solidFill>
                  <a:srgbClr val="C00000"/>
                </a:solidFill>
                <a:latin typeface="Inter Bold"/>
                <a:ea typeface="Inter Bold"/>
                <a:cs typeface="Inter Bold"/>
                <a:sym typeface="Inter Bold"/>
              </a:rPr>
              <a:t>2. Mục tiêu đề tài</a:t>
            </a:r>
          </a:p>
        </p:txBody>
      </p:sp>
      <p:sp>
        <p:nvSpPr>
          <p:cNvPr name="TextBox 6" id="6"/>
          <p:cNvSpPr txBox="true"/>
          <p:nvPr/>
        </p:nvSpPr>
        <p:spPr>
          <a:xfrm rot="0">
            <a:off x="357032" y="1730611"/>
            <a:ext cx="9071308" cy="1000125"/>
          </a:xfrm>
          <a:prstGeom prst="rect">
            <a:avLst/>
          </a:prstGeom>
        </p:spPr>
        <p:txBody>
          <a:bodyPr anchor="t" rtlCol="false" tIns="0" lIns="0" bIns="0" rIns="0">
            <a:spAutoFit/>
          </a:bodyPr>
          <a:lstStyle/>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Theo dõi kết quả</a:t>
            </a:r>
            <a:r>
              <a:rPr lang="en-US" sz="2199">
                <a:solidFill>
                  <a:srgbClr val="000000"/>
                </a:solidFill>
                <a:latin typeface="Inter"/>
                <a:ea typeface="Inter"/>
                <a:cs typeface="Inter"/>
                <a:sym typeface="Inter"/>
              </a:rPr>
              <a:t> và tiến độ học tập.</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Tự động tính GPA từng học kỳ và CPA tích lũy.</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Hỗ</a:t>
            </a:r>
            <a:r>
              <a:rPr lang="en-US" sz="2199">
                <a:solidFill>
                  <a:srgbClr val="000000"/>
                </a:solidFill>
                <a:latin typeface="Inter"/>
                <a:ea typeface="Inter"/>
                <a:cs typeface="Inter"/>
                <a:sym typeface="Inter"/>
              </a:rPr>
              <a:t> trợ lập kế hoạch học tập theo từng học kỳ.</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9</a:t>
            </a:r>
          </a:p>
        </p:txBody>
      </p:sp>
      <p:sp>
        <p:nvSpPr>
          <p:cNvPr name="TextBox 4" id="4"/>
          <p:cNvSpPr txBox="true"/>
          <p:nvPr/>
        </p:nvSpPr>
        <p:spPr>
          <a:xfrm rot="0">
            <a:off x="357032" y="132672"/>
            <a:ext cx="3677950" cy="457200"/>
          </a:xfrm>
          <a:prstGeom prst="rect">
            <a:avLst/>
          </a:prstGeom>
        </p:spPr>
        <p:txBody>
          <a:bodyPr anchor="t" rtlCol="false" tIns="0" lIns="0" bIns="0" rIns="0">
            <a:spAutoFit/>
          </a:bodyPr>
          <a:lstStyle/>
          <a:p>
            <a:pPr algn="l">
              <a:lnSpc>
                <a:spcPts val="3600"/>
              </a:lnSpc>
              <a:spcBef>
                <a:spcPct val="0"/>
              </a:spcBef>
            </a:pPr>
            <a:r>
              <a:rPr lang="en-US" b="true" sz="3000">
                <a:solidFill>
                  <a:srgbClr val="FFFFFF"/>
                </a:solidFill>
                <a:latin typeface="Montserrat Bold"/>
                <a:ea typeface="Montserrat Bold"/>
                <a:cs typeface="Montserrat Bold"/>
                <a:sym typeface="Montserrat Bold"/>
              </a:rPr>
              <a:t>I. Giới thiệu đề tài</a:t>
            </a:r>
          </a:p>
        </p:txBody>
      </p:sp>
      <p:sp>
        <p:nvSpPr>
          <p:cNvPr name="TextBox 5" id="5"/>
          <p:cNvSpPr txBox="true"/>
          <p:nvPr/>
        </p:nvSpPr>
        <p:spPr>
          <a:xfrm rot="0">
            <a:off x="357032" y="1000247"/>
            <a:ext cx="6662545" cy="495300"/>
          </a:xfrm>
          <a:prstGeom prst="rect">
            <a:avLst/>
          </a:prstGeom>
        </p:spPr>
        <p:txBody>
          <a:bodyPr anchor="t" rtlCol="false" tIns="0" lIns="0" bIns="0" rIns="0">
            <a:spAutoFit/>
          </a:bodyPr>
          <a:lstStyle/>
          <a:p>
            <a:pPr algn="l">
              <a:lnSpc>
                <a:spcPts val="3825"/>
              </a:lnSpc>
              <a:spcBef>
                <a:spcPct val="0"/>
              </a:spcBef>
            </a:pPr>
            <a:r>
              <a:rPr lang="en-US" b="true" sz="3188">
                <a:solidFill>
                  <a:srgbClr val="C00000"/>
                </a:solidFill>
                <a:latin typeface="Inter Bold"/>
                <a:ea typeface="Inter Bold"/>
                <a:cs typeface="Inter Bold"/>
                <a:sym typeface="Inter Bold"/>
              </a:rPr>
              <a:t>3. Đối tượng</a:t>
            </a:r>
            <a:r>
              <a:rPr lang="en-US" b="true" sz="3188">
                <a:solidFill>
                  <a:srgbClr val="C00000"/>
                </a:solidFill>
                <a:latin typeface="Inter Bold"/>
                <a:ea typeface="Inter Bold"/>
                <a:cs typeface="Inter Bold"/>
                <a:sym typeface="Inter Bold"/>
              </a:rPr>
              <a:t> sử dụng &amp; phạm vi</a:t>
            </a:r>
          </a:p>
        </p:txBody>
      </p:sp>
      <p:sp>
        <p:nvSpPr>
          <p:cNvPr name="TextBox 6" id="6"/>
          <p:cNvSpPr txBox="true"/>
          <p:nvPr/>
        </p:nvSpPr>
        <p:spPr>
          <a:xfrm rot="0">
            <a:off x="406260" y="1569365"/>
            <a:ext cx="9071308" cy="666750"/>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Inter Bold"/>
                <a:ea typeface="Inter Bold"/>
                <a:cs typeface="Inter Bold"/>
                <a:sym typeface="Inter Bold"/>
              </a:rPr>
              <a:t>Đ</a:t>
            </a:r>
            <a:r>
              <a:rPr lang="en-US" b="true" sz="2199">
                <a:solidFill>
                  <a:srgbClr val="000000"/>
                </a:solidFill>
                <a:latin typeface="Inter Bold"/>
                <a:ea typeface="Inter Bold"/>
                <a:cs typeface="Inter Bold"/>
                <a:sym typeface="Inter Bold"/>
              </a:rPr>
              <a:t>ối tượng sử dụng:</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Sinh viên Đại học Bách Khoa Hà Nội</a:t>
            </a:r>
          </a:p>
        </p:txBody>
      </p:sp>
      <p:sp>
        <p:nvSpPr>
          <p:cNvPr name="TextBox 7" id="7"/>
          <p:cNvSpPr txBox="true"/>
          <p:nvPr/>
        </p:nvSpPr>
        <p:spPr>
          <a:xfrm rot="0">
            <a:off x="455488" y="2309934"/>
            <a:ext cx="9022080" cy="2000250"/>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Inter Bold"/>
                <a:ea typeface="Inter Bold"/>
                <a:cs typeface="Inter Bold"/>
                <a:sym typeface="Inter Bold"/>
              </a:rPr>
              <a:t>Phạm vi</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Quản lý</a:t>
            </a:r>
            <a:r>
              <a:rPr lang="en-US" sz="2199">
                <a:solidFill>
                  <a:srgbClr val="000000"/>
                </a:solidFill>
                <a:latin typeface="Inter"/>
                <a:ea typeface="Inter"/>
                <a:cs typeface="Inter"/>
                <a:sym typeface="Inter"/>
              </a:rPr>
              <a:t> thông tin học phần và chương trình đào tạo.</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Theo dõi kết quả học tập.</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Tính GPA/CPA.</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Lập kế hoạch học tập.</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Kiểm tra điều kiện tiên quyết.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10</a:t>
            </a:r>
          </a:p>
        </p:txBody>
      </p:sp>
      <p:sp>
        <p:nvSpPr>
          <p:cNvPr name="TextBox 4" id="4"/>
          <p:cNvSpPr txBox="true"/>
          <p:nvPr/>
        </p:nvSpPr>
        <p:spPr>
          <a:xfrm rot="0">
            <a:off x="354950" y="140970"/>
            <a:ext cx="4100347"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5" id="5"/>
          <p:cNvSpPr txBox="true"/>
          <p:nvPr/>
        </p:nvSpPr>
        <p:spPr>
          <a:xfrm rot="0">
            <a:off x="405767" y="1000945"/>
            <a:ext cx="4065984" cy="485775"/>
          </a:xfrm>
          <a:prstGeom prst="rect">
            <a:avLst/>
          </a:prstGeom>
        </p:spPr>
        <p:txBody>
          <a:bodyPr anchor="t" rtlCol="false" tIns="0" lIns="0" bIns="0" rIns="0">
            <a:spAutoFit/>
          </a:bodyPr>
          <a:lstStyle/>
          <a:p>
            <a:pPr algn="l">
              <a:lnSpc>
                <a:spcPts val="3840"/>
              </a:lnSpc>
            </a:pPr>
            <a:r>
              <a:rPr lang="en-US" b="true" sz="3200">
                <a:solidFill>
                  <a:srgbClr val="C00000"/>
                </a:solidFill>
                <a:latin typeface="Inter Bold"/>
                <a:ea typeface="Inter Bold"/>
                <a:cs typeface="Inter Bold"/>
                <a:sym typeface="Inter Bold"/>
              </a:rPr>
              <a:t>1. Phân tích bài toán  </a:t>
            </a:r>
          </a:p>
        </p:txBody>
      </p:sp>
      <p:sp>
        <p:nvSpPr>
          <p:cNvPr name="TextBox 6" id="6"/>
          <p:cNvSpPr txBox="true"/>
          <p:nvPr/>
        </p:nvSpPr>
        <p:spPr>
          <a:xfrm rot="0">
            <a:off x="405767" y="1630019"/>
            <a:ext cx="1239342" cy="333375"/>
          </a:xfrm>
          <a:prstGeom prst="rect">
            <a:avLst/>
          </a:prstGeom>
        </p:spPr>
        <p:txBody>
          <a:bodyPr anchor="t" rtlCol="false" tIns="0" lIns="0" bIns="0" rIns="0">
            <a:spAutoFit/>
          </a:bodyPr>
          <a:lstStyle/>
          <a:p>
            <a:pPr algn="l">
              <a:lnSpc>
                <a:spcPts val="2639"/>
              </a:lnSpc>
              <a:spcBef>
                <a:spcPct val="0"/>
              </a:spcBef>
            </a:pPr>
            <a:r>
              <a:rPr lang="en-US" b="true" sz="2199">
                <a:solidFill>
                  <a:srgbClr val="0F172A"/>
                </a:solidFill>
                <a:latin typeface="Inter Bold"/>
                <a:ea typeface="Inter Bold"/>
                <a:cs typeface="Inter Bold"/>
                <a:sym typeface="Inter Bold"/>
              </a:rPr>
              <a:t>Bài toán: </a:t>
            </a:r>
          </a:p>
        </p:txBody>
      </p:sp>
      <p:sp>
        <p:nvSpPr>
          <p:cNvPr name="TextBox 7" id="7"/>
          <p:cNvSpPr txBox="true"/>
          <p:nvPr/>
        </p:nvSpPr>
        <p:spPr>
          <a:xfrm rot="0">
            <a:off x="442094" y="1963394"/>
            <a:ext cx="8869412" cy="1333500"/>
          </a:xfrm>
          <a:prstGeom prst="rect">
            <a:avLst/>
          </a:prstGeom>
        </p:spPr>
        <p:txBody>
          <a:bodyPr anchor="t" rtlCol="false" tIns="0" lIns="0" bIns="0" rIns="0">
            <a:spAutoFit/>
          </a:bodyPr>
          <a:lstStyle/>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Sinh viên phả</a:t>
            </a:r>
            <a:r>
              <a:rPr lang="en-US" sz="2199">
                <a:solidFill>
                  <a:srgbClr val="000000"/>
                </a:solidFill>
                <a:latin typeface="Inter"/>
                <a:ea typeface="Inter"/>
                <a:cs typeface="Inter"/>
                <a:sym typeface="Inter"/>
              </a:rPr>
              <a:t>i quản lý nhiều thông tin học tập như kết quả, số tín chỉ, học phần tiên quyết và kế hoạch đăng ký học. Việc theo dõi thủ công gây khó khăn trong việc đánh giá tiến độ và lập kế hoạch cho các học kỳ tiếp theo.</a:t>
            </a:r>
          </a:p>
        </p:txBody>
      </p:sp>
      <p:sp>
        <p:nvSpPr>
          <p:cNvPr name="TextBox 8" id="8"/>
          <p:cNvSpPr txBox="true"/>
          <p:nvPr/>
        </p:nvSpPr>
        <p:spPr>
          <a:xfrm rot="0">
            <a:off x="442094" y="3296894"/>
            <a:ext cx="1350070" cy="333375"/>
          </a:xfrm>
          <a:prstGeom prst="rect">
            <a:avLst/>
          </a:prstGeom>
        </p:spPr>
        <p:txBody>
          <a:bodyPr anchor="t" rtlCol="false" tIns="0" lIns="0" bIns="0" rIns="0">
            <a:spAutoFit/>
          </a:bodyPr>
          <a:lstStyle/>
          <a:p>
            <a:pPr algn="ctr">
              <a:lnSpc>
                <a:spcPts val="2639"/>
              </a:lnSpc>
              <a:spcBef>
                <a:spcPct val="0"/>
              </a:spcBef>
            </a:pPr>
            <a:r>
              <a:rPr lang="en-US" b="true" sz="2199">
                <a:solidFill>
                  <a:srgbClr val="000000"/>
                </a:solidFill>
                <a:latin typeface="Inter Bold"/>
                <a:ea typeface="Inter Bold"/>
                <a:cs typeface="Inter Bold"/>
                <a:sym typeface="Inter Bold"/>
              </a:rPr>
              <a:t>Giải pháp:</a:t>
            </a:r>
          </a:p>
        </p:txBody>
      </p:sp>
      <p:sp>
        <p:nvSpPr>
          <p:cNvPr name="TextBox 9" id="9"/>
          <p:cNvSpPr txBox="true"/>
          <p:nvPr/>
        </p:nvSpPr>
        <p:spPr>
          <a:xfrm rot="0">
            <a:off x="442094" y="3657600"/>
            <a:ext cx="5163344" cy="2333625"/>
          </a:xfrm>
          <a:prstGeom prst="rect">
            <a:avLst/>
          </a:prstGeom>
        </p:spPr>
        <p:txBody>
          <a:bodyPr anchor="t" rtlCol="false" tIns="0" lIns="0" bIns="0" rIns="0">
            <a:spAutoFit/>
          </a:bodyPr>
          <a:lstStyle/>
          <a:p>
            <a:pPr algn="l">
              <a:lnSpc>
                <a:spcPts val="2639"/>
              </a:lnSpc>
              <a:spcBef>
                <a:spcPct val="0"/>
              </a:spcBef>
            </a:pPr>
            <a:r>
              <a:rPr lang="en-US" sz="2199">
                <a:solidFill>
                  <a:srgbClr val="000000"/>
                </a:solidFill>
                <a:latin typeface="Inter"/>
                <a:ea typeface="Inter"/>
                <a:cs typeface="Inter"/>
                <a:sym typeface="Inter"/>
              </a:rPr>
              <a:t>Xây</a:t>
            </a:r>
            <a:r>
              <a:rPr lang="en-US" sz="2199">
                <a:solidFill>
                  <a:srgbClr val="000000"/>
                </a:solidFill>
                <a:latin typeface="Inter"/>
                <a:ea typeface="Inter"/>
                <a:cs typeface="Inter"/>
                <a:sym typeface="Inter"/>
              </a:rPr>
              <a:t> dựng hệ thống hỗ trợ sinh viên:</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Quản lý kết quả học tập.</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Tính GPA/CPA.</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Theo dõi tiến độ tích lũy tín chỉ.</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Kiểm tra điều kiện tiên quyết.</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Lập và điều chỉnh kế hoạch học tập</a:t>
            </a:r>
            <a:r>
              <a:rPr lang="en-US" b="true" sz="2199">
                <a:solidFill>
                  <a:srgbClr val="000000"/>
                </a:solidFill>
                <a:latin typeface="Inter Bold"/>
                <a:ea typeface="Inter Bold"/>
                <a:cs typeface="Inter Bold"/>
                <a:sym typeface="Inter Bold"/>
              </a:rPr>
              <a:t>.</a:t>
            </a:r>
          </a:p>
          <a:p>
            <a:pPr algn="l">
              <a:lnSpc>
                <a:spcPts val="263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1114969" y="1520218"/>
            <a:ext cx="7523661" cy="5177405"/>
          </a:xfrm>
          <a:custGeom>
            <a:avLst/>
            <a:gdLst/>
            <a:ahLst/>
            <a:cxnLst/>
            <a:rect r="r" b="b" t="t" l="l"/>
            <a:pathLst>
              <a:path h="5177405" w="7523661">
                <a:moveTo>
                  <a:pt x="0" y="0"/>
                </a:moveTo>
                <a:lnTo>
                  <a:pt x="7523662" y="0"/>
                </a:lnTo>
                <a:lnTo>
                  <a:pt x="7523662" y="5177405"/>
                </a:lnTo>
                <a:lnTo>
                  <a:pt x="0" y="5177405"/>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11</a:t>
            </a:r>
          </a:p>
        </p:txBody>
      </p:sp>
      <p:sp>
        <p:nvSpPr>
          <p:cNvPr name="TextBox 5" id="5"/>
          <p:cNvSpPr txBox="true"/>
          <p:nvPr/>
        </p:nvSpPr>
        <p:spPr>
          <a:xfrm rot="0">
            <a:off x="432291" y="140970"/>
            <a:ext cx="4430351"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6" id="6"/>
          <p:cNvSpPr txBox="true"/>
          <p:nvPr/>
        </p:nvSpPr>
        <p:spPr>
          <a:xfrm rot="0">
            <a:off x="432291" y="920500"/>
            <a:ext cx="7102095" cy="485775"/>
          </a:xfrm>
          <a:prstGeom prst="rect">
            <a:avLst/>
          </a:prstGeom>
        </p:spPr>
        <p:txBody>
          <a:bodyPr anchor="t" rtlCol="false" tIns="0" lIns="0" bIns="0" rIns="0">
            <a:spAutoFit/>
          </a:bodyPr>
          <a:lstStyle/>
          <a:p>
            <a:pPr algn="l">
              <a:lnSpc>
                <a:spcPts val="3840"/>
              </a:lnSpc>
              <a:spcBef>
                <a:spcPct val="0"/>
              </a:spcBef>
            </a:pPr>
            <a:r>
              <a:rPr lang="en-US" b="true" sz="3200">
                <a:solidFill>
                  <a:srgbClr val="C00000"/>
                </a:solidFill>
                <a:latin typeface="Inter Bold"/>
                <a:ea typeface="Inter Bold"/>
                <a:cs typeface="Inter Bold"/>
                <a:sym typeface="Inter Bold"/>
              </a:rPr>
              <a:t>2. Biểu đồ phân cấp chức năng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12</a:t>
            </a:r>
          </a:p>
        </p:txBody>
      </p:sp>
      <p:sp>
        <p:nvSpPr>
          <p:cNvPr name="TextBox 4" id="4"/>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graphicFrame>
        <p:nvGraphicFramePr>
          <p:cNvPr name="Table 5" id="5"/>
          <p:cNvGraphicFramePr>
            <a:graphicFrameLocks noGrp="true"/>
          </p:cNvGraphicFramePr>
          <p:nvPr/>
        </p:nvGraphicFramePr>
        <p:xfrm>
          <a:off x="156421" y="1515214"/>
          <a:ext cx="9440759" cy="4867174"/>
        </p:xfrm>
        <a:graphic>
          <a:graphicData uri="http://schemas.openxmlformats.org/drawingml/2006/table">
            <a:tbl>
              <a:tblPr/>
              <a:tblGrid>
                <a:gridCol w="3163051"/>
                <a:gridCol w="2166158"/>
                <a:gridCol w="4111550"/>
              </a:tblGrid>
              <a:tr h="670688">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Phân hệ</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Mã</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240"/>
                        </a:lnSpc>
                        <a:defRPr/>
                      </a:pPr>
                      <a:r>
                        <a:rPr lang="en-US" sz="1600" b="true">
                          <a:solidFill>
                            <a:srgbClr val="000000"/>
                          </a:solidFill>
                          <a:latin typeface="Inter Bold"/>
                          <a:ea typeface="Inter Bold"/>
                          <a:cs typeface="Inter Bold"/>
                          <a:sym typeface="Inter Bold"/>
                        </a:rPr>
                        <a:t>Nội dung chính</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61106">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1. Quản lý tài khoản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a:t>
                      </a:r>
                      <a:r>
                        <a:rPr lang="en-US" sz="1500">
                          <a:solidFill>
                            <a:srgbClr val="000000"/>
                          </a:solidFill>
                          <a:latin typeface="Inter"/>
                          <a:ea typeface="Inter"/>
                          <a:cs typeface="Inter"/>
                          <a:sym typeface="Inter"/>
                        </a:rPr>
                        <a:t>R-01 →  FR-03</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Đăng nhập, đăng xuất, thông tin cá nhân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61106">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2. Quản lý kết quả học tập</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FR-04 → FR-07</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Điểm, học phần, học kỳ</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61106">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3. Tính toán GPA/CPA</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FR-08 → FR-10 </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GPA, CPA, điểm tích lũy</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61106">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4. Theo dõi tiến độ</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FR-11 → FR-14</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Tín chỉ, học phần đã/chưa hoàn thành</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81373">
                <a:tc>
                  <a:txBody>
                    <a:bodyPr anchor="t" rtlCol="false"/>
                    <a:lstStyle/>
                    <a:p>
                      <a:pPr algn="ctr">
                        <a:lnSpc>
                          <a:spcPts val="2100"/>
                        </a:lnSpc>
                        <a:defRPr/>
                      </a:pPr>
                      <a:r>
                        <a:rPr lang="en-US" sz="1500" b="true">
                          <a:solidFill>
                            <a:srgbClr val="000000"/>
                          </a:solidFill>
                          <a:latin typeface="Inter Bold"/>
                          <a:ea typeface="Inter Bold"/>
                          <a:cs typeface="Inter Bold"/>
                          <a:sym typeface="Inter Bold"/>
                        </a:rPr>
                        <a:t>5. Kiểm tra điều kiện học phần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FR-15 → FR-18</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Tiên quyết, song hành, điều kiện đăng ký</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670688">
                <a:tc>
                  <a:txBody>
                    <a:bodyPr anchor="t" rtlCol="false"/>
                    <a:lstStyle/>
                    <a:p>
                      <a:pPr algn="ctr">
                        <a:lnSpc>
                          <a:spcPts val="2240"/>
                        </a:lnSpc>
                        <a:defRPr/>
                      </a:pPr>
                      <a:r>
                        <a:rPr lang="en-US" sz="1600" b="true">
                          <a:solidFill>
                            <a:srgbClr val="000000"/>
                          </a:solidFill>
                          <a:latin typeface="Inter Bold"/>
                          <a:ea typeface="Inter Bold"/>
                          <a:cs typeface="Inter Bold"/>
                          <a:sym typeface="Inter Bold"/>
                        </a:rPr>
                        <a:t>6. Lập kế hoạch học tập</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FR-19 → FR-24</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Inter"/>
                          <a:ea typeface="Inter"/>
                          <a:cs typeface="Inter"/>
                          <a:sym typeface="Inter"/>
                        </a:rPr>
                        <a:t>Tạo, kiểm tra, chỉnh sửa kế hoạch</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94704" y="931745"/>
            <a:ext cx="4498181"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3. Yêu cầu chức năng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13</a:t>
            </a:r>
          </a:p>
        </p:txBody>
      </p:sp>
      <p:sp>
        <p:nvSpPr>
          <p:cNvPr name="TextBox 4" id="4"/>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5" id="5"/>
          <p:cNvSpPr txBox="true"/>
          <p:nvPr/>
        </p:nvSpPr>
        <p:spPr>
          <a:xfrm rot="0">
            <a:off x="329072" y="1029439"/>
            <a:ext cx="5344220"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4</a:t>
            </a:r>
            <a:r>
              <a:rPr lang="en-US" b="true" sz="3199">
                <a:solidFill>
                  <a:srgbClr val="C00000"/>
                </a:solidFill>
                <a:latin typeface="Montserrat Bold"/>
                <a:ea typeface="Montserrat Bold"/>
                <a:cs typeface="Montserrat Bold"/>
                <a:sym typeface="Montserrat Bold"/>
              </a:rPr>
              <a:t>. Yêu cầu phi chức năng</a:t>
            </a:r>
          </a:p>
        </p:txBody>
      </p:sp>
      <p:sp>
        <p:nvSpPr>
          <p:cNvPr name="TextBox 6" id="6"/>
          <p:cNvSpPr txBox="true"/>
          <p:nvPr/>
        </p:nvSpPr>
        <p:spPr>
          <a:xfrm rot="0">
            <a:off x="354950" y="1716256"/>
            <a:ext cx="7563866" cy="1666875"/>
          </a:xfrm>
          <a:prstGeom prst="rect">
            <a:avLst/>
          </a:prstGeom>
        </p:spPr>
        <p:txBody>
          <a:bodyPr anchor="t" rtlCol="false" tIns="0" lIns="0" bIns="0" rIns="0">
            <a:spAutoFit/>
          </a:bodyPr>
          <a:lstStyle/>
          <a:p>
            <a:pPr algn="l" marL="474979" indent="-237490" lvl="1">
              <a:lnSpc>
                <a:spcPts val="2639"/>
              </a:lnSpc>
              <a:spcBef>
                <a:spcPct val="0"/>
              </a:spcBef>
              <a:buFont typeface="Arial"/>
              <a:buChar char="•"/>
            </a:pPr>
            <a:r>
              <a:rPr lang="en-US" b="true" sz="2199">
                <a:solidFill>
                  <a:srgbClr val="000000"/>
                </a:solidFill>
                <a:latin typeface="Inter Bold"/>
                <a:ea typeface="Inter Bold"/>
                <a:cs typeface="Inter Bold"/>
                <a:sym typeface="Inter Bold"/>
              </a:rPr>
              <a:t>Chính xác:</a:t>
            </a:r>
            <a:r>
              <a:rPr lang="en-US" sz="2199">
                <a:solidFill>
                  <a:srgbClr val="000000"/>
                </a:solidFill>
                <a:latin typeface="Inter"/>
                <a:ea typeface="Inter"/>
                <a:cs typeface="Inter"/>
                <a:sym typeface="Inter"/>
              </a:rPr>
              <a:t> Tính toán GPA/CPA và tiến đ</a:t>
            </a:r>
            <a:r>
              <a:rPr lang="en-US" sz="2199">
                <a:solidFill>
                  <a:srgbClr val="000000"/>
                </a:solidFill>
                <a:latin typeface="Inter"/>
                <a:ea typeface="Inter"/>
                <a:cs typeface="Inter"/>
                <a:sym typeface="Inter"/>
              </a:rPr>
              <a:t>ộ chính xác.</a:t>
            </a:r>
          </a:p>
          <a:p>
            <a:pPr algn="l" marL="474979" indent="-237490" lvl="1">
              <a:lnSpc>
                <a:spcPts val="2639"/>
              </a:lnSpc>
              <a:spcBef>
                <a:spcPct val="0"/>
              </a:spcBef>
              <a:buFont typeface="Arial"/>
              <a:buChar char="•"/>
            </a:pPr>
            <a:r>
              <a:rPr lang="en-US" b="true" sz="2199">
                <a:solidFill>
                  <a:srgbClr val="000000"/>
                </a:solidFill>
                <a:latin typeface="Inter Bold"/>
                <a:ea typeface="Inter Bold"/>
                <a:cs typeface="Inter Bold"/>
                <a:sym typeface="Inter Bold"/>
              </a:rPr>
              <a:t>Hiệu năng:</a:t>
            </a:r>
            <a:r>
              <a:rPr lang="en-US" sz="2199">
                <a:solidFill>
                  <a:srgbClr val="000000"/>
                </a:solidFill>
                <a:latin typeface="Inter"/>
                <a:ea typeface="Inter"/>
                <a:cs typeface="Inter"/>
                <a:sym typeface="Inter"/>
              </a:rPr>
              <a:t> Phản hồi nhanh, ổn định.</a:t>
            </a:r>
          </a:p>
          <a:p>
            <a:pPr algn="l" marL="474979" indent="-237490" lvl="1">
              <a:lnSpc>
                <a:spcPts val="2639"/>
              </a:lnSpc>
              <a:spcBef>
                <a:spcPct val="0"/>
              </a:spcBef>
              <a:buFont typeface="Arial"/>
              <a:buChar char="•"/>
            </a:pPr>
            <a:r>
              <a:rPr lang="en-US" b="true" sz="2199">
                <a:solidFill>
                  <a:srgbClr val="000000"/>
                </a:solidFill>
                <a:latin typeface="Inter Bold"/>
                <a:ea typeface="Inter Bold"/>
                <a:cs typeface="Inter Bold"/>
                <a:sym typeface="Inter Bold"/>
              </a:rPr>
              <a:t>Bảo mật:</a:t>
            </a:r>
            <a:r>
              <a:rPr lang="en-US" sz="2199">
                <a:solidFill>
                  <a:srgbClr val="000000"/>
                </a:solidFill>
                <a:latin typeface="Inter"/>
                <a:ea typeface="Inter"/>
                <a:cs typeface="Inter"/>
                <a:sym typeface="Inter"/>
              </a:rPr>
              <a:t> Bảo vệ tài khoản và dữ liệu học tập.</a:t>
            </a:r>
          </a:p>
          <a:p>
            <a:pPr algn="l" marL="474979" indent="-237490" lvl="1">
              <a:lnSpc>
                <a:spcPts val="2639"/>
              </a:lnSpc>
              <a:spcBef>
                <a:spcPct val="0"/>
              </a:spcBef>
              <a:buFont typeface="Arial"/>
              <a:buChar char="•"/>
            </a:pPr>
            <a:r>
              <a:rPr lang="en-US" b="true" sz="2199">
                <a:solidFill>
                  <a:srgbClr val="000000"/>
                </a:solidFill>
                <a:latin typeface="Inter Bold"/>
                <a:ea typeface="Inter Bold"/>
                <a:cs typeface="Inter Bold"/>
                <a:sym typeface="Inter Bold"/>
              </a:rPr>
              <a:t>Dễ sử dụng:</a:t>
            </a:r>
            <a:r>
              <a:rPr lang="en-US" sz="2199">
                <a:solidFill>
                  <a:srgbClr val="000000"/>
                </a:solidFill>
                <a:latin typeface="Inter"/>
                <a:ea typeface="Inter"/>
                <a:cs typeface="Inter"/>
                <a:sym typeface="Inter"/>
              </a:rPr>
              <a:t> Gia</a:t>
            </a:r>
            <a:r>
              <a:rPr lang="en-US" sz="2199">
                <a:solidFill>
                  <a:srgbClr val="000000"/>
                </a:solidFill>
                <a:latin typeface="Inter"/>
                <a:ea typeface="Inter"/>
                <a:cs typeface="Inter"/>
                <a:sym typeface="Inter"/>
              </a:rPr>
              <a:t>o diện trực quan, dễ thao tác.</a:t>
            </a:r>
          </a:p>
          <a:p>
            <a:pPr algn="l" marL="474979" indent="-237490" lvl="1">
              <a:lnSpc>
                <a:spcPts val="2639"/>
              </a:lnSpc>
              <a:spcBef>
                <a:spcPct val="0"/>
              </a:spcBef>
              <a:buFont typeface="Arial"/>
              <a:buChar char="•"/>
            </a:pPr>
            <a:r>
              <a:rPr lang="en-US" b="true" sz="2199">
                <a:solidFill>
                  <a:srgbClr val="000000"/>
                </a:solidFill>
                <a:latin typeface="Inter Bold"/>
                <a:ea typeface="Inter Bold"/>
                <a:cs typeface="Inter Bold"/>
                <a:sym typeface="Inter Bold"/>
              </a:rPr>
              <a:t>Mở rộ</a:t>
            </a:r>
            <a:r>
              <a:rPr lang="en-US" b="true" sz="2199">
                <a:solidFill>
                  <a:srgbClr val="000000"/>
                </a:solidFill>
                <a:latin typeface="Inter Bold"/>
                <a:ea typeface="Inter Bold"/>
                <a:cs typeface="Inter Bold"/>
                <a:sym typeface="Inter Bold"/>
              </a:rPr>
              <a:t>ng &amp; bảo trì:</a:t>
            </a:r>
            <a:r>
              <a:rPr lang="en-US" sz="2199">
                <a:solidFill>
                  <a:srgbClr val="000000"/>
                </a:solidFill>
                <a:latin typeface="Inter"/>
                <a:ea typeface="Inter"/>
                <a:cs typeface="Inter"/>
                <a:sym typeface="Inter"/>
              </a:rPr>
              <a:t> Dễ nâng cấp, bổ sung chức năng.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14</a:t>
            </a:r>
          </a:p>
        </p:txBody>
      </p:sp>
      <p:sp>
        <p:nvSpPr>
          <p:cNvPr name="TextBox 4" id="4"/>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5" id="5"/>
          <p:cNvSpPr txBox="true"/>
          <p:nvPr/>
        </p:nvSpPr>
        <p:spPr>
          <a:xfrm rot="0">
            <a:off x="354950" y="940065"/>
            <a:ext cx="2665214"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5. User Story</a:t>
            </a:r>
          </a:p>
        </p:txBody>
      </p:sp>
      <p:sp>
        <p:nvSpPr>
          <p:cNvPr name="TextBox 6" id="6"/>
          <p:cNvSpPr txBox="true"/>
          <p:nvPr/>
        </p:nvSpPr>
        <p:spPr>
          <a:xfrm rot="0">
            <a:off x="493868" y="1544527"/>
            <a:ext cx="2781065" cy="666750"/>
          </a:xfrm>
          <a:prstGeom prst="rect">
            <a:avLst/>
          </a:prstGeom>
        </p:spPr>
        <p:txBody>
          <a:bodyPr anchor="t" rtlCol="false" tIns="0" lIns="0" bIns="0" rIns="0">
            <a:spAutoFit/>
          </a:bodyPr>
          <a:lstStyle/>
          <a:p>
            <a:pPr algn="l">
              <a:lnSpc>
                <a:spcPts val="2639"/>
              </a:lnSpc>
            </a:pPr>
            <a:r>
              <a:rPr lang="en-US" sz="2199" b="true">
                <a:solidFill>
                  <a:srgbClr val="000000"/>
                </a:solidFill>
                <a:latin typeface="Montserrat Bold"/>
                <a:ea typeface="Montserrat Bold"/>
                <a:cs typeface="Montserrat Bold"/>
                <a:sym typeface="Montserrat Bold"/>
              </a:rPr>
              <a:t>Tài khoản:</a:t>
            </a:r>
          </a:p>
          <a:p>
            <a:pPr algn="l"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Đăng nhập</a:t>
            </a:r>
          </a:p>
        </p:txBody>
      </p:sp>
      <p:sp>
        <p:nvSpPr>
          <p:cNvPr name="TextBox 7" id="7"/>
          <p:cNvSpPr txBox="true"/>
          <p:nvPr/>
        </p:nvSpPr>
        <p:spPr>
          <a:xfrm rot="0">
            <a:off x="4876800" y="1544527"/>
            <a:ext cx="3120075" cy="1333500"/>
          </a:xfrm>
          <a:prstGeom prst="rect">
            <a:avLst/>
          </a:prstGeom>
        </p:spPr>
        <p:txBody>
          <a:bodyPr anchor="t" rtlCol="false" tIns="0" lIns="0" bIns="0" rIns="0">
            <a:spAutoFit/>
          </a:bodyPr>
          <a:lstStyle/>
          <a:p>
            <a:pPr algn="l">
              <a:lnSpc>
                <a:spcPts val="2640"/>
              </a:lnSpc>
              <a:spcBef>
                <a:spcPct val="0"/>
              </a:spcBef>
            </a:pPr>
            <a:r>
              <a:rPr lang="en-US" b="true" sz="2200">
                <a:solidFill>
                  <a:srgbClr val="000000"/>
                </a:solidFill>
                <a:latin typeface="Inter Bold"/>
                <a:ea typeface="Inter Bold"/>
                <a:cs typeface="Inter Bold"/>
                <a:sym typeface="Inter Bold"/>
              </a:rPr>
              <a:t>Kết</a:t>
            </a:r>
            <a:r>
              <a:rPr lang="en-US" b="true" sz="2200">
                <a:solidFill>
                  <a:srgbClr val="000000"/>
                </a:solidFill>
                <a:latin typeface="Inter Bold"/>
                <a:ea typeface="Inter Bold"/>
                <a:cs typeface="Inter Bold"/>
                <a:sym typeface="Inter Bold"/>
              </a:rPr>
              <a:t> quả học tập:</a:t>
            </a:r>
          </a:p>
          <a:p>
            <a:pPr algn="l" marL="474984" indent="-237492" lvl="1">
              <a:lnSpc>
                <a:spcPts val="2640"/>
              </a:lnSpc>
              <a:spcBef>
                <a:spcPct val="0"/>
              </a:spcBef>
              <a:buFont typeface="Arial"/>
              <a:buChar char="•"/>
            </a:pPr>
            <a:r>
              <a:rPr lang="en-US" sz="2200">
                <a:solidFill>
                  <a:srgbClr val="000000"/>
                </a:solidFill>
                <a:latin typeface="Inter"/>
                <a:ea typeface="Inter"/>
                <a:cs typeface="Inter"/>
                <a:sym typeface="Inter"/>
              </a:rPr>
              <a:t>Quản lý kết quả</a:t>
            </a:r>
          </a:p>
          <a:p>
            <a:pPr algn="l" marL="474984" indent="-237492" lvl="1">
              <a:lnSpc>
                <a:spcPts val="2640"/>
              </a:lnSpc>
              <a:spcBef>
                <a:spcPct val="0"/>
              </a:spcBef>
              <a:buFont typeface="Arial"/>
              <a:buChar char="•"/>
            </a:pPr>
            <a:r>
              <a:rPr lang="en-US" sz="2200">
                <a:solidFill>
                  <a:srgbClr val="000000"/>
                </a:solidFill>
                <a:latin typeface="Inter"/>
                <a:ea typeface="Inter"/>
                <a:cs typeface="Inter"/>
                <a:sym typeface="Inter"/>
              </a:rPr>
              <a:t>Xem GPA/CPA</a:t>
            </a:r>
          </a:p>
          <a:p>
            <a:pPr algn="l">
              <a:lnSpc>
                <a:spcPts val="2640"/>
              </a:lnSpc>
              <a:spcBef>
                <a:spcPct val="0"/>
              </a:spcBef>
            </a:pPr>
          </a:p>
        </p:txBody>
      </p:sp>
      <p:sp>
        <p:nvSpPr>
          <p:cNvPr name="TextBox 8" id="8"/>
          <p:cNvSpPr txBox="true"/>
          <p:nvPr/>
        </p:nvSpPr>
        <p:spPr>
          <a:xfrm rot="0">
            <a:off x="493868" y="2687527"/>
            <a:ext cx="3000890" cy="666750"/>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Inter Bold"/>
                <a:ea typeface="Inter Bold"/>
                <a:cs typeface="Inter Bold"/>
                <a:sym typeface="Inter Bold"/>
              </a:rPr>
              <a:t>T</a:t>
            </a:r>
            <a:r>
              <a:rPr lang="en-US" b="true" sz="2199">
                <a:solidFill>
                  <a:srgbClr val="000000"/>
                </a:solidFill>
                <a:latin typeface="Inter Bold"/>
                <a:ea typeface="Inter Bold"/>
                <a:cs typeface="Inter Bold"/>
                <a:sym typeface="Inter Bold"/>
              </a:rPr>
              <a:t>iến độ:</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Theo dõi tiến độ</a:t>
            </a:r>
          </a:p>
        </p:txBody>
      </p:sp>
      <p:sp>
        <p:nvSpPr>
          <p:cNvPr name="TextBox 9" id="9"/>
          <p:cNvSpPr txBox="true"/>
          <p:nvPr/>
        </p:nvSpPr>
        <p:spPr>
          <a:xfrm rot="0">
            <a:off x="4876800" y="2687527"/>
            <a:ext cx="3990975" cy="1000125"/>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Inter Bold"/>
                <a:ea typeface="Inter Bold"/>
                <a:cs typeface="Inter Bold"/>
                <a:sym typeface="Inter Bold"/>
              </a:rPr>
              <a:t>Đ</a:t>
            </a:r>
            <a:r>
              <a:rPr lang="en-US" b="true" sz="2199">
                <a:solidFill>
                  <a:srgbClr val="000000"/>
                </a:solidFill>
                <a:latin typeface="Inter Bold"/>
                <a:ea typeface="Inter Bold"/>
                <a:cs typeface="Inter Bold"/>
                <a:sym typeface="Inter Bold"/>
              </a:rPr>
              <a:t>iều kiện học phần</a:t>
            </a:r>
          </a:p>
          <a:p>
            <a:pPr algn="just"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Kiểm tra học phần</a:t>
            </a:r>
          </a:p>
          <a:p>
            <a:pPr algn="ctr" marL="474979" indent="-237490" lvl="1">
              <a:lnSpc>
                <a:spcPts val="2639"/>
              </a:lnSpc>
              <a:spcBef>
                <a:spcPct val="0"/>
              </a:spcBef>
              <a:buFont typeface="Arial"/>
              <a:buChar char="•"/>
            </a:pPr>
            <a:r>
              <a:rPr lang="en-US" sz="2199">
                <a:solidFill>
                  <a:srgbClr val="000000"/>
                </a:solidFill>
                <a:latin typeface="Montserrat"/>
                <a:ea typeface="Montserrat"/>
                <a:cs typeface="Montserrat"/>
                <a:sym typeface="Montserrat"/>
              </a:rPr>
              <a:t>Xem môn có thể đăng ký</a:t>
            </a:r>
          </a:p>
        </p:txBody>
      </p:sp>
      <p:sp>
        <p:nvSpPr>
          <p:cNvPr name="TextBox 10" id="10"/>
          <p:cNvSpPr txBox="true"/>
          <p:nvPr/>
        </p:nvSpPr>
        <p:spPr>
          <a:xfrm rot="0">
            <a:off x="493868" y="3830527"/>
            <a:ext cx="4038770" cy="1000125"/>
          </a:xfrm>
          <a:prstGeom prst="rect">
            <a:avLst/>
          </a:prstGeom>
        </p:spPr>
        <p:txBody>
          <a:bodyPr anchor="t" rtlCol="false" tIns="0" lIns="0" bIns="0" rIns="0">
            <a:spAutoFit/>
          </a:bodyPr>
          <a:lstStyle/>
          <a:p>
            <a:pPr algn="l">
              <a:lnSpc>
                <a:spcPts val="2639"/>
              </a:lnSpc>
              <a:spcBef>
                <a:spcPct val="0"/>
              </a:spcBef>
            </a:pPr>
            <a:r>
              <a:rPr lang="en-US" b="true" sz="2199">
                <a:solidFill>
                  <a:srgbClr val="000000"/>
                </a:solidFill>
                <a:latin typeface="Inter Bold"/>
                <a:ea typeface="Inter Bold"/>
                <a:cs typeface="Inter Bold"/>
                <a:sym typeface="Inter Bold"/>
              </a:rPr>
              <a:t>Kế</a:t>
            </a:r>
            <a:r>
              <a:rPr lang="en-US" b="true" sz="2199">
                <a:solidFill>
                  <a:srgbClr val="000000"/>
                </a:solidFill>
                <a:latin typeface="Inter Bold"/>
                <a:ea typeface="Inter Bold"/>
                <a:cs typeface="Inter Bold"/>
                <a:sym typeface="Inter Bold"/>
              </a:rPr>
              <a:t> hoạch học tập</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Lập kế hoạch</a:t>
            </a:r>
          </a:p>
          <a:p>
            <a:pPr algn="l" marL="474979" indent="-237490" lvl="1">
              <a:lnSpc>
                <a:spcPts val="2639"/>
              </a:lnSpc>
              <a:spcBef>
                <a:spcPct val="0"/>
              </a:spcBef>
              <a:buFont typeface="Arial"/>
              <a:buChar char="•"/>
            </a:pPr>
            <a:r>
              <a:rPr lang="en-US" sz="2199">
                <a:solidFill>
                  <a:srgbClr val="000000"/>
                </a:solidFill>
                <a:latin typeface="Inter"/>
                <a:ea typeface="Inter"/>
                <a:cs typeface="Inter"/>
                <a:sym typeface="Inter"/>
              </a:rPr>
              <a:t>Kiểm tra và lưu kế hoạch</a:t>
            </a:r>
          </a:p>
        </p:txBody>
      </p:sp>
      <p:sp>
        <p:nvSpPr>
          <p:cNvPr name="TextBox 11" id="11"/>
          <p:cNvSpPr txBox="true"/>
          <p:nvPr/>
        </p:nvSpPr>
        <p:spPr>
          <a:xfrm rot="0">
            <a:off x="493868" y="4964002"/>
            <a:ext cx="8934472" cy="800100"/>
          </a:xfrm>
          <a:prstGeom prst="rect">
            <a:avLst/>
          </a:prstGeom>
        </p:spPr>
        <p:txBody>
          <a:bodyPr anchor="t" rtlCol="false" tIns="0" lIns="0" bIns="0" rIns="0">
            <a:spAutoFit/>
          </a:bodyPr>
          <a:lstStyle/>
          <a:p>
            <a:pPr algn="l">
              <a:lnSpc>
                <a:spcPts val="2160"/>
              </a:lnSpc>
            </a:pPr>
            <a:r>
              <a:rPr lang="en-US" sz="1800" b="true">
                <a:solidFill>
                  <a:srgbClr val="000000"/>
                </a:solidFill>
                <a:latin typeface="Inter Bold"/>
                <a:ea typeface="Inter Bold"/>
                <a:cs typeface="Inter Bold"/>
                <a:sym typeface="Inter Bold"/>
              </a:rPr>
              <a:t>Ví du: US-09: </a:t>
            </a:r>
            <a:r>
              <a:rPr lang="en-US" sz="1800">
                <a:solidFill>
                  <a:srgbClr val="000000"/>
                </a:solidFill>
                <a:latin typeface="Inter"/>
                <a:ea typeface="Inter"/>
                <a:cs typeface="Inter"/>
                <a:sym typeface="Inter"/>
              </a:rPr>
              <a:t>Là sinh viên, tôi muốn lập kế hoạch học tập cho một học kỳ, để chủ động lựa chọn các học phần cần đăng ký và theo dõi kế hoạch học tập của mình.</a:t>
            </a:r>
          </a:p>
          <a:p>
            <a:pPr algn="l">
              <a:lnSpc>
                <a:spcPts val="2160"/>
              </a:lnSpc>
              <a:spcBef>
                <a:spcPct val="0"/>
              </a:spcBef>
            </a:pPr>
            <a:r>
              <a:rPr lang="en-US" sz="1800">
                <a:solidFill>
                  <a:srgbClr val="000000"/>
                </a:solidFill>
                <a:latin typeface="Inter"/>
                <a:ea typeface="Inter"/>
                <a:cs typeface="Inter"/>
                <a:sym typeface="Inter"/>
              </a:rPr>
              <a:t>Truy vết tới FR-19 → FR-22</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2115628" y="1834684"/>
            <a:ext cx="5424496" cy="4544205"/>
          </a:xfrm>
          <a:custGeom>
            <a:avLst/>
            <a:gdLst/>
            <a:ahLst/>
            <a:cxnLst/>
            <a:rect r="r" b="b" t="t" l="l"/>
            <a:pathLst>
              <a:path h="4544205" w="5424496">
                <a:moveTo>
                  <a:pt x="0" y="0"/>
                </a:moveTo>
                <a:lnTo>
                  <a:pt x="5424496" y="0"/>
                </a:lnTo>
                <a:lnTo>
                  <a:pt x="5424496" y="4544205"/>
                </a:lnTo>
                <a:lnTo>
                  <a:pt x="0" y="4544205"/>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15</a:t>
            </a:r>
          </a:p>
        </p:txBody>
      </p:sp>
      <p:sp>
        <p:nvSpPr>
          <p:cNvPr name="TextBox 5" id="5"/>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6" id="6"/>
          <p:cNvSpPr txBox="true"/>
          <p:nvPr/>
        </p:nvSpPr>
        <p:spPr>
          <a:xfrm rot="0">
            <a:off x="354950" y="958384"/>
            <a:ext cx="4156869"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6. Biểu đồ Use Case</a:t>
            </a:r>
          </a:p>
        </p:txBody>
      </p:sp>
      <p:sp>
        <p:nvSpPr>
          <p:cNvPr name="TextBox 7" id="7"/>
          <p:cNvSpPr txBox="true"/>
          <p:nvPr/>
        </p:nvSpPr>
        <p:spPr>
          <a:xfrm rot="0">
            <a:off x="855095" y="1444159"/>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Use Case tổng quan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5502723" y="1639421"/>
            <a:ext cx="3519357" cy="3885533"/>
          </a:xfrm>
          <a:custGeom>
            <a:avLst/>
            <a:gdLst/>
            <a:ahLst/>
            <a:cxnLst/>
            <a:rect r="r" b="b" t="t" l="l"/>
            <a:pathLst>
              <a:path h="3885533" w="3519357">
                <a:moveTo>
                  <a:pt x="0" y="0"/>
                </a:moveTo>
                <a:lnTo>
                  <a:pt x="3519357" y="0"/>
                </a:lnTo>
                <a:lnTo>
                  <a:pt x="3519357" y="3885534"/>
                </a:lnTo>
                <a:lnTo>
                  <a:pt x="0" y="3885534"/>
                </a:lnTo>
                <a:lnTo>
                  <a:pt x="0" y="0"/>
                </a:lnTo>
                <a:close/>
              </a:path>
            </a:pathLst>
          </a:custGeom>
          <a:blipFill>
            <a:blip r:embed="rId4"/>
            <a:stretch>
              <a:fillRect l="0" t="0" r="0" b="0"/>
            </a:stretch>
          </a:blipFill>
        </p:spPr>
      </p:sp>
      <p:sp>
        <p:nvSpPr>
          <p:cNvPr name="Freeform 4" id="4"/>
          <p:cNvSpPr/>
          <p:nvPr/>
        </p:nvSpPr>
        <p:spPr>
          <a:xfrm flipH="false" flipV="false" rot="0">
            <a:off x="254639" y="1984635"/>
            <a:ext cx="4277999" cy="3733976"/>
          </a:xfrm>
          <a:custGeom>
            <a:avLst/>
            <a:gdLst/>
            <a:ahLst/>
            <a:cxnLst/>
            <a:rect r="r" b="b" t="t" l="l"/>
            <a:pathLst>
              <a:path h="3733976" w="4277999">
                <a:moveTo>
                  <a:pt x="0" y="0"/>
                </a:moveTo>
                <a:lnTo>
                  <a:pt x="4277999" y="0"/>
                </a:lnTo>
                <a:lnTo>
                  <a:pt x="4277999" y="3733976"/>
                </a:lnTo>
                <a:lnTo>
                  <a:pt x="0" y="3733976"/>
                </a:lnTo>
                <a:lnTo>
                  <a:pt x="0" y="0"/>
                </a:lnTo>
                <a:close/>
              </a:path>
            </a:pathLst>
          </a:custGeom>
          <a:blipFill>
            <a:blip r:embed="rId5"/>
            <a:stretch>
              <a:fillRect l="0" t="0" r="0" b="0"/>
            </a:stretch>
          </a:blipFill>
        </p:spPr>
      </p:sp>
      <p:sp>
        <p:nvSpPr>
          <p:cNvPr name="TextBox 5" id="5"/>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16</a:t>
            </a:r>
          </a:p>
        </p:txBody>
      </p:sp>
      <p:sp>
        <p:nvSpPr>
          <p:cNvPr name="TextBox 6" id="6"/>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7" id="7"/>
          <p:cNvSpPr txBox="true"/>
          <p:nvPr/>
        </p:nvSpPr>
        <p:spPr>
          <a:xfrm rot="0">
            <a:off x="354950" y="958384"/>
            <a:ext cx="4156869"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6. Biểu đồ Use Case</a:t>
            </a:r>
          </a:p>
        </p:txBody>
      </p:sp>
      <p:sp>
        <p:nvSpPr>
          <p:cNvPr name="TextBox 8" id="8"/>
          <p:cNvSpPr txBox="true"/>
          <p:nvPr/>
        </p:nvSpPr>
        <p:spPr>
          <a:xfrm rot="0">
            <a:off x="855095" y="1444159"/>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Use Case phân rã</a:t>
            </a:r>
          </a:p>
        </p:txBody>
      </p:sp>
      <p:sp>
        <p:nvSpPr>
          <p:cNvPr name="TextBox 9" id="9"/>
          <p:cNvSpPr txBox="true"/>
          <p:nvPr/>
        </p:nvSpPr>
        <p:spPr>
          <a:xfrm rot="0">
            <a:off x="853053" y="5859037"/>
            <a:ext cx="2932311"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Inter"/>
                <a:ea typeface="Inter"/>
                <a:cs typeface="Inter"/>
                <a:sym typeface="Inter"/>
              </a:rPr>
              <a:t>UC-01: Quản lý tài khoản</a:t>
            </a:r>
          </a:p>
        </p:txBody>
      </p:sp>
      <p:sp>
        <p:nvSpPr>
          <p:cNvPr name="TextBox 10" id="10"/>
          <p:cNvSpPr txBox="true"/>
          <p:nvPr/>
        </p:nvSpPr>
        <p:spPr>
          <a:xfrm rot="0">
            <a:off x="5396593" y="5844750"/>
            <a:ext cx="3731617"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Inter"/>
                <a:ea typeface="Inter"/>
                <a:cs typeface="Inter"/>
                <a:sym typeface="Inter"/>
              </a:rPr>
              <a:t>UC-02: Quản lý kết quả học tập</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532859" y="2015634"/>
            <a:ext cx="4207025" cy="3672027"/>
          </a:xfrm>
          <a:custGeom>
            <a:avLst/>
            <a:gdLst/>
            <a:ahLst/>
            <a:cxnLst/>
            <a:rect r="r" b="b" t="t" l="l"/>
            <a:pathLst>
              <a:path h="3672027" w="4207025">
                <a:moveTo>
                  <a:pt x="0" y="0"/>
                </a:moveTo>
                <a:lnTo>
                  <a:pt x="4207024" y="0"/>
                </a:lnTo>
                <a:lnTo>
                  <a:pt x="4207024" y="3672027"/>
                </a:lnTo>
                <a:lnTo>
                  <a:pt x="0" y="3672027"/>
                </a:lnTo>
                <a:lnTo>
                  <a:pt x="0" y="0"/>
                </a:lnTo>
                <a:close/>
              </a:path>
            </a:pathLst>
          </a:custGeom>
          <a:blipFill>
            <a:blip r:embed="rId4"/>
            <a:stretch>
              <a:fillRect l="0" t="0" r="0" b="0"/>
            </a:stretch>
          </a:blipFill>
        </p:spPr>
      </p:sp>
      <p:sp>
        <p:nvSpPr>
          <p:cNvPr name="Freeform 4" id="4"/>
          <p:cNvSpPr/>
          <p:nvPr/>
        </p:nvSpPr>
        <p:spPr>
          <a:xfrm flipH="false" flipV="false" rot="0">
            <a:off x="5531283" y="1820445"/>
            <a:ext cx="3689074" cy="3966287"/>
          </a:xfrm>
          <a:custGeom>
            <a:avLst/>
            <a:gdLst/>
            <a:ahLst/>
            <a:cxnLst/>
            <a:rect r="r" b="b" t="t" l="l"/>
            <a:pathLst>
              <a:path h="3966287" w="3689074">
                <a:moveTo>
                  <a:pt x="0" y="0"/>
                </a:moveTo>
                <a:lnTo>
                  <a:pt x="3689074" y="0"/>
                </a:lnTo>
                <a:lnTo>
                  <a:pt x="3689074" y="3966287"/>
                </a:lnTo>
                <a:lnTo>
                  <a:pt x="0" y="3966287"/>
                </a:lnTo>
                <a:lnTo>
                  <a:pt x="0" y="0"/>
                </a:lnTo>
                <a:close/>
              </a:path>
            </a:pathLst>
          </a:custGeom>
          <a:blipFill>
            <a:blip r:embed="rId5"/>
            <a:stretch>
              <a:fillRect l="0" t="0" r="0" b="0"/>
            </a:stretch>
          </a:blipFill>
        </p:spPr>
      </p:sp>
      <p:sp>
        <p:nvSpPr>
          <p:cNvPr name="TextBox 5" id="5"/>
          <p:cNvSpPr txBox="true"/>
          <p:nvPr/>
        </p:nvSpPr>
        <p:spPr>
          <a:xfrm rot="0">
            <a:off x="9239725" y="7046443"/>
            <a:ext cx="188615"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17</a:t>
            </a:r>
          </a:p>
        </p:txBody>
      </p:sp>
      <p:sp>
        <p:nvSpPr>
          <p:cNvPr name="TextBox 6" id="6"/>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7" id="7"/>
          <p:cNvSpPr txBox="true"/>
          <p:nvPr/>
        </p:nvSpPr>
        <p:spPr>
          <a:xfrm rot="0">
            <a:off x="354950" y="958384"/>
            <a:ext cx="4156869"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6. Biểu đồ Use Case</a:t>
            </a:r>
          </a:p>
        </p:txBody>
      </p:sp>
      <p:sp>
        <p:nvSpPr>
          <p:cNvPr name="TextBox 8" id="8"/>
          <p:cNvSpPr txBox="true"/>
          <p:nvPr/>
        </p:nvSpPr>
        <p:spPr>
          <a:xfrm rot="0">
            <a:off x="855095" y="1444159"/>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Use Case phân rã</a:t>
            </a:r>
          </a:p>
        </p:txBody>
      </p:sp>
      <p:sp>
        <p:nvSpPr>
          <p:cNvPr name="TextBox 9" id="9"/>
          <p:cNvSpPr txBox="true"/>
          <p:nvPr/>
        </p:nvSpPr>
        <p:spPr>
          <a:xfrm rot="0">
            <a:off x="731520" y="5859087"/>
            <a:ext cx="3809702"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Inter"/>
                <a:ea typeface="Inter"/>
                <a:cs typeface="Inter"/>
                <a:sym typeface="Inter"/>
              </a:rPr>
              <a:t>UC-03: Theo dõi tiến độ học tập</a:t>
            </a:r>
          </a:p>
        </p:txBody>
      </p:sp>
      <p:sp>
        <p:nvSpPr>
          <p:cNvPr name="TextBox 10" id="10"/>
          <p:cNvSpPr txBox="true"/>
          <p:nvPr/>
        </p:nvSpPr>
        <p:spPr>
          <a:xfrm rot="0">
            <a:off x="5210285" y="5859087"/>
            <a:ext cx="4238923"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Inter"/>
                <a:ea typeface="Inter"/>
                <a:cs typeface="Inter"/>
                <a:sym typeface="Inter"/>
              </a:rPr>
              <a:t>UC-04: Kiểm tra điều kiện học phần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731520" y="2026192"/>
            <a:ext cx="8378421" cy="3941251"/>
          </a:xfrm>
          <a:custGeom>
            <a:avLst/>
            <a:gdLst/>
            <a:ahLst/>
            <a:cxnLst/>
            <a:rect r="r" b="b" t="t" l="l"/>
            <a:pathLst>
              <a:path h="3941251" w="8378421">
                <a:moveTo>
                  <a:pt x="0" y="0"/>
                </a:moveTo>
                <a:lnTo>
                  <a:pt x="8378421" y="0"/>
                </a:lnTo>
                <a:lnTo>
                  <a:pt x="8378421" y="3941251"/>
                </a:lnTo>
                <a:lnTo>
                  <a:pt x="0" y="3941251"/>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18</a:t>
            </a:r>
          </a:p>
        </p:txBody>
      </p:sp>
      <p:sp>
        <p:nvSpPr>
          <p:cNvPr name="TextBox 5" id="5"/>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6" id="6"/>
          <p:cNvSpPr txBox="true"/>
          <p:nvPr/>
        </p:nvSpPr>
        <p:spPr>
          <a:xfrm rot="0">
            <a:off x="354950" y="958384"/>
            <a:ext cx="4156869"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6. Biểu đồ Use Case</a:t>
            </a:r>
          </a:p>
        </p:txBody>
      </p:sp>
      <p:sp>
        <p:nvSpPr>
          <p:cNvPr name="TextBox 7" id="7"/>
          <p:cNvSpPr txBox="true"/>
          <p:nvPr/>
        </p:nvSpPr>
        <p:spPr>
          <a:xfrm rot="0">
            <a:off x="855095" y="1444159"/>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Use Case phân rã</a:t>
            </a:r>
          </a:p>
        </p:txBody>
      </p:sp>
      <p:sp>
        <p:nvSpPr>
          <p:cNvPr name="TextBox 8" id="8"/>
          <p:cNvSpPr txBox="true"/>
          <p:nvPr/>
        </p:nvSpPr>
        <p:spPr>
          <a:xfrm rot="0">
            <a:off x="2502793" y="6148418"/>
            <a:ext cx="4748014"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Inter"/>
                <a:ea typeface="Inter"/>
                <a:cs typeface="Inter"/>
                <a:sym typeface="Inter"/>
              </a:rPr>
              <a:t>UC-05: Lập và quản lý kế hoạch học tập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383824" y="2308271"/>
            <a:ext cx="9044516" cy="2137586"/>
          </a:xfrm>
          <a:custGeom>
            <a:avLst/>
            <a:gdLst/>
            <a:ahLst/>
            <a:cxnLst/>
            <a:rect r="r" b="b" t="t" l="l"/>
            <a:pathLst>
              <a:path h="2137586" w="9044516">
                <a:moveTo>
                  <a:pt x="0" y="0"/>
                </a:moveTo>
                <a:lnTo>
                  <a:pt x="9044516" y="0"/>
                </a:lnTo>
                <a:lnTo>
                  <a:pt x="9044516" y="2137586"/>
                </a:lnTo>
                <a:lnTo>
                  <a:pt x="0" y="2137586"/>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19</a:t>
            </a:r>
          </a:p>
        </p:txBody>
      </p:sp>
      <p:sp>
        <p:nvSpPr>
          <p:cNvPr name="TextBox 5" id="5"/>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6" id="6"/>
          <p:cNvSpPr txBox="true"/>
          <p:nvPr/>
        </p:nvSpPr>
        <p:spPr>
          <a:xfrm rot="0">
            <a:off x="354950" y="958384"/>
            <a:ext cx="6021983"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7. Sơ đồ luồng dữ liệu (DFD) </a:t>
            </a:r>
          </a:p>
        </p:txBody>
      </p:sp>
      <p:sp>
        <p:nvSpPr>
          <p:cNvPr name="TextBox 7" id="7"/>
          <p:cNvSpPr txBox="true"/>
          <p:nvPr/>
        </p:nvSpPr>
        <p:spPr>
          <a:xfrm rot="0">
            <a:off x="882705" y="1555796"/>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luồng dữ liệu - Mức 0</a:t>
            </a:r>
          </a:p>
        </p:txBody>
      </p:sp>
      <p:sp>
        <p:nvSpPr>
          <p:cNvPr name="TextBox 8" id="8"/>
          <p:cNvSpPr txBox="true"/>
          <p:nvPr/>
        </p:nvSpPr>
        <p:spPr>
          <a:xfrm rot="0">
            <a:off x="2026778" y="4557495"/>
            <a:ext cx="6002933" cy="333375"/>
          </a:xfrm>
          <a:prstGeom prst="rect">
            <a:avLst/>
          </a:prstGeom>
        </p:spPr>
        <p:txBody>
          <a:bodyPr anchor="t" rtlCol="false" tIns="0" lIns="0" bIns="0" rIns="0">
            <a:spAutoFit/>
          </a:bodyPr>
          <a:lstStyle/>
          <a:p>
            <a:pPr algn="ctr">
              <a:lnSpc>
                <a:spcPts val="2639"/>
              </a:lnSpc>
              <a:spcBef>
                <a:spcPct val="0"/>
              </a:spcBef>
            </a:pPr>
            <a:r>
              <a:rPr lang="en-US" sz="2199">
                <a:solidFill>
                  <a:srgbClr val="000000"/>
                </a:solidFill>
                <a:latin typeface="Inter"/>
                <a:ea typeface="Inter"/>
                <a:cs typeface="Inter"/>
                <a:sym typeface="Inter"/>
              </a:rPr>
              <a:t>Sơ đồ luồng dữ liệu (DFD) mức 0 của hệ thống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1661191" y="1834684"/>
            <a:ext cx="6431218" cy="4043663"/>
          </a:xfrm>
          <a:custGeom>
            <a:avLst/>
            <a:gdLst/>
            <a:ahLst/>
            <a:cxnLst/>
            <a:rect r="r" b="b" t="t" l="l"/>
            <a:pathLst>
              <a:path h="4043663" w="6431218">
                <a:moveTo>
                  <a:pt x="0" y="0"/>
                </a:moveTo>
                <a:lnTo>
                  <a:pt x="6431218" y="0"/>
                </a:lnTo>
                <a:lnTo>
                  <a:pt x="6431218" y="4043663"/>
                </a:lnTo>
                <a:lnTo>
                  <a:pt x="0" y="4043663"/>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20</a:t>
            </a:r>
          </a:p>
        </p:txBody>
      </p:sp>
      <p:sp>
        <p:nvSpPr>
          <p:cNvPr name="TextBox 5" id="5"/>
          <p:cNvSpPr txBox="true"/>
          <p:nvPr/>
        </p:nvSpPr>
        <p:spPr>
          <a:xfrm rot="0">
            <a:off x="354950" y="140970"/>
            <a:ext cx="4177688"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 Phân tích yêu cầu</a:t>
            </a:r>
          </a:p>
        </p:txBody>
      </p:sp>
      <p:sp>
        <p:nvSpPr>
          <p:cNvPr name="TextBox 6" id="6"/>
          <p:cNvSpPr txBox="true"/>
          <p:nvPr/>
        </p:nvSpPr>
        <p:spPr>
          <a:xfrm rot="0">
            <a:off x="354950" y="958384"/>
            <a:ext cx="6021983"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7. Sơ đồ luồng dữ liệu (DFD) </a:t>
            </a:r>
          </a:p>
        </p:txBody>
      </p:sp>
      <p:sp>
        <p:nvSpPr>
          <p:cNvPr name="TextBox 7" id="7"/>
          <p:cNvSpPr txBox="true"/>
          <p:nvPr/>
        </p:nvSpPr>
        <p:spPr>
          <a:xfrm rot="0">
            <a:off x="855095" y="1444159"/>
            <a:ext cx="5222022" cy="390525"/>
          </a:xfrm>
          <a:prstGeom prst="rect">
            <a:avLst/>
          </a:prstGeom>
        </p:spPr>
        <p:txBody>
          <a:bodyPr anchor="t" rtlCol="false" tIns="0" lIns="0" bIns="0" rIns="0">
            <a:spAutoFit/>
          </a:bodyPr>
          <a:lstStyle/>
          <a:p>
            <a:pPr algn="l">
              <a:lnSpc>
                <a:spcPts val="3120"/>
              </a:lnSpc>
              <a:spcBef>
                <a:spcPct val="0"/>
              </a:spcBef>
            </a:pPr>
            <a:r>
              <a:rPr lang="en-US" b="true" sz="2600">
                <a:solidFill>
                  <a:srgbClr val="000000"/>
                </a:solidFill>
                <a:latin typeface="Inter Bold"/>
                <a:ea typeface="Inter Bold"/>
                <a:cs typeface="Inter Bold"/>
                <a:sym typeface="Inter Bold"/>
              </a:rPr>
              <a:t>Sơ đồ luồng dữ liệu - Mức 1</a:t>
            </a:r>
          </a:p>
        </p:txBody>
      </p:sp>
      <p:sp>
        <p:nvSpPr>
          <p:cNvPr name="TextBox 8" id="8"/>
          <p:cNvSpPr txBox="true"/>
          <p:nvPr/>
        </p:nvSpPr>
        <p:spPr>
          <a:xfrm rot="0">
            <a:off x="1907480" y="5999515"/>
            <a:ext cx="5938639" cy="333375"/>
          </a:xfrm>
          <a:prstGeom prst="rect">
            <a:avLst/>
          </a:prstGeom>
        </p:spPr>
        <p:txBody>
          <a:bodyPr anchor="t" rtlCol="false" tIns="0" lIns="0" bIns="0" rIns="0">
            <a:spAutoFit/>
          </a:bodyPr>
          <a:lstStyle/>
          <a:p>
            <a:pPr algn="ctr">
              <a:lnSpc>
                <a:spcPts val="2639"/>
              </a:lnSpc>
              <a:spcBef>
                <a:spcPct val="0"/>
              </a:spcBef>
            </a:pPr>
            <a:r>
              <a:rPr lang="en-US" sz="2199">
                <a:solidFill>
                  <a:srgbClr val="000000"/>
                </a:solidFill>
                <a:latin typeface="Inter"/>
                <a:ea typeface="Inter"/>
                <a:cs typeface="Inter"/>
                <a:sym typeface="Inter"/>
              </a:rPr>
              <a:t>Sơ đồ luồng dữ liệu (DFD) mức 1 của hệ thống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Freeform 3" id="3"/>
          <p:cNvSpPr/>
          <p:nvPr/>
        </p:nvSpPr>
        <p:spPr>
          <a:xfrm flipH="false" flipV="false" rot="0">
            <a:off x="654631" y="1977559"/>
            <a:ext cx="8773709" cy="1762694"/>
          </a:xfrm>
          <a:custGeom>
            <a:avLst/>
            <a:gdLst/>
            <a:ahLst/>
            <a:cxnLst/>
            <a:rect r="r" b="b" t="t" l="l"/>
            <a:pathLst>
              <a:path h="1762694" w="8773709">
                <a:moveTo>
                  <a:pt x="0" y="0"/>
                </a:moveTo>
                <a:lnTo>
                  <a:pt x="8773709" y="0"/>
                </a:lnTo>
                <a:lnTo>
                  <a:pt x="8773709" y="1762694"/>
                </a:lnTo>
                <a:lnTo>
                  <a:pt x="0" y="1762694"/>
                </a:lnTo>
                <a:lnTo>
                  <a:pt x="0" y="0"/>
                </a:lnTo>
                <a:close/>
              </a:path>
            </a:pathLst>
          </a:custGeom>
          <a:blipFill>
            <a:blip r:embed="rId4"/>
            <a:stretch>
              <a:fillRect l="0" t="0" r="0" b="0"/>
            </a:stretch>
          </a:blipFill>
        </p:spPr>
      </p:sp>
      <p:sp>
        <p:nvSpPr>
          <p:cNvPr name="TextBox 4" id="4"/>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21</a:t>
            </a:r>
          </a:p>
        </p:txBody>
      </p:sp>
      <p:sp>
        <p:nvSpPr>
          <p:cNvPr name="TextBox 5" id="5"/>
          <p:cNvSpPr txBox="true"/>
          <p:nvPr/>
        </p:nvSpPr>
        <p:spPr>
          <a:xfrm rot="0">
            <a:off x="354950" y="140970"/>
            <a:ext cx="5904931"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III. Kiến trúc &amp; thiết kế</a:t>
            </a:r>
          </a:p>
        </p:txBody>
      </p:sp>
      <p:sp>
        <p:nvSpPr>
          <p:cNvPr name="TextBox 6" id="6"/>
          <p:cNvSpPr txBox="true"/>
          <p:nvPr/>
        </p:nvSpPr>
        <p:spPr>
          <a:xfrm rot="0">
            <a:off x="354950" y="958384"/>
            <a:ext cx="8267006"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1. Mô hình hóa kiến trúc theo C4 Model</a:t>
            </a:r>
          </a:p>
        </p:txBody>
      </p:sp>
      <p:sp>
        <p:nvSpPr>
          <p:cNvPr name="TextBox 7" id="7"/>
          <p:cNvSpPr txBox="true"/>
          <p:nvPr/>
        </p:nvSpPr>
        <p:spPr>
          <a:xfrm rot="0">
            <a:off x="731520" y="1482259"/>
            <a:ext cx="5776814" cy="457200"/>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Inter Bold"/>
                <a:ea typeface="Inter Bold"/>
                <a:cs typeface="Inter Bold"/>
                <a:sym typeface="Inter Bold"/>
              </a:rPr>
              <a:t>Sơ</a:t>
            </a:r>
            <a:r>
              <a:rPr lang="en-US" b="true" sz="3000">
                <a:solidFill>
                  <a:srgbClr val="000000"/>
                </a:solidFill>
                <a:latin typeface="Inter Bold"/>
                <a:ea typeface="Inter Bold"/>
                <a:cs typeface="Inter Bold"/>
                <a:sym typeface="Inter Bold"/>
              </a:rPr>
              <a:t> đồ mức C1 – System Context</a:t>
            </a:r>
          </a:p>
        </p:txBody>
      </p:sp>
      <p:sp>
        <p:nvSpPr>
          <p:cNvPr name="TextBox 8" id="8"/>
          <p:cNvSpPr txBox="true"/>
          <p:nvPr/>
        </p:nvSpPr>
        <p:spPr>
          <a:xfrm rot="0">
            <a:off x="731520" y="3778353"/>
            <a:ext cx="6363792" cy="457200"/>
          </a:xfrm>
          <a:prstGeom prst="rect">
            <a:avLst/>
          </a:prstGeom>
        </p:spPr>
        <p:txBody>
          <a:bodyPr anchor="t" rtlCol="false" tIns="0" lIns="0" bIns="0" rIns="0">
            <a:spAutoFit/>
          </a:bodyPr>
          <a:lstStyle/>
          <a:p>
            <a:pPr algn="ctr">
              <a:lnSpc>
                <a:spcPts val="3600"/>
              </a:lnSpc>
              <a:spcBef>
                <a:spcPct val="0"/>
              </a:spcBef>
            </a:pPr>
            <a:r>
              <a:rPr lang="en-US" b="true" sz="3000">
                <a:solidFill>
                  <a:srgbClr val="000000"/>
                </a:solidFill>
                <a:latin typeface="Inter Bold"/>
                <a:ea typeface="Inter Bold"/>
                <a:cs typeface="Inter Bold"/>
                <a:sym typeface="Inter Bold"/>
              </a:rPr>
              <a:t>Sơ</a:t>
            </a:r>
            <a:r>
              <a:rPr lang="en-US" b="true" sz="3000">
                <a:solidFill>
                  <a:srgbClr val="000000"/>
                </a:solidFill>
                <a:latin typeface="Inter Bold"/>
                <a:ea typeface="Inter Bold"/>
                <a:cs typeface="Inter Bold"/>
                <a:sym typeface="Inter Bold"/>
              </a:rPr>
              <a:t> đồ mức C2 – Container Diagram</a:t>
            </a:r>
          </a:p>
        </p:txBody>
      </p:sp>
      <p:sp>
        <p:nvSpPr>
          <p:cNvPr name="Freeform 9" id="9"/>
          <p:cNvSpPr/>
          <p:nvPr/>
        </p:nvSpPr>
        <p:spPr>
          <a:xfrm flipH="false" flipV="false" rot="0">
            <a:off x="654631" y="4273653"/>
            <a:ext cx="8670530" cy="1135194"/>
          </a:xfrm>
          <a:custGeom>
            <a:avLst/>
            <a:gdLst/>
            <a:ahLst/>
            <a:cxnLst/>
            <a:rect r="r" b="b" t="t" l="l"/>
            <a:pathLst>
              <a:path h="1135194" w="8670530">
                <a:moveTo>
                  <a:pt x="0" y="0"/>
                </a:moveTo>
                <a:lnTo>
                  <a:pt x="8670530" y="0"/>
                </a:lnTo>
                <a:lnTo>
                  <a:pt x="8670530" y="1135193"/>
                </a:lnTo>
                <a:lnTo>
                  <a:pt x="0" y="1135193"/>
                </a:lnTo>
                <a:lnTo>
                  <a:pt x="0" y="0"/>
                </a:lnTo>
                <a:close/>
              </a:path>
            </a:pathLst>
          </a:custGeom>
          <a:blipFill>
            <a:blip r:embed="rId5"/>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200025"/>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20</a:t>
            </a:r>
          </a:p>
        </p:txBody>
      </p:sp>
      <p:sp>
        <p:nvSpPr>
          <p:cNvPr name="TextBox 4" id="4"/>
          <p:cNvSpPr txBox="true"/>
          <p:nvPr/>
        </p:nvSpPr>
        <p:spPr>
          <a:xfrm rot="0">
            <a:off x="354950" y="140970"/>
            <a:ext cx="5904931" cy="457200"/>
          </a:xfrm>
          <a:prstGeom prst="rect">
            <a:avLst/>
          </a:prstGeom>
        </p:spPr>
        <p:txBody>
          <a:bodyPr anchor="t" rtlCol="false" tIns="0" lIns="0" bIns="0" rIns="0">
            <a:spAutoFit/>
          </a:bodyPr>
          <a:lstStyle/>
          <a:p>
            <a:pPr algn="l">
              <a:lnSpc>
                <a:spcPts val="3600"/>
              </a:lnSpc>
              <a:spcBef>
                <a:spcPct val="0"/>
              </a:spcBef>
            </a:pPr>
            <a:r>
              <a:rPr lang="en-US" b="true" sz="3000">
                <a:solidFill>
                  <a:srgbClr val="F1F5F9"/>
                </a:solidFill>
                <a:latin typeface="Montserrat Bold"/>
                <a:ea typeface="Montserrat Bold"/>
                <a:cs typeface="Montserrat Bold"/>
                <a:sym typeface="Montserrat Bold"/>
              </a:rPr>
              <a:t>III. Kiến trúc &amp; thiết kế</a:t>
            </a:r>
          </a:p>
        </p:txBody>
      </p:sp>
      <p:sp>
        <p:nvSpPr>
          <p:cNvPr name="TextBox 5" id="5"/>
          <p:cNvSpPr txBox="true"/>
          <p:nvPr/>
        </p:nvSpPr>
        <p:spPr>
          <a:xfrm rot="0">
            <a:off x="354950" y="958384"/>
            <a:ext cx="6103286" cy="485775"/>
          </a:xfrm>
          <a:prstGeom prst="rect">
            <a:avLst/>
          </a:prstGeom>
        </p:spPr>
        <p:txBody>
          <a:bodyPr anchor="t" rtlCol="false" tIns="0" lIns="0" bIns="0" rIns="0">
            <a:spAutoFit/>
          </a:bodyPr>
          <a:lstStyle/>
          <a:p>
            <a:pPr algn="l">
              <a:lnSpc>
                <a:spcPts val="3839"/>
              </a:lnSpc>
              <a:spcBef>
                <a:spcPct val="0"/>
              </a:spcBef>
            </a:pPr>
            <a:r>
              <a:rPr lang="en-US" b="true" sz="3199">
                <a:solidFill>
                  <a:srgbClr val="C00000"/>
                </a:solidFill>
                <a:latin typeface="Montserrat Bold"/>
                <a:ea typeface="Montserrat Bold"/>
                <a:cs typeface="Montserrat Bold"/>
                <a:sym typeface="Montserrat Bold"/>
              </a:rPr>
              <a:t>2. Thiết kế cơ sở dữ liệu</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stretch>
              <a:fillRect l="0" t="0" r="0" b="0"/>
            </a:stretch>
          </a:blipFill>
        </p:spPr>
      </p:sp>
      <p:sp>
        <p:nvSpPr>
          <p:cNvPr name="TextBox 3" id="3"/>
          <p:cNvSpPr txBox="true"/>
          <p:nvPr/>
        </p:nvSpPr>
        <p:spPr>
          <a:xfrm rot="0">
            <a:off x="7416632" y="7046443"/>
            <a:ext cx="2011709" cy="307591"/>
          </a:xfrm>
          <a:prstGeom prst="rect">
            <a:avLst/>
          </a:prstGeom>
        </p:spPr>
        <p:txBody>
          <a:bodyPr anchor="t" rtlCol="false" tIns="0" lIns="0" bIns="0" rIns="0">
            <a:spAutoFit/>
          </a:bodyPr>
          <a:lstStyle/>
          <a:p>
            <a:pPr algn="r">
              <a:lnSpc>
                <a:spcPts val="1536"/>
              </a:lnSpc>
            </a:pPr>
            <a:r>
              <a:rPr lang="en-US" b="true" sz="1280">
                <a:solidFill>
                  <a:srgbClr val="C00000"/>
                </a:solidFill>
                <a:latin typeface="Lato Bold"/>
                <a:ea typeface="Lato Bold"/>
                <a:cs typeface="Lato Bold"/>
                <a:sym typeface="Lato Bold"/>
              </a:rPr>
              <a:t>‹#›</a:t>
            </a:r>
          </a:p>
        </p:txBody>
      </p:sp>
      <p:sp>
        <p:nvSpPr>
          <p:cNvPr name="TextBox 4" id="4"/>
          <p:cNvSpPr txBox="true"/>
          <p:nvPr/>
        </p:nvSpPr>
        <p:spPr>
          <a:xfrm rot="0">
            <a:off x="4551255" y="3316786"/>
            <a:ext cx="4294994" cy="729263"/>
          </a:xfrm>
          <a:prstGeom prst="rect">
            <a:avLst/>
          </a:prstGeom>
        </p:spPr>
        <p:txBody>
          <a:bodyPr anchor="t" rtlCol="false" tIns="0" lIns="0" bIns="0" rIns="0">
            <a:spAutoFit/>
          </a:bodyPr>
          <a:lstStyle/>
          <a:p>
            <a:pPr algn="l">
              <a:lnSpc>
                <a:spcPts val="5529"/>
              </a:lnSpc>
            </a:pPr>
            <a:r>
              <a:rPr lang="en-US" b="true" sz="5120">
                <a:solidFill>
                  <a:srgbClr val="C00000"/>
                </a:solidFill>
                <a:latin typeface="Lato Bold"/>
                <a:ea typeface="Lato Bold"/>
                <a:cs typeface="Lato Bold"/>
                <a:sym typeface="Lato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DAHVFbQCJvU</dc:identifier>
  <dcterms:modified xsi:type="dcterms:W3CDTF">2011-08-01T06:04:30Z</dcterms:modified>
  <cp:revision>1</cp:revision>
  <dc:title>N03-03_Trần Minh Hoàng Anh-71_Trần Quang Minh</dc:title>
</cp:coreProperties>
</file>